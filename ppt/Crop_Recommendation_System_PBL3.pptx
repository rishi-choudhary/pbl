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notesMasterIdLst>
    <p:notesMasterId r:id="rId4"/>
  </p:notesMasterIdLst>
  <p:sldIdLst>
    <p:sldId id="789" r:id="rId2"/>
    <p:sldId id="594" r:id="rId3"/>
    <p:sldId id="790" r:id="rId11"/>
    <p:sldId id="791" r:id="rId12"/>
    <p:sldId id="792" r:id="rId13"/>
    <p:sldId id="793" r:id="rId14"/>
    <p:sldId id="794" r:id="rId15"/>
    <p:sldId id="795" r:id="rId16"/>
    <p:sldId id="796" r:id="rId17"/>
    <p:sldId id="797" r:id="rId18"/>
    <p:sldId id="798" r:id="rId19"/>
    <p:sldId id="799" r:id="rId20"/>
    <p:sldId id="800" r:id="rId21"/>
    <p:sldId id="801" r:id="rId22"/>
    <p:sldId id="802" r:id="rId23"/>
    <p:sldId id="803" r:id="rId24"/>
    <p:sldId id="804" r:id="rId25"/>
    <p:sldId id="805" r:id="rId26"/>
    <p:sldId id="806" r:id="rId27"/>
    <p:sldId id="807" r:id="rId28"/>
    <p:sldId id="808" r:id="rId29"/>
    <p:sldId id="809" r:id="rId30"/>
    <p:sldId id="810" r:id="rId31"/>
    <p:sldId id="811" r:id="rId32"/>
    <p:sldId id="812" r:id="rId33"/>
    <p:sldId id="813" r:id="rId34"/>
    <p:sldId id="814" r:id="rId35"/>
    <p:sldId id="815" r:id="rId36"/>
    <p:sldId id="816" r:id="rId37"/>
    <p:sldId id="817"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F9A5BC-7406-4402-B495-A579668D0A41}" v="7" dt="2026-10-01T04:54:25.5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33" autoAdjust="0"/>
    <p:restoredTop sz="94434" autoAdjust="0"/>
  </p:normalViewPr>
  <p:slideViewPr>
    <p:cSldViewPr>
      <p:cViewPr varScale="1">
        <p:scale>
          <a:sx n="59" d="100"/>
          <a:sy n="59" d="100"/>
        </p:scale>
        <p:origin x="1312" y="52"/>
      </p:cViewPr>
      <p:guideLst>
        <p:guide orient="horz" pos="2160"/>
        <p:guide pos="2880"/>
      </p:guideLst>
    </p:cSldViewPr>
  </p:slideViewPr>
  <p:outlineViewPr>
    <p:cViewPr>
      <p:scale>
        <a:sx n="33" d="100"/>
        <a:sy n="33" d="100"/>
      </p:scale>
      <p:origin x="0" y="12446"/>
    </p:cViewPr>
  </p:outlineViewPr>
  <p:notesTextViewPr>
    <p:cViewPr>
      <p:scale>
        <a:sx n="100" d="100"/>
        <a:sy n="100" d="100"/>
      </p:scale>
      <p:origin x="0" y="0"/>
    </p:cViewPr>
  </p:notesTextViewPr>
  <p:sorterViewPr>
    <p:cViewPr>
      <p:scale>
        <a:sx n="66" d="100"/>
        <a:sy n="66" d="100"/>
      </p:scale>
      <p:origin x="0" y="-3174"/>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microsoft.com/office/2016/11/relationships/changesInfo" Target="changesInfos/changesInfo1.xml"/><Relationship Id="rId10" Type="http://schemas.microsoft.com/office/2015/10/relationships/revisionInfo" Target="revisionInfo.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bhishek Dwivedi [MU - Jaipur]" userId="e7733448-a158-4400-89e7-5aafb1667f2c" providerId="ADAL" clId="{9FF6F9B3-D40E-4C77-8D2A-FCA1BFB96762}"/>
    <pc:docChg chg="custSel modSld">
      <pc:chgData name="Dr. Abhishek Dwivedi [MU - Jaipur]" userId="e7733448-a158-4400-89e7-5aafb1667f2c" providerId="ADAL" clId="{9FF6F9B3-D40E-4C77-8D2A-FCA1BFB96762}" dt="2026-10-01T04:54:43.214" v="43" actId="20577"/>
      <pc:docMkLst>
        <pc:docMk/>
      </pc:docMkLst>
      <pc:sldChg chg="modSp mod">
        <pc:chgData name="Dr. Abhishek Dwivedi [MU - Jaipur]" userId="e7733448-a158-4400-89e7-5aafb1667f2c" providerId="ADAL" clId="{9FF6F9B3-D40E-4C77-8D2A-FCA1BFB96762}" dt="2026-10-01T04:54:28.847" v="39" actId="20577"/>
        <pc:sldMkLst>
          <pc:docMk/>
          <pc:sldMk cId="0" sldId="594"/>
        </pc:sldMkLst>
        <pc:graphicFrameChg chg="mod modGraphic">
          <ac:chgData name="Dr. Abhishek Dwivedi [MU - Jaipur]" userId="e7733448-a158-4400-89e7-5aafb1667f2c" providerId="ADAL" clId="{9FF6F9B3-D40E-4C77-8D2A-FCA1BFB96762}" dt="2026-10-01T04:54:28.847" v="39" actId="20577"/>
          <ac:graphicFrameMkLst>
            <pc:docMk/>
            <pc:sldMk cId="0" sldId="594"/>
            <ac:graphicFrameMk id="4194306" creationId="{00000000-0000-0000-0000-000000000000}"/>
          </ac:graphicFrameMkLst>
        </pc:graphicFrameChg>
      </pc:sldChg>
      <pc:sldChg chg="modSp mod">
        <pc:chgData name="Dr. Abhishek Dwivedi [MU - Jaipur]" userId="e7733448-a158-4400-89e7-5aafb1667f2c" providerId="ADAL" clId="{9FF6F9B3-D40E-4C77-8D2A-FCA1BFB96762}" dt="2026-10-01T04:54:43.214" v="43" actId="20577"/>
        <pc:sldMkLst>
          <pc:docMk/>
          <pc:sldMk cId="4053264149" sldId="789"/>
        </pc:sldMkLst>
        <pc:spChg chg="mod">
          <ac:chgData name="Dr. Abhishek Dwivedi [MU - Jaipur]" userId="e7733448-a158-4400-89e7-5aafb1667f2c" providerId="ADAL" clId="{9FF6F9B3-D40E-4C77-8D2A-FCA1BFB96762}" dt="2026-10-01T04:54:43.214" v="43" actId="20577"/>
          <ac:spMkLst>
            <pc:docMk/>
            <pc:sldMk cId="4053264149" sldId="789"/>
            <ac:spMk id="2052"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BB441F-7C4E-40F5-B8EE-5C01A112D92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FE4CF741-851B-4535-944A-184BDC2D473A}">
      <dgm:prSet custT="1"/>
      <dgm:spPr>
        <a:noFill/>
      </dgm:spPr>
      <dgm:t>
        <a:bodyPr/>
        <a:lstStyle/>
        <a:p>
          <a:pPr algn="ctr" rtl="0"/>
          <a:r>
            <a:rPr lang="en-US" sz="2800" b="1" baseline="0" dirty="0">
              <a:solidFill>
                <a:schemeClr val="tx1"/>
              </a:solidFill>
              <a:latin typeface="Bookman Old Style" pitchFamily="18" charset="0"/>
            </a:rPr>
            <a:t>Outline</a:t>
          </a:r>
          <a:endParaRPr lang="en-IN" sz="2800" b="1" baseline="0" dirty="0">
            <a:solidFill>
              <a:schemeClr val="tx1"/>
            </a:solidFill>
            <a:latin typeface="Bookman Old Style" pitchFamily="18" charset="0"/>
          </a:endParaRPr>
        </a:p>
      </dgm:t>
    </dgm:pt>
    <dgm:pt modelId="{F73C2E28-79D1-48D5-BE7F-81A0047FDCF4}" type="sibTrans" cxnId="{A82AA898-152E-464A-9E10-89148995BE5A}">
      <dgm:prSet/>
      <dgm:spPr/>
      <dgm:t>
        <a:bodyPr/>
        <a:lstStyle/>
        <a:p>
          <a:endParaRPr lang="en-IN"/>
        </a:p>
      </dgm:t>
    </dgm:pt>
    <dgm:pt modelId="{D9200DE3-2FEB-427E-A51D-FC1D1E071A96}" type="parTrans" cxnId="{A82AA898-152E-464A-9E10-89148995BE5A}">
      <dgm:prSet/>
      <dgm:spPr/>
      <dgm:t>
        <a:bodyPr/>
        <a:lstStyle/>
        <a:p>
          <a:endParaRPr lang="en-IN"/>
        </a:p>
      </dgm:t>
    </dgm:pt>
    <dgm:pt modelId="{5814AFC0-6C0D-4982-AE20-B817E0596BAC}" type="pres">
      <dgm:prSet presAssocID="{FEBB441F-7C4E-40F5-B8EE-5C01A112D928}" presName="linear" presStyleCnt="0">
        <dgm:presLayoutVars>
          <dgm:animLvl val="lvl"/>
          <dgm:resizeHandles val="exact"/>
        </dgm:presLayoutVars>
      </dgm:prSet>
      <dgm:spPr/>
    </dgm:pt>
    <dgm:pt modelId="{BAF222F9-E1E1-4B7E-AEC9-7232D7D2F6C6}" type="pres">
      <dgm:prSet presAssocID="{FE4CF741-851B-4535-944A-184BDC2D473A}" presName="parentText" presStyleLbl="node1" presStyleIdx="0" presStyleCnt="1" custLinFactNeighborX="926" custLinFactNeighborY="-35736">
        <dgm:presLayoutVars>
          <dgm:chMax val="0"/>
          <dgm:bulletEnabled val="1"/>
        </dgm:presLayoutVars>
      </dgm:prSet>
      <dgm:spPr/>
    </dgm:pt>
  </dgm:ptLst>
  <dgm:cxnLst>
    <dgm:cxn modelId="{CB724244-4598-4C8A-9AEA-3E4A14151854}" type="presOf" srcId="{FEBB441F-7C4E-40F5-B8EE-5C01A112D928}" destId="{5814AFC0-6C0D-4982-AE20-B817E0596BAC}" srcOrd="0" destOrd="0" presId="urn:microsoft.com/office/officeart/2005/8/layout/vList2"/>
    <dgm:cxn modelId="{20414771-1D1E-48A1-85AD-4A8003B4C3AD}" type="presOf" srcId="{FE4CF741-851B-4535-944A-184BDC2D473A}" destId="{BAF222F9-E1E1-4B7E-AEC9-7232D7D2F6C6}" srcOrd="0" destOrd="0" presId="urn:microsoft.com/office/officeart/2005/8/layout/vList2"/>
    <dgm:cxn modelId="{A82AA898-152E-464A-9E10-89148995BE5A}" srcId="{FEBB441F-7C4E-40F5-B8EE-5C01A112D928}" destId="{FE4CF741-851B-4535-944A-184BDC2D473A}" srcOrd="0" destOrd="0" parTransId="{D9200DE3-2FEB-427E-A51D-FC1D1E071A96}" sibTransId="{F73C2E28-79D1-48D5-BE7F-81A0047FDCF4}"/>
    <dgm:cxn modelId="{A842C9ED-C36B-446B-A24F-CAF050C15F3C}" type="presParOf" srcId="{5814AFC0-6C0D-4982-AE20-B817E0596BAC}" destId="{BAF222F9-E1E1-4B7E-AEC9-7232D7D2F6C6}" srcOrd="0" destOrd="0" presId="urn:microsoft.com/office/officeart/2005/8/layout/vList2"/>
  </dgm:cxnLst>
  <dgm:bg>
    <a:gradFill>
      <a:gsLst>
        <a:gs pos="0">
          <a:schemeClr val="accent3">
            <a:hueOff val="-3226488"/>
            <a:satOff val="1079"/>
            <a:lumOff val="-4706"/>
            <a:alphaOff val="0"/>
            <a:tint val="50000"/>
            <a:satMod val="300000"/>
          </a:schemeClr>
        </a:gs>
        <a:gs pos="35000">
          <a:schemeClr val="accent3">
            <a:hueOff val="-3226488"/>
            <a:satOff val="1079"/>
            <a:lumOff val="-4706"/>
            <a:alphaOff val="0"/>
            <a:tint val="37000"/>
            <a:satMod val="300000"/>
          </a:schemeClr>
        </a:gs>
        <a:gs pos="100000">
          <a:schemeClr val="accent3">
            <a:hueOff val="-3226488"/>
            <a:satOff val="1079"/>
            <a:lumOff val="-4706"/>
            <a:alphaOff val="0"/>
            <a:tint val="15000"/>
            <a:satMod val="350000"/>
          </a:schemeClr>
        </a:gs>
      </a:gsLst>
      <a:lin ang="16200000" scaled="1"/>
    </a:grad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A1985BB-D400-4032-9A7F-157B22D00981}" type="doc">
      <dgm:prSet loTypeId="urn:microsoft.com/office/officeart/2005/8/layout/vList2" loCatId="list" qsTypeId="urn:microsoft.com/office/officeart/2005/8/quickstyle/simple3" qsCatId="simple" csTypeId="urn:microsoft.com/office/officeart/2005/8/colors/colorful3" csCatId="colorful" phldr="1"/>
      <dgm:spPr/>
      <dgm:t>
        <a:bodyPr/>
        <a:lstStyle/>
        <a:p>
          <a:endParaRPr lang="en-IN"/>
        </a:p>
      </dgm:t>
    </dgm:pt>
    <dgm:pt modelId="{71CDBD18-4118-4431-A6DD-2C46F7E370D6}">
      <dgm:prSet custT="1"/>
      <dgm:spPr/>
      <dgm:t>
        <a:bodyPr/>
        <a:lstStyle/>
        <a:p>
          <a:pPr rtl="0"/>
          <a:r>
            <a:rPr lang="en-IN" sz="1600" b="0" strike="noStrike" baseline="0" dirty="0">
              <a:solidFill>
                <a:schemeClr val="tx1"/>
              </a:solidFill>
              <a:latin typeface="Times New Roman" panose="02020603050405020304" pitchFamily="18" charset="0"/>
              <a:cs typeface="Times New Roman" panose="02020603050405020304" pitchFamily="18" charset="0"/>
            </a:rPr>
            <a:t>Introduction</a:t>
          </a:r>
        </a:p>
      </dgm:t>
    </dgm:pt>
    <dgm:pt modelId="{34930CE3-64F8-4911-8AC3-812DB7DECAF5}" type="sibTrans" cxnId="{0C2E440E-96E8-4EC0-9A36-D2B476C27482}">
      <dgm:prSet/>
      <dgm:spPr/>
      <dgm:t>
        <a:bodyPr/>
        <a:lstStyle/>
        <a:p>
          <a:endParaRPr lang="en-IN" sz="1600" b="0" dirty="0"/>
        </a:p>
      </dgm:t>
    </dgm:pt>
    <dgm:pt modelId="{5AC2A9D6-9D9E-48D6-B15D-E20DBEEDD651}" type="parTrans" cxnId="{0C2E440E-96E8-4EC0-9A36-D2B476C27482}">
      <dgm:prSet/>
      <dgm:spPr/>
      <dgm:t>
        <a:bodyPr/>
        <a:lstStyle/>
        <a:p>
          <a:endParaRPr lang="en-IN" sz="1600" b="0" dirty="0"/>
        </a:p>
      </dgm:t>
    </dgm:pt>
    <dgm:pt modelId="{EDED98A6-E577-4BF1-B923-07978E24A3BF}">
      <dgm:prSet custT="1"/>
      <dgm:spPr/>
      <dgm:t>
        <a:bodyPr/>
        <a:lstStyle/>
        <a:p>
          <a:pPr rtl="0"/>
          <a:r>
            <a:rPr lang="en-US" sz="1600" dirty="0">
              <a:latin typeface="Times New Roman" panose="02020603050405020304" pitchFamily="18" charset="0"/>
              <a:cs typeface="Times New Roman" panose="02020603050405020304" pitchFamily="18" charset="0"/>
            </a:rPr>
            <a:t>Literature Survey</a:t>
          </a:r>
          <a:endParaRPr lang="en-IN" sz="1600" b="0" strike="noStrike" baseline="0" dirty="0">
            <a:latin typeface="Times New Roman" panose="02020603050405020304" pitchFamily="18" charset="0"/>
            <a:cs typeface="Times New Roman" panose="02020603050405020304" pitchFamily="18" charset="0"/>
          </a:endParaRPr>
        </a:p>
      </dgm:t>
    </dgm:pt>
    <dgm:pt modelId="{42B0B072-5852-48F9-8360-9940C54E6787}" type="parTrans" cxnId="{4310055D-FFC7-43C0-BDD0-5085E6269E41}">
      <dgm:prSet/>
      <dgm:spPr/>
      <dgm:t>
        <a:bodyPr/>
        <a:lstStyle/>
        <a:p>
          <a:endParaRPr lang="en-US" sz="1600"/>
        </a:p>
      </dgm:t>
    </dgm:pt>
    <dgm:pt modelId="{1606AF16-3E64-476C-B2E3-F6AE84553C0D}" type="sibTrans" cxnId="{4310055D-FFC7-43C0-BDD0-5085E6269E41}">
      <dgm:prSet/>
      <dgm:spPr/>
      <dgm:t>
        <a:bodyPr/>
        <a:lstStyle/>
        <a:p>
          <a:endParaRPr lang="en-US" sz="1600"/>
        </a:p>
      </dgm:t>
    </dgm:pt>
    <dgm:pt modelId="{B708EB2A-160D-4FBF-A431-724EBFFA1170}">
      <dgm:prSet custT="1"/>
      <dgm:spPr/>
      <dgm:t>
        <a:bodyPr/>
        <a:lstStyle/>
        <a:p>
          <a:pPr rtl="0"/>
          <a:r>
            <a:rPr lang="en-US" sz="1600" dirty="0">
              <a:latin typeface="Times New Roman" panose="02020603050405020304" pitchFamily="18" charset="0"/>
              <a:cs typeface="Times New Roman" panose="02020603050405020304" pitchFamily="18" charset="0"/>
            </a:rPr>
            <a:t>Research Gap</a:t>
          </a:r>
          <a:endParaRPr lang="en-IN" sz="1600" b="0" strike="noStrike" baseline="0" dirty="0">
            <a:latin typeface="Times New Roman" panose="02020603050405020304" pitchFamily="18" charset="0"/>
            <a:cs typeface="Times New Roman" panose="02020603050405020304" pitchFamily="18" charset="0"/>
          </a:endParaRPr>
        </a:p>
      </dgm:t>
    </dgm:pt>
    <dgm:pt modelId="{FF421003-5595-4F99-A74D-E17283E58223}" type="parTrans" cxnId="{5CE8114E-C44D-405F-9FDC-9F2F7990A9EA}">
      <dgm:prSet/>
      <dgm:spPr/>
      <dgm:t>
        <a:bodyPr/>
        <a:lstStyle/>
        <a:p>
          <a:endParaRPr lang="en-US" sz="1600"/>
        </a:p>
      </dgm:t>
    </dgm:pt>
    <dgm:pt modelId="{2B511BF1-E72F-461A-B258-468698CD493B}" type="sibTrans" cxnId="{5CE8114E-C44D-405F-9FDC-9F2F7990A9EA}">
      <dgm:prSet/>
      <dgm:spPr/>
      <dgm:t>
        <a:bodyPr/>
        <a:lstStyle/>
        <a:p>
          <a:endParaRPr lang="en-US" sz="1600"/>
        </a:p>
      </dgm:t>
    </dgm:pt>
    <dgm:pt modelId="{64D03EA2-BA6E-4BAA-A2C1-8E327040F0EA}">
      <dgm:prSet custT="1"/>
      <dgm:spPr/>
      <dgm:t>
        <a:bodyPr/>
        <a:lstStyle/>
        <a:p>
          <a:pPr rtl="0"/>
          <a:r>
            <a:rPr lang="en-US" sz="1600" dirty="0">
              <a:latin typeface="Times New Roman" panose="02020603050405020304" pitchFamily="18" charset="0"/>
              <a:cs typeface="Times New Roman" panose="02020603050405020304" pitchFamily="18" charset="0"/>
            </a:rPr>
            <a:t>Problem Statement</a:t>
          </a:r>
          <a:endParaRPr lang="en-IN" sz="1600" b="0" strike="noStrike" baseline="0" dirty="0">
            <a:latin typeface="Times New Roman" panose="02020603050405020304" pitchFamily="18" charset="0"/>
            <a:cs typeface="Times New Roman" panose="02020603050405020304" pitchFamily="18" charset="0"/>
          </a:endParaRPr>
        </a:p>
      </dgm:t>
    </dgm:pt>
    <dgm:pt modelId="{8CDD5EAD-913C-4ECD-8E28-16357CE10075}" type="parTrans" cxnId="{B6645EA0-60A9-4BDD-BA3A-1F2131D588D2}">
      <dgm:prSet/>
      <dgm:spPr/>
      <dgm:t>
        <a:bodyPr/>
        <a:lstStyle/>
        <a:p>
          <a:endParaRPr lang="en-US" sz="1600"/>
        </a:p>
      </dgm:t>
    </dgm:pt>
    <dgm:pt modelId="{3B84A4A5-6B53-481C-8A55-262095344C5C}" type="sibTrans" cxnId="{B6645EA0-60A9-4BDD-BA3A-1F2131D588D2}">
      <dgm:prSet/>
      <dgm:spPr/>
      <dgm:t>
        <a:bodyPr/>
        <a:lstStyle/>
        <a:p>
          <a:endParaRPr lang="en-US" sz="1600"/>
        </a:p>
      </dgm:t>
    </dgm:pt>
    <dgm:pt modelId="{AA483ED3-D149-463C-ACB7-E064D7D718AC}">
      <dgm:prSet custT="1"/>
      <dgm:spPr/>
      <dgm:t>
        <a:bodyPr/>
        <a:lstStyle/>
        <a:p>
          <a:r>
            <a:rPr lang="en-US" sz="1600" dirty="0">
              <a:latin typeface="Bookman Old Style" panose="02050604050505020204" pitchFamily="18" charset="0"/>
            </a:rPr>
            <a:t>References</a:t>
          </a:r>
          <a:endParaRPr lang="en-IN" sz="1600" b="0" strike="noStrike" baseline="0" dirty="0">
            <a:latin typeface="Times New Roman" panose="02020603050405020304" pitchFamily="18" charset="0"/>
            <a:cs typeface="Times New Roman" panose="02020603050405020304" pitchFamily="18" charset="0"/>
          </a:endParaRPr>
        </a:p>
      </dgm:t>
    </dgm:pt>
    <dgm:pt modelId="{978AEDEE-7CDC-44EB-AE13-8423D25FB422}" type="parTrans" cxnId="{D7DC135A-3878-4C83-8E68-D9B8242A3A82}">
      <dgm:prSet/>
      <dgm:spPr/>
      <dgm:t>
        <a:bodyPr/>
        <a:lstStyle/>
        <a:p>
          <a:endParaRPr lang="en-US" sz="1600"/>
        </a:p>
      </dgm:t>
    </dgm:pt>
    <dgm:pt modelId="{C36D5130-2A76-4235-9A72-47A1DD2E59F2}" type="sibTrans" cxnId="{D7DC135A-3878-4C83-8E68-D9B8242A3A82}">
      <dgm:prSet/>
      <dgm:spPr/>
      <dgm:t>
        <a:bodyPr/>
        <a:lstStyle/>
        <a:p>
          <a:endParaRPr lang="en-US" sz="1600"/>
        </a:p>
      </dgm:t>
    </dgm:pt>
    <dgm:pt modelId="{401969DB-ED9C-4C15-84BE-7C179E216810}">
      <dgm:prSet custT="1"/>
      <dgm:spPr/>
      <dgm:t>
        <a:bodyPr/>
        <a:lstStyle/>
        <a:p>
          <a:pPr rtl="0"/>
          <a:r>
            <a:rPr lang="en-US" sz="1600" dirty="0">
              <a:latin typeface="Times New Roman" panose="02020603050405020304" pitchFamily="18" charset="0"/>
              <a:cs typeface="Times New Roman" panose="02020603050405020304" pitchFamily="18" charset="0"/>
            </a:rPr>
            <a:t>Motivation</a:t>
          </a:r>
          <a:endParaRPr lang="en-IN" sz="1600" b="0" strike="noStrike" baseline="0" dirty="0">
            <a:latin typeface="Times New Roman" panose="02020603050405020304" pitchFamily="18" charset="0"/>
            <a:cs typeface="Times New Roman" panose="02020603050405020304" pitchFamily="18" charset="0"/>
          </a:endParaRPr>
        </a:p>
      </dgm:t>
    </dgm:pt>
    <dgm:pt modelId="{399F1852-07B4-4E59-975D-9E5854ECC68C}" type="parTrans" cxnId="{FF2ABAA9-3AD4-4F4E-96E4-0C1EDC9F9FE6}">
      <dgm:prSet/>
      <dgm:spPr/>
      <dgm:t>
        <a:bodyPr/>
        <a:lstStyle/>
        <a:p>
          <a:endParaRPr lang="en-US" sz="1600"/>
        </a:p>
      </dgm:t>
    </dgm:pt>
    <dgm:pt modelId="{5D327329-CABE-4E07-808B-AA271E5179B2}" type="sibTrans" cxnId="{FF2ABAA9-3AD4-4F4E-96E4-0C1EDC9F9FE6}">
      <dgm:prSet/>
      <dgm:spPr/>
      <dgm:t>
        <a:bodyPr/>
        <a:lstStyle/>
        <a:p>
          <a:endParaRPr lang="en-US" sz="1600"/>
        </a:p>
      </dgm:t>
    </dgm:pt>
    <dgm:pt modelId="{24A6D890-3CF1-42D4-9BDE-D0818C16299D}">
      <dgm:prSet custT="1"/>
      <dgm:spPr/>
      <dgm:t>
        <a:bodyPr/>
        <a:lstStyle/>
        <a:p>
          <a:r>
            <a:rPr lang="en-US" sz="1600" dirty="0">
              <a:latin typeface="Times New Roman" panose="02020603050405020304" pitchFamily="18" charset="0"/>
              <a:cs typeface="Times New Roman" panose="02020603050405020304" pitchFamily="18" charset="0"/>
            </a:rPr>
            <a:t>Objective</a:t>
          </a:r>
        </a:p>
      </dgm:t>
    </dgm:pt>
    <dgm:pt modelId="{5EA712B7-C30A-4BBE-85BD-F7ABD2DC517B}" type="parTrans" cxnId="{CC108F6D-090A-4355-9911-A54EC39CF3DB}">
      <dgm:prSet/>
      <dgm:spPr/>
      <dgm:t>
        <a:bodyPr/>
        <a:lstStyle/>
        <a:p>
          <a:endParaRPr lang="en-US" sz="1600"/>
        </a:p>
      </dgm:t>
    </dgm:pt>
    <dgm:pt modelId="{8B60D516-3070-4E0F-8526-1C67C7707C79}" type="sibTrans" cxnId="{CC108F6D-090A-4355-9911-A54EC39CF3DB}">
      <dgm:prSet/>
      <dgm:spPr/>
      <dgm:t>
        <a:bodyPr/>
        <a:lstStyle/>
        <a:p>
          <a:endParaRPr lang="en-US" sz="1600"/>
        </a:p>
      </dgm:t>
    </dgm:pt>
    <dgm:pt modelId="{BE2F195E-2BA7-4462-96C7-2B7232AC5D7A}">
      <dgm:prSet custT="1"/>
      <dgm:spPr/>
      <dgm:t>
        <a:bodyPr/>
        <a:lstStyle/>
        <a:p>
          <a:pPr rtl="0"/>
          <a:r>
            <a:rPr lang="en-US" sz="1600" dirty="0">
              <a:latin typeface="Times New Roman" panose="02020603050405020304" pitchFamily="18" charset="0"/>
              <a:cs typeface="Times New Roman" panose="02020603050405020304" pitchFamily="18" charset="0"/>
            </a:rPr>
            <a:t>Proposed Methodology </a:t>
          </a:r>
          <a:endParaRPr lang="en-IN" sz="1600" b="0" strike="noStrike" baseline="0" dirty="0">
            <a:latin typeface="Times New Roman" panose="02020603050405020304" pitchFamily="18" charset="0"/>
            <a:cs typeface="Times New Roman" panose="02020603050405020304" pitchFamily="18" charset="0"/>
          </a:endParaRPr>
        </a:p>
      </dgm:t>
    </dgm:pt>
    <dgm:pt modelId="{E38214F9-7E4A-4662-9CDC-4598C4A4C957}" type="parTrans" cxnId="{CC8D0570-3AD3-4282-84FD-86289F4F0AEF}">
      <dgm:prSet/>
      <dgm:spPr/>
      <dgm:t>
        <a:bodyPr/>
        <a:lstStyle/>
        <a:p>
          <a:endParaRPr lang="en-US" sz="1600"/>
        </a:p>
      </dgm:t>
    </dgm:pt>
    <dgm:pt modelId="{C24995FB-A4C3-4BD0-B83D-B6098D83A9B0}" type="sibTrans" cxnId="{CC8D0570-3AD3-4282-84FD-86289F4F0AEF}">
      <dgm:prSet/>
      <dgm:spPr/>
      <dgm:t>
        <a:bodyPr/>
        <a:lstStyle/>
        <a:p>
          <a:endParaRPr lang="en-US" sz="1600"/>
        </a:p>
      </dgm:t>
    </dgm:pt>
    <dgm:pt modelId="{3D1A6D30-8326-4B6A-A4F0-BBC89CDFB270}">
      <dgm:prSet custT="1"/>
      <dgm:spPr/>
      <dgm:t>
        <a:bodyPr/>
        <a:lstStyle/>
        <a:p>
          <a:pPr rtl="0"/>
          <a:r>
            <a:rPr lang="en-IN" sz="1600" b="0" strike="noStrike" baseline="0" dirty="0">
              <a:solidFill>
                <a:schemeClr val="tx1"/>
              </a:solidFill>
              <a:latin typeface="Times New Roman" panose="02020603050405020304" pitchFamily="18" charset="0"/>
              <a:cs typeface="Times New Roman" panose="02020603050405020304" pitchFamily="18" charset="0"/>
            </a:rPr>
            <a:t>Abstract</a:t>
          </a:r>
        </a:p>
      </dgm:t>
    </dgm:pt>
    <dgm:pt modelId="{78CDFF51-FDA3-49AC-87AE-EBF823BB1648}" type="parTrans" cxnId="{D1B8F29D-8B56-46E1-9CC4-BC46DB7BB56C}">
      <dgm:prSet/>
      <dgm:spPr/>
      <dgm:t>
        <a:bodyPr/>
        <a:lstStyle/>
        <a:p>
          <a:endParaRPr lang="en-US"/>
        </a:p>
      </dgm:t>
    </dgm:pt>
    <dgm:pt modelId="{C9230B9F-5B32-4D8C-9386-7373C9BED094}" type="sibTrans" cxnId="{D1B8F29D-8B56-46E1-9CC4-BC46DB7BB56C}">
      <dgm:prSet/>
      <dgm:spPr/>
      <dgm:t>
        <a:bodyPr/>
        <a:lstStyle/>
        <a:p>
          <a:endParaRPr lang="en-US"/>
        </a:p>
      </dgm:t>
    </dgm:pt>
    <dgm:pt modelId="{89026886-4D1C-4099-8C61-0C275DE5616F}">
      <dgm:prSet custT="1"/>
      <dgm:spPr/>
      <dgm:t>
        <a:bodyPr/>
        <a:lstStyle/>
        <a:p>
          <a:pPr rtl="0"/>
          <a:r>
            <a:rPr lang="en-IN" sz="1600" b="0" strike="noStrike" baseline="0" dirty="0">
              <a:latin typeface="Times New Roman" panose="02020603050405020304" pitchFamily="18" charset="0"/>
              <a:cs typeface="Times New Roman" panose="02020603050405020304" pitchFamily="18" charset="0"/>
            </a:rPr>
            <a:t>Result and Discussion on Outcome (Conference Paper/ Patent/ Copyrights)</a:t>
          </a:r>
        </a:p>
      </dgm:t>
    </dgm:pt>
    <dgm:pt modelId="{63072F07-4E61-495A-AC24-EC8752BD1221}" type="parTrans" cxnId="{B52BC8CF-576A-4312-908F-FD77EC17B00B}">
      <dgm:prSet/>
      <dgm:spPr/>
      <dgm:t>
        <a:bodyPr/>
        <a:lstStyle/>
        <a:p>
          <a:endParaRPr lang="en-IN"/>
        </a:p>
      </dgm:t>
    </dgm:pt>
    <dgm:pt modelId="{06EB6932-0A5F-4F3B-9183-58570BA7E1F7}" type="sibTrans" cxnId="{B52BC8CF-576A-4312-908F-FD77EC17B00B}">
      <dgm:prSet/>
      <dgm:spPr/>
      <dgm:t>
        <a:bodyPr/>
        <a:lstStyle/>
        <a:p>
          <a:endParaRPr lang="en-IN"/>
        </a:p>
      </dgm:t>
    </dgm:pt>
    <dgm:pt modelId="{FA265CEF-E1D3-4F42-BCA9-D740473397B3}" type="pres">
      <dgm:prSet presAssocID="{FA1985BB-D400-4032-9A7F-157B22D00981}" presName="linear" presStyleCnt="0">
        <dgm:presLayoutVars>
          <dgm:animLvl val="lvl"/>
          <dgm:resizeHandles val="exact"/>
        </dgm:presLayoutVars>
      </dgm:prSet>
      <dgm:spPr/>
    </dgm:pt>
    <dgm:pt modelId="{8AF73CB3-664F-4474-81B3-92D97B6E2F23}" type="pres">
      <dgm:prSet presAssocID="{3D1A6D30-8326-4B6A-A4F0-BBC89CDFB270}" presName="parentText" presStyleLbl="node1" presStyleIdx="0" presStyleCnt="10">
        <dgm:presLayoutVars>
          <dgm:chMax val="0"/>
          <dgm:bulletEnabled val="1"/>
        </dgm:presLayoutVars>
      </dgm:prSet>
      <dgm:spPr/>
    </dgm:pt>
    <dgm:pt modelId="{1E33F72A-FE28-4128-826C-9B7F160A7E7E}" type="pres">
      <dgm:prSet presAssocID="{C9230B9F-5B32-4D8C-9386-7373C9BED094}" presName="spacer" presStyleCnt="0"/>
      <dgm:spPr/>
    </dgm:pt>
    <dgm:pt modelId="{0C292BC2-ADFF-490F-A1D6-7FDA3C25D23C}" type="pres">
      <dgm:prSet presAssocID="{71CDBD18-4118-4431-A6DD-2C46F7E370D6}" presName="parentText" presStyleLbl="node1" presStyleIdx="1" presStyleCnt="10" custLinFactNeighborY="-1121">
        <dgm:presLayoutVars>
          <dgm:chMax val="0"/>
          <dgm:bulletEnabled val="1"/>
        </dgm:presLayoutVars>
      </dgm:prSet>
      <dgm:spPr/>
    </dgm:pt>
    <dgm:pt modelId="{9EF7D786-5CE1-44B1-82A6-0A38D8666C77}" type="pres">
      <dgm:prSet presAssocID="{34930CE3-64F8-4911-8AC3-812DB7DECAF5}" presName="spacer" presStyleCnt="0"/>
      <dgm:spPr/>
    </dgm:pt>
    <dgm:pt modelId="{095A8D5B-507B-49DD-9F50-21D5783DA766}" type="pres">
      <dgm:prSet presAssocID="{401969DB-ED9C-4C15-84BE-7C179E216810}" presName="parentText" presStyleLbl="node1" presStyleIdx="2" presStyleCnt="10">
        <dgm:presLayoutVars>
          <dgm:chMax val="0"/>
          <dgm:bulletEnabled val="1"/>
        </dgm:presLayoutVars>
      </dgm:prSet>
      <dgm:spPr/>
    </dgm:pt>
    <dgm:pt modelId="{AB2FE273-2CBC-42D7-8B88-960497F425CD}" type="pres">
      <dgm:prSet presAssocID="{5D327329-CABE-4E07-808B-AA271E5179B2}" presName="spacer" presStyleCnt="0"/>
      <dgm:spPr/>
    </dgm:pt>
    <dgm:pt modelId="{D59183E6-5BCE-4FD7-904C-1F49A18FA90A}" type="pres">
      <dgm:prSet presAssocID="{24A6D890-3CF1-42D4-9BDE-D0818C16299D}" presName="parentText" presStyleLbl="node1" presStyleIdx="3" presStyleCnt="10">
        <dgm:presLayoutVars>
          <dgm:chMax val="0"/>
          <dgm:bulletEnabled val="1"/>
        </dgm:presLayoutVars>
      </dgm:prSet>
      <dgm:spPr/>
    </dgm:pt>
    <dgm:pt modelId="{4FC79289-272C-462F-8407-B03F236808AE}" type="pres">
      <dgm:prSet presAssocID="{8B60D516-3070-4E0F-8526-1C67C7707C79}" presName="spacer" presStyleCnt="0"/>
      <dgm:spPr/>
    </dgm:pt>
    <dgm:pt modelId="{A38FE33E-AAC5-4E0B-8577-5ECAA37FA220}" type="pres">
      <dgm:prSet presAssocID="{EDED98A6-E577-4BF1-B923-07978E24A3BF}" presName="parentText" presStyleLbl="node1" presStyleIdx="4" presStyleCnt="10">
        <dgm:presLayoutVars>
          <dgm:chMax val="0"/>
          <dgm:bulletEnabled val="1"/>
        </dgm:presLayoutVars>
      </dgm:prSet>
      <dgm:spPr/>
    </dgm:pt>
    <dgm:pt modelId="{A70457E0-9E15-4145-8AFF-3F0FA33A6D66}" type="pres">
      <dgm:prSet presAssocID="{1606AF16-3E64-476C-B2E3-F6AE84553C0D}" presName="spacer" presStyleCnt="0"/>
      <dgm:spPr/>
    </dgm:pt>
    <dgm:pt modelId="{A96DAACA-F17E-47F0-B672-F8211FEB47AC}" type="pres">
      <dgm:prSet presAssocID="{B708EB2A-160D-4FBF-A431-724EBFFA1170}" presName="parentText" presStyleLbl="node1" presStyleIdx="5" presStyleCnt="10">
        <dgm:presLayoutVars>
          <dgm:chMax val="0"/>
          <dgm:bulletEnabled val="1"/>
        </dgm:presLayoutVars>
      </dgm:prSet>
      <dgm:spPr/>
    </dgm:pt>
    <dgm:pt modelId="{6B1F05B8-4CD7-4C5E-B083-9DB5BB967236}" type="pres">
      <dgm:prSet presAssocID="{2B511BF1-E72F-461A-B258-468698CD493B}" presName="spacer" presStyleCnt="0"/>
      <dgm:spPr/>
    </dgm:pt>
    <dgm:pt modelId="{6885AA65-2AA3-46B5-A084-7E7DD856A146}" type="pres">
      <dgm:prSet presAssocID="{64D03EA2-BA6E-4BAA-A2C1-8E327040F0EA}" presName="parentText" presStyleLbl="node1" presStyleIdx="6" presStyleCnt="10">
        <dgm:presLayoutVars>
          <dgm:chMax val="0"/>
          <dgm:bulletEnabled val="1"/>
        </dgm:presLayoutVars>
      </dgm:prSet>
      <dgm:spPr/>
    </dgm:pt>
    <dgm:pt modelId="{A90DDBFD-C452-4908-8B22-E5A28FD4AA10}" type="pres">
      <dgm:prSet presAssocID="{3B84A4A5-6B53-481C-8A55-262095344C5C}" presName="spacer" presStyleCnt="0"/>
      <dgm:spPr/>
    </dgm:pt>
    <dgm:pt modelId="{FA3189F3-6CE2-4CA8-9D73-CCF3A091FC32}" type="pres">
      <dgm:prSet presAssocID="{BE2F195E-2BA7-4462-96C7-2B7232AC5D7A}" presName="parentText" presStyleLbl="node1" presStyleIdx="7" presStyleCnt="10">
        <dgm:presLayoutVars>
          <dgm:chMax val="0"/>
          <dgm:bulletEnabled val="1"/>
        </dgm:presLayoutVars>
      </dgm:prSet>
      <dgm:spPr/>
    </dgm:pt>
    <dgm:pt modelId="{5F77AADB-777B-4D7F-B851-7DE8D4D55FCB}" type="pres">
      <dgm:prSet presAssocID="{C24995FB-A4C3-4BD0-B83D-B6098D83A9B0}" presName="spacer" presStyleCnt="0"/>
      <dgm:spPr/>
    </dgm:pt>
    <dgm:pt modelId="{ACD9FB09-745B-43A9-A14D-18BE8D6CE92F}" type="pres">
      <dgm:prSet presAssocID="{89026886-4D1C-4099-8C61-0C275DE5616F}" presName="parentText" presStyleLbl="node1" presStyleIdx="8" presStyleCnt="10">
        <dgm:presLayoutVars>
          <dgm:chMax val="0"/>
          <dgm:bulletEnabled val="1"/>
        </dgm:presLayoutVars>
      </dgm:prSet>
      <dgm:spPr/>
    </dgm:pt>
    <dgm:pt modelId="{FA45AC09-2E0E-40D4-8018-BE6D74560493}" type="pres">
      <dgm:prSet presAssocID="{06EB6932-0A5F-4F3B-9183-58570BA7E1F7}" presName="spacer" presStyleCnt="0"/>
      <dgm:spPr/>
    </dgm:pt>
    <dgm:pt modelId="{1B872D9D-FE3C-49B3-9DAD-AF5052A20FFE}" type="pres">
      <dgm:prSet presAssocID="{AA483ED3-D149-463C-ACB7-E064D7D718AC}" presName="parentText" presStyleLbl="node1" presStyleIdx="9" presStyleCnt="10">
        <dgm:presLayoutVars>
          <dgm:chMax val="0"/>
          <dgm:bulletEnabled val="1"/>
        </dgm:presLayoutVars>
      </dgm:prSet>
      <dgm:spPr/>
    </dgm:pt>
  </dgm:ptLst>
  <dgm:cxnLst>
    <dgm:cxn modelId="{D46C880B-70F5-4330-81AB-5E9CBC132F0A}" type="presOf" srcId="{401969DB-ED9C-4C15-84BE-7C179E216810}" destId="{095A8D5B-507B-49DD-9F50-21D5783DA766}" srcOrd="0" destOrd="0" presId="urn:microsoft.com/office/officeart/2005/8/layout/vList2"/>
    <dgm:cxn modelId="{0C2E440E-96E8-4EC0-9A36-D2B476C27482}" srcId="{FA1985BB-D400-4032-9A7F-157B22D00981}" destId="{71CDBD18-4118-4431-A6DD-2C46F7E370D6}" srcOrd="1" destOrd="0" parTransId="{5AC2A9D6-9D9E-48D6-B15D-E20DBEEDD651}" sibTransId="{34930CE3-64F8-4911-8AC3-812DB7DECAF5}"/>
    <dgm:cxn modelId="{4310055D-FFC7-43C0-BDD0-5085E6269E41}" srcId="{FA1985BB-D400-4032-9A7F-157B22D00981}" destId="{EDED98A6-E577-4BF1-B923-07978E24A3BF}" srcOrd="4" destOrd="0" parTransId="{42B0B072-5852-48F9-8360-9940C54E6787}" sibTransId="{1606AF16-3E64-476C-B2E3-F6AE84553C0D}"/>
    <dgm:cxn modelId="{BBAB885F-F7EB-45E4-B4BB-B81A402A9794}" type="presOf" srcId="{89026886-4D1C-4099-8C61-0C275DE5616F}" destId="{ACD9FB09-745B-43A9-A14D-18BE8D6CE92F}" srcOrd="0" destOrd="0" presId="urn:microsoft.com/office/officeart/2005/8/layout/vList2"/>
    <dgm:cxn modelId="{2B1A3646-A7D0-4A42-A6AC-74CE580D15B8}" type="presOf" srcId="{EDED98A6-E577-4BF1-B923-07978E24A3BF}" destId="{A38FE33E-AAC5-4E0B-8577-5ECAA37FA220}" srcOrd="0" destOrd="0" presId="urn:microsoft.com/office/officeart/2005/8/layout/vList2"/>
    <dgm:cxn modelId="{CC108F6D-090A-4355-9911-A54EC39CF3DB}" srcId="{FA1985BB-D400-4032-9A7F-157B22D00981}" destId="{24A6D890-3CF1-42D4-9BDE-D0818C16299D}" srcOrd="3" destOrd="0" parTransId="{5EA712B7-C30A-4BBE-85BD-F7ABD2DC517B}" sibTransId="{8B60D516-3070-4E0F-8526-1C67C7707C79}"/>
    <dgm:cxn modelId="{5CE8114E-C44D-405F-9FDC-9F2F7990A9EA}" srcId="{FA1985BB-D400-4032-9A7F-157B22D00981}" destId="{B708EB2A-160D-4FBF-A431-724EBFFA1170}" srcOrd="5" destOrd="0" parTransId="{FF421003-5595-4F99-A74D-E17283E58223}" sibTransId="{2B511BF1-E72F-461A-B258-468698CD493B}"/>
    <dgm:cxn modelId="{CC8D0570-3AD3-4282-84FD-86289F4F0AEF}" srcId="{FA1985BB-D400-4032-9A7F-157B22D00981}" destId="{BE2F195E-2BA7-4462-96C7-2B7232AC5D7A}" srcOrd="7" destOrd="0" parTransId="{E38214F9-7E4A-4662-9CDC-4598C4A4C957}" sibTransId="{C24995FB-A4C3-4BD0-B83D-B6098D83A9B0}"/>
    <dgm:cxn modelId="{85A76B72-0009-4F15-9802-358413863C64}" type="presOf" srcId="{3D1A6D30-8326-4B6A-A4F0-BBC89CDFB270}" destId="{8AF73CB3-664F-4474-81B3-92D97B6E2F23}" srcOrd="0" destOrd="0" presId="urn:microsoft.com/office/officeart/2005/8/layout/vList2"/>
    <dgm:cxn modelId="{C6A4C376-EBEC-4804-B3E8-0D4B0D085B34}" type="presOf" srcId="{24A6D890-3CF1-42D4-9BDE-D0818C16299D}" destId="{D59183E6-5BCE-4FD7-904C-1F49A18FA90A}" srcOrd="0" destOrd="0" presId="urn:microsoft.com/office/officeart/2005/8/layout/vList2"/>
    <dgm:cxn modelId="{D7DC135A-3878-4C83-8E68-D9B8242A3A82}" srcId="{FA1985BB-D400-4032-9A7F-157B22D00981}" destId="{AA483ED3-D149-463C-ACB7-E064D7D718AC}" srcOrd="9" destOrd="0" parTransId="{978AEDEE-7CDC-44EB-AE13-8423D25FB422}" sibTransId="{C36D5130-2A76-4235-9A72-47A1DD2E59F2}"/>
    <dgm:cxn modelId="{CE7C8080-A451-4F00-8691-B1323551A1F0}" type="presOf" srcId="{B708EB2A-160D-4FBF-A431-724EBFFA1170}" destId="{A96DAACA-F17E-47F0-B672-F8211FEB47AC}" srcOrd="0" destOrd="0" presId="urn:microsoft.com/office/officeart/2005/8/layout/vList2"/>
    <dgm:cxn modelId="{F5C5B88A-330C-4462-AE72-DC8D39CAE661}" type="presOf" srcId="{64D03EA2-BA6E-4BAA-A2C1-8E327040F0EA}" destId="{6885AA65-2AA3-46B5-A084-7E7DD856A146}" srcOrd="0" destOrd="0" presId="urn:microsoft.com/office/officeart/2005/8/layout/vList2"/>
    <dgm:cxn modelId="{41B66E96-4EAC-4FD0-8E00-3F321CE6E736}" type="presOf" srcId="{71CDBD18-4118-4431-A6DD-2C46F7E370D6}" destId="{0C292BC2-ADFF-490F-A1D6-7FDA3C25D23C}" srcOrd="0" destOrd="0" presId="urn:microsoft.com/office/officeart/2005/8/layout/vList2"/>
    <dgm:cxn modelId="{D1B8F29D-8B56-46E1-9CC4-BC46DB7BB56C}" srcId="{FA1985BB-D400-4032-9A7F-157B22D00981}" destId="{3D1A6D30-8326-4B6A-A4F0-BBC89CDFB270}" srcOrd="0" destOrd="0" parTransId="{78CDFF51-FDA3-49AC-87AE-EBF823BB1648}" sibTransId="{C9230B9F-5B32-4D8C-9386-7373C9BED094}"/>
    <dgm:cxn modelId="{B6645EA0-60A9-4BDD-BA3A-1F2131D588D2}" srcId="{FA1985BB-D400-4032-9A7F-157B22D00981}" destId="{64D03EA2-BA6E-4BAA-A2C1-8E327040F0EA}" srcOrd="6" destOrd="0" parTransId="{8CDD5EAD-913C-4ECD-8E28-16357CE10075}" sibTransId="{3B84A4A5-6B53-481C-8A55-262095344C5C}"/>
    <dgm:cxn modelId="{FF2ABAA9-3AD4-4F4E-96E4-0C1EDC9F9FE6}" srcId="{FA1985BB-D400-4032-9A7F-157B22D00981}" destId="{401969DB-ED9C-4C15-84BE-7C179E216810}" srcOrd="2" destOrd="0" parTransId="{399F1852-07B4-4E59-975D-9E5854ECC68C}" sibTransId="{5D327329-CABE-4E07-808B-AA271E5179B2}"/>
    <dgm:cxn modelId="{335BD1C0-2D7E-47AC-928B-0B0B5765A5AB}" type="presOf" srcId="{FA1985BB-D400-4032-9A7F-157B22D00981}" destId="{FA265CEF-E1D3-4F42-BCA9-D740473397B3}" srcOrd="0" destOrd="0" presId="urn:microsoft.com/office/officeart/2005/8/layout/vList2"/>
    <dgm:cxn modelId="{1892B9C4-D4DE-43C9-8126-A7E7889CE3CD}" type="presOf" srcId="{BE2F195E-2BA7-4462-96C7-2B7232AC5D7A}" destId="{FA3189F3-6CE2-4CA8-9D73-CCF3A091FC32}" srcOrd="0" destOrd="0" presId="urn:microsoft.com/office/officeart/2005/8/layout/vList2"/>
    <dgm:cxn modelId="{B52BC8CF-576A-4312-908F-FD77EC17B00B}" srcId="{FA1985BB-D400-4032-9A7F-157B22D00981}" destId="{89026886-4D1C-4099-8C61-0C275DE5616F}" srcOrd="8" destOrd="0" parTransId="{63072F07-4E61-495A-AC24-EC8752BD1221}" sibTransId="{06EB6932-0A5F-4F3B-9183-58570BA7E1F7}"/>
    <dgm:cxn modelId="{B27109D0-E259-4C50-A12A-FE51BC4E1497}" type="presOf" srcId="{AA483ED3-D149-463C-ACB7-E064D7D718AC}" destId="{1B872D9D-FE3C-49B3-9DAD-AF5052A20FFE}" srcOrd="0" destOrd="0" presId="urn:microsoft.com/office/officeart/2005/8/layout/vList2"/>
    <dgm:cxn modelId="{3638C0A1-CCC6-42AA-8E6D-A7BB2A8D7433}" type="presParOf" srcId="{FA265CEF-E1D3-4F42-BCA9-D740473397B3}" destId="{8AF73CB3-664F-4474-81B3-92D97B6E2F23}" srcOrd="0" destOrd="0" presId="urn:microsoft.com/office/officeart/2005/8/layout/vList2"/>
    <dgm:cxn modelId="{36722D97-AFAF-426C-B57A-DFDB099D14AF}" type="presParOf" srcId="{FA265CEF-E1D3-4F42-BCA9-D740473397B3}" destId="{1E33F72A-FE28-4128-826C-9B7F160A7E7E}" srcOrd="1" destOrd="0" presId="urn:microsoft.com/office/officeart/2005/8/layout/vList2"/>
    <dgm:cxn modelId="{E43D6A9A-D778-4676-A5C6-95E4A808BACE}" type="presParOf" srcId="{FA265CEF-E1D3-4F42-BCA9-D740473397B3}" destId="{0C292BC2-ADFF-490F-A1D6-7FDA3C25D23C}" srcOrd="2" destOrd="0" presId="urn:microsoft.com/office/officeart/2005/8/layout/vList2"/>
    <dgm:cxn modelId="{26F81564-AE95-4948-AC98-EB29A4C5A48D}" type="presParOf" srcId="{FA265CEF-E1D3-4F42-BCA9-D740473397B3}" destId="{9EF7D786-5CE1-44B1-82A6-0A38D8666C77}" srcOrd="3" destOrd="0" presId="urn:microsoft.com/office/officeart/2005/8/layout/vList2"/>
    <dgm:cxn modelId="{7B4A2029-66D1-47D3-97D8-027F6B900503}" type="presParOf" srcId="{FA265CEF-E1D3-4F42-BCA9-D740473397B3}" destId="{095A8D5B-507B-49DD-9F50-21D5783DA766}" srcOrd="4" destOrd="0" presId="urn:microsoft.com/office/officeart/2005/8/layout/vList2"/>
    <dgm:cxn modelId="{9FDB2C2D-F4E5-41D5-AF33-78507C6F0686}" type="presParOf" srcId="{FA265CEF-E1D3-4F42-BCA9-D740473397B3}" destId="{AB2FE273-2CBC-42D7-8B88-960497F425CD}" srcOrd="5" destOrd="0" presId="urn:microsoft.com/office/officeart/2005/8/layout/vList2"/>
    <dgm:cxn modelId="{747BBF30-1ECB-449C-A583-0B8AFF1087E6}" type="presParOf" srcId="{FA265CEF-E1D3-4F42-BCA9-D740473397B3}" destId="{D59183E6-5BCE-4FD7-904C-1F49A18FA90A}" srcOrd="6" destOrd="0" presId="urn:microsoft.com/office/officeart/2005/8/layout/vList2"/>
    <dgm:cxn modelId="{80D8713E-E5E6-4AD7-B7B1-46A2A0E4166B}" type="presParOf" srcId="{FA265CEF-E1D3-4F42-BCA9-D740473397B3}" destId="{4FC79289-272C-462F-8407-B03F236808AE}" srcOrd="7" destOrd="0" presId="urn:microsoft.com/office/officeart/2005/8/layout/vList2"/>
    <dgm:cxn modelId="{DE8C4887-4C5F-4B86-8750-700FC0F47419}" type="presParOf" srcId="{FA265CEF-E1D3-4F42-BCA9-D740473397B3}" destId="{A38FE33E-AAC5-4E0B-8577-5ECAA37FA220}" srcOrd="8" destOrd="0" presId="urn:microsoft.com/office/officeart/2005/8/layout/vList2"/>
    <dgm:cxn modelId="{376DAD15-4F6A-4011-BFD3-D869DFCADCDB}" type="presParOf" srcId="{FA265CEF-E1D3-4F42-BCA9-D740473397B3}" destId="{A70457E0-9E15-4145-8AFF-3F0FA33A6D66}" srcOrd="9" destOrd="0" presId="urn:microsoft.com/office/officeart/2005/8/layout/vList2"/>
    <dgm:cxn modelId="{0F399570-5E21-4ED0-8C3A-487392DC1F02}" type="presParOf" srcId="{FA265CEF-E1D3-4F42-BCA9-D740473397B3}" destId="{A96DAACA-F17E-47F0-B672-F8211FEB47AC}" srcOrd="10" destOrd="0" presId="urn:microsoft.com/office/officeart/2005/8/layout/vList2"/>
    <dgm:cxn modelId="{7B6EBBA7-8E0B-49C7-AE38-C50507B2C171}" type="presParOf" srcId="{FA265CEF-E1D3-4F42-BCA9-D740473397B3}" destId="{6B1F05B8-4CD7-4C5E-B083-9DB5BB967236}" srcOrd="11" destOrd="0" presId="urn:microsoft.com/office/officeart/2005/8/layout/vList2"/>
    <dgm:cxn modelId="{9EB17FA9-3573-457F-B72E-9389EE98CFCA}" type="presParOf" srcId="{FA265CEF-E1D3-4F42-BCA9-D740473397B3}" destId="{6885AA65-2AA3-46B5-A084-7E7DD856A146}" srcOrd="12" destOrd="0" presId="urn:microsoft.com/office/officeart/2005/8/layout/vList2"/>
    <dgm:cxn modelId="{85FD7275-B6F2-4195-90B5-DBE0E9C4D788}" type="presParOf" srcId="{FA265CEF-E1D3-4F42-BCA9-D740473397B3}" destId="{A90DDBFD-C452-4908-8B22-E5A28FD4AA10}" srcOrd="13" destOrd="0" presId="urn:microsoft.com/office/officeart/2005/8/layout/vList2"/>
    <dgm:cxn modelId="{61FD1A85-F392-483C-B199-D66EB117A791}" type="presParOf" srcId="{FA265CEF-E1D3-4F42-BCA9-D740473397B3}" destId="{FA3189F3-6CE2-4CA8-9D73-CCF3A091FC32}" srcOrd="14" destOrd="0" presId="urn:microsoft.com/office/officeart/2005/8/layout/vList2"/>
    <dgm:cxn modelId="{E83650C3-12CA-4EB3-90CA-D51F985A0E10}" type="presParOf" srcId="{FA265CEF-E1D3-4F42-BCA9-D740473397B3}" destId="{5F77AADB-777B-4D7F-B851-7DE8D4D55FCB}" srcOrd="15" destOrd="0" presId="urn:microsoft.com/office/officeart/2005/8/layout/vList2"/>
    <dgm:cxn modelId="{A9D91C88-4D31-4404-B7DA-75895782BEA2}" type="presParOf" srcId="{FA265CEF-E1D3-4F42-BCA9-D740473397B3}" destId="{ACD9FB09-745B-43A9-A14D-18BE8D6CE92F}" srcOrd="16" destOrd="0" presId="urn:microsoft.com/office/officeart/2005/8/layout/vList2"/>
    <dgm:cxn modelId="{A6E9516F-411D-469B-872C-BDD23DAB6D82}" type="presParOf" srcId="{FA265CEF-E1D3-4F42-BCA9-D740473397B3}" destId="{FA45AC09-2E0E-40D4-8018-BE6D74560493}" srcOrd="17" destOrd="0" presId="urn:microsoft.com/office/officeart/2005/8/layout/vList2"/>
    <dgm:cxn modelId="{3487AA50-CB0C-474E-8E9F-8DA6274CBAF3}" type="presParOf" srcId="{FA265CEF-E1D3-4F42-BCA9-D740473397B3}" destId="{1B872D9D-FE3C-49B3-9DAD-AF5052A20FFE}" srcOrd="18"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F222F9-E1E1-4B7E-AEC9-7232D7D2F6C6}">
      <dsp:nvSpPr>
        <dsp:cNvPr id="0" name=""/>
        <dsp:cNvSpPr/>
      </dsp:nvSpPr>
      <dsp:spPr>
        <a:xfrm>
          <a:off x="0" y="0"/>
          <a:ext cx="8229600" cy="861120"/>
        </a:xfrm>
        <a:prstGeom prst="round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b="1" kern="1200" baseline="0" dirty="0">
              <a:solidFill>
                <a:schemeClr val="tx1"/>
              </a:solidFill>
              <a:latin typeface="Bookman Old Style" pitchFamily="18" charset="0"/>
            </a:rPr>
            <a:t>Outline</a:t>
          </a:r>
          <a:endParaRPr lang="en-IN" sz="2800" b="1" kern="1200" baseline="0" dirty="0">
            <a:solidFill>
              <a:schemeClr val="tx1"/>
            </a:solidFill>
            <a:latin typeface="Bookman Old Style" pitchFamily="18" charset="0"/>
          </a:endParaRPr>
        </a:p>
      </dsp:txBody>
      <dsp:txXfrm>
        <a:off x="42036" y="42036"/>
        <a:ext cx="8145528" cy="7770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F73CB3-664F-4474-81B3-92D97B6E2F23}">
      <dsp:nvSpPr>
        <dsp:cNvPr id="0" name=""/>
        <dsp:cNvSpPr/>
      </dsp:nvSpPr>
      <dsp:spPr>
        <a:xfrm>
          <a:off x="0" y="48840"/>
          <a:ext cx="8229600" cy="486720"/>
        </a:xfrm>
        <a:prstGeom prst="round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b="0" strike="noStrike" kern="1200" baseline="0" dirty="0">
              <a:solidFill>
                <a:schemeClr val="tx1"/>
              </a:solidFill>
              <a:latin typeface="Times New Roman" panose="02020603050405020304" pitchFamily="18" charset="0"/>
              <a:cs typeface="Times New Roman" panose="02020603050405020304" pitchFamily="18" charset="0"/>
            </a:rPr>
            <a:t>Abstract</a:t>
          </a:r>
        </a:p>
      </dsp:txBody>
      <dsp:txXfrm>
        <a:off x="23760" y="72600"/>
        <a:ext cx="8182080" cy="439200"/>
      </dsp:txXfrm>
    </dsp:sp>
    <dsp:sp modelId="{0C292BC2-ADFF-490F-A1D6-7FDA3C25D23C}">
      <dsp:nvSpPr>
        <dsp:cNvPr id="0" name=""/>
        <dsp:cNvSpPr/>
      </dsp:nvSpPr>
      <dsp:spPr>
        <a:xfrm>
          <a:off x="0" y="609600"/>
          <a:ext cx="8229600" cy="486720"/>
        </a:xfrm>
        <a:prstGeom prst="roundRect">
          <a:avLst/>
        </a:prstGeom>
        <a:gradFill rotWithShape="0">
          <a:gsLst>
            <a:gs pos="0">
              <a:schemeClr val="accent3">
                <a:hueOff val="-1075496"/>
                <a:satOff val="360"/>
                <a:lumOff val="-1569"/>
                <a:alphaOff val="0"/>
                <a:tint val="50000"/>
                <a:satMod val="300000"/>
              </a:schemeClr>
            </a:gs>
            <a:gs pos="35000">
              <a:schemeClr val="accent3">
                <a:hueOff val="-1075496"/>
                <a:satOff val="360"/>
                <a:lumOff val="-1569"/>
                <a:alphaOff val="0"/>
                <a:tint val="37000"/>
                <a:satMod val="300000"/>
              </a:schemeClr>
            </a:gs>
            <a:gs pos="100000">
              <a:schemeClr val="accent3">
                <a:hueOff val="-1075496"/>
                <a:satOff val="360"/>
                <a:lumOff val="-156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b="0" strike="noStrike" kern="1200" baseline="0" dirty="0">
              <a:solidFill>
                <a:schemeClr val="tx1"/>
              </a:solidFill>
              <a:latin typeface="Times New Roman" panose="02020603050405020304" pitchFamily="18" charset="0"/>
              <a:cs typeface="Times New Roman" panose="02020603050405020304" pitchFamily="18" charset="0"/>
            </a:rPr>
            <a:t>Introduction</a:t>
          </a:r>
        </a:p>
      </dsp:txBody>
      <dsp:txXfrm>
        <a:off x="23760" y="633360"/>
        <a:ext cx="8182080" cy="439200"/>
      </dsp:txXfrm>
    </dsp:sp>
    <dsp:sp modelId="{095A8D5B-507B-49DD-9F50-21D5783DA766}">
      <dsp:nvSpPr>
        <dsp:cNvPr id="0" name=""/>
        <dsp:cNvSpPr/>
      </dsp:nvSpPr>
      <dsp:spPr>
        <a:xfrm>
          <a:off x="0" y="1172040"/>
          <a:ext cx="8229600" cy="486720"/>
        </a:xfrm>
        <a:prstGeom prst="roundRect">
          <a:avLst/>
        </a:prstGeom>
        <a:gradFill rotWithShape="0">
          <a:gsLst>
            <a:gs pos="0">
              <a:schemeClr val="accent3">
                <a:hueOff val="-2150992"/>
                <a:satOff val="720"/>
                <a:lumOff val="-3137"/>
                <a:alphaOff val="0"/>
                <a:tint val="50000"/>
                <a:satMod val="300000"/>
              </a:schemeClr>
            </a:gs>
            <a:gs pos="35000">
              <a:schemeClr val="accent3">
                <a:hueOff val="-2150992"/>
                <a:satOff val="720"/>
                <a:lumOff val="-3137"/>
                <a:alphaOff val="0"/>
                <a:tint val="37000"/>
                <a:satMod val="300000"/>
              </a:schemeClr>
            </a:gs>
            <a:gs pos="100000">
              <a:schemeClr val="accent3">
                <a:hueOff val="-2150992"/>
                <a:satOff val="720"/>
                <a:lumOff val="-3137"/>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Motivation</a:t>
          </a:r>
          <a:endParaRPr lang="en-IN" sz="1600" b="0" strike="noStrike" kern="1200" baseline="0" dirty="0">
            <a:latin typeface="Times New Roman" panose="02020603050405020304" pitchFamily="18" charset="0"/>
            <a:cs typeface="Times New Roman" panose="02020603050405020304" pitchFamily="18" charset="0"/>
          </a:endParaRPr>
        </a:p>
      </dsp:txBody>
      <dsp:txXfrm>
        <a:off x="23760" y="1195800"/>
        <a:ext cx="8182080" cy="439200"/>
      </dsp:txXfrm>
    </dsp:sp>
    <dsp:sp modelId="{D59183E6-5BCE-4FD7-904C-1F49A18FA90A}">
      <dsp:nvSpPr>
        <dsp:cNvPr id="0" name=""/>
        <dsp:cNvSpPr/>
      </dsp:nvSpPr>
      <dsp:spPr>
        <a:xfrm>
          <a:off x="0" y="1733640"/>
          <a:ext cx="8229600" cy="486720"/>
        </a:xfrm>
        <a:prstGeom prst="roundRect">
          <a:avLst/>
        </a:prstGeom>
        <a:gradFill rotWithShape="0">
          <a:gsLst>
            <a:gs pos="0">
              <a:schemeClr val="accent3">
                <a:hueOff val="-3226488"/>
                <a:satOff val="1079"/>
                <a:lumOff val="-4706"/>
                <a:alphaOff val="0"/>
                <a:tint val="50000"/>
                <a:satMod val="300000"/>
              </a:schemeClr>
            </a:gs>
            <a:gs pos="35000">
              <a:schemeClr val="accent3">
                <a:hueOff val="-3226488"/>
                <a:satOff val="1079"/>
                <a:lumOff val="-4706"/>
                <a:alphaOff val="0"/>
                <a:tint val="37000"/>
                <a:satMod val="300000"/>
              </a:schemeClr>
            </a:gs>
            <a:gs pos="100000">
              <a:schemeClr val="accent3">
                <a:hueOff val="-3226488"/>
                <a:satOff val="1079"/>
                <a:lumOff val="-470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Objective</a:t>
          </a:r>
        </a:p>
      </dsp:txBody>
      <dsp:txXfrm>
        <a:off x="23760" y="1757400"/>
        <a:ext cx="8182080" cy="439200"/>
      </dsp:txXfrm>
    </dsp:sp>
    <dsp:sp modelId="{A38FE33E-AAC5-4E0B-8577-5ECAA37FA220}">
      <dsp:nvSpPr>
        <dsp:cNvPr id="0" name=""/>
        <dsp:cNvSpPr/>
      </dsp:nvSpPr>
      <dsp:spPr>
        <a:xfrm>
          <a:off x="0" y="2295239"/>
          <a:ext cx="8229600" cy="486720"/>
        </a:xfrm>
        <a:prstGeom prst="roundRect">
          <a:avLst/>
        </a:prstGeom>
        <a:gradFill rotWithShape="0">
          <a:gsLst>
            <a:gs pos="0">
              <a:schemeClr val="accent3">
                <a:hueOff val="-4301983"/>
                <a:satOff val="1439"/>
                <a:lumOff val="-6275"/>
                <a:alphaOff val="0"/>
                <a:tint val="50000"/>
                <a:satMod val="300000"/>
              </a:schemeClr>
            </a:gs>
            <a:gs pos="35000">
              <a:schemeClr val="accent3">
                <a:hueOff val="-4301983"/>
                <a:satOff val="1439"/>
                <a:lumOff val="-6275"/>
                <a:alphaOff val="0"/>
                <a:tint val="37000"/>
                <a:satMod val="300000"/>
              </a:schemeClr>
            </a:gs>
            <a:gs pos="100000">
              <a:schemeClr val="accent3">
                <a:hueOff val="-4301983"/>
                <a:satOff val="1439"/>
                <a:lumOff val="-627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Literature Survey</a:t>
          </a:r>
          <a:endParaRPr lang="en-IN" sz="1600" b="0" strike="noStrike" kern="1200" baseline="0" dirty="0">
            <a:latin typeface="Times New Roman" panose="02020603050405020304" pitchFamily="18" charset="0"/>
            <a:cs typeface="Times New Roman" panose="02020603050405020304" pitchFamily="18" charset="0"/>
          </a:endParaRPr>
        </a:p>
      </dsp:txBody>
      <dsp:txXfrm>
        <a:off x="23760" y="2318999"/>
        <a:ext cx="8182080" cy="439200"/>
      </dsp:txXfrm>
    </dsp:sp>
    <dsp:sp modelId="{A96DAACA-F17E-47F0-B672-F8211FEB47AC}">
      <dsp:nvSpPr>
        <dsp:cNvPr id="0" name=""/>
        <dsp:cNvSpPr/>
      </dsp:nvSpPr>
      <dsp:spPr>
        <a:xfrm>
          <a:off x="0" y="2856839"/>
          <a:ext cx="8229600" cy="486720"/>
        </a:xfrm>
        <a:prstGeom prst="roundRect">
          <a:avLst/>
        </a:prstGeom>
        <a:gradFill rotWithShape="0">
          <a:gsLst>
            <a:gs pos="0">
              <a:schemeClr val="accent3">
                <a:hueOff val="-5377479"/>
                <a:satOff val="1799"/>
                <a:lumOff val="-7843"/>
                <a:alphaOff val="0"/>
                <a:tint val="50000"/>
                <a:satMod val="300000"/>
              </a:schemeClr>
            </a:gs>
            <a:gs pos="35000">
              <a:schemeClr val="accent3">
                <a:hueOff val="-5377479"/>
                <a:satOff val="1799"/>
                <a:lumOff val="-7843"/>
                <a:alphaOff val="0"/>
                <a:tint val="37000"/>
                <a:satMod val="300000"/>
              </a:schemeClr>
            </a:gs>
            <a:gs pos="100000">
              <a:schemeClr val="accent3">
                <a:hueOff val="-5377479"/>
                <a:satOff val="1799"/>
                <a:lumOff val="-784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Research Gap</a:t>
          </a:r>
          <a:endParaRPr lang="en-IN" sz="1600" b="0" strike="noStrike" kern="1200" baseline="0" dirty="0">
            <a:latin typeface="Times New Roman" panose="02020603050405020304" pitchFamily="18" charset="0"/>
            <a:cs typeface="Times New Roman" panose="02020603050405020304" pitchFamily="18" charset="0"/>
          </a:endParaRPr>
        </a:p>
      </dsp:txBody>
      <dsp:txXfrm>
        <a:off x="23760" y="2880599"/>
        <a:ext cx="8182080" cy="439200"/>
      </dsp:txXfrm>
    </dsp:sp>
    <dsp:sp modelId="{6885AA65-2AA3-46B5-A084-7E7DD856A146}">
      <dsp:nvSpPr>
        <dsp:cNvPr id="0" name=""/>
        <dsp:cNvSpPr/>
      </dsp:nvSpPr>
      <dsp:spPr>
        <a:xfrm>
          <a:off x="0" y="3418439"/>
          <a:ext cx="8229600" cy="486720"/>
        </a:xfrm>
        <a:prstGeom prst="roundRect">
          <a:avLst/>
        </a:prstGeom>
        <a:gradFill rotWithShape="0">
          <a:gsLst>
            <a:gs pos="0">
              <a:schemeClr val="accent3">
                <a:hueOff val="-6452975"/>
                <a:satOff val="2159"/>
                <a:lumOff val="-9412"/>
                <a:alphaOff val="0"/>
                <a:tint val="50000"/>
                <a:satMod val="300000"/>
              </a:schemeClr>
            </a:gs>
            <a:gs pos="35000">
              <a:schemeClr val="accent3">
                <a:hueOff val="-6452975"/>
                <a:satOff val="2159"/>
                <a:lumOff val="-9412"/>
                <a:alphaOff val="0"/>
                <a:tint val="37000"/>
                <a:satMod val="300000"/>
              </a:schemeClr>
            </a:gs>
            <a:gs pos="100000">
              <a:schemeClr val="accent3">
                <a:hueOff val="-6452975"/>
                <a:satOff val="2159"/>
                <a:lumOff val="-941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Problem Statement</a:t>
          </a:r>
          <a:endParaRPr lang="en-IN" sz="1600" b="0" strike="noStrike" kern="1200" baseline="0" dirty="0">
            <a:latin typeface="Times New Roman" panose="02020603050405020304" pitchFamily="18" charset="0"/>
            <a:cs typeface="Times New Roman" panose="02020603050405020304" pitchFamily="18" charset="0"/>
          </a:endParaRPr>
        </a:p>
      </dsp:txBody>
      <dsp:txXfrm>
        <a:off x="23760" y="3442199"/>
        <a:ext cx="8182080" cy="439200"/>
      </dsp:txXfrm>
    </dsp:sp>
    <dsp:sp modelId="{FA3189F3-6CE2-4CA8-9D73-CCF3A091FC32}">
      <dsp:nvSpPr>
        <dsp:cNvPr id="0" name=""/>
        <dsp:cNvSpPr/>
      </dsp:nvSpPr>
      <dsp:spPr>
        <a:xfrm>
          <a:off x="0" y="3980039"/>
          <a:ext cx="8229600" cy="486720"/>
        </a:xfrm>
        <a:prstGeom prst="roundRect">
          <a:avLst/>
        </a:prstGeom>
        <a:gradFill rotWithShape="0">
          <a:gsLst>
            <a:gs pos="0">
              <a:schemeClr val="accent3">
                <a:hueOff val="-7528471"/>
                <a:satOff val="2518"/>
                <a:lumOff val="-10981"/>
                <a:alphaOff val="0"/>
                <a:tint val="50000"/>
                <a:satMod val="300000"/>
              </a:schemeClr>
            </a:gs>
            <a:gs pos="35000">
              <a:schemeClr val="accent3">
                <a:hueOff val="-7528471"/>
                <a:satOff val="2518"/>
                <a:lumOff val="-10981"/>
                <a:alphaOff val="0"/>
                <a:tint val="37000"/>
                <a:satMod val="300000"/>
              </a:schemeClr>
            </a:gs>
            <a:gs pos="100000">
              <a:schemeClr val="accent3">
                <a:hueOff val="-7528471"/>
                <a:satOff val="2518"/>
                <a:lumOff val="-10981"/>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Proposed Methodology </a:t>
          </a:r>
          <a:endParaRPr lang="en-IN" sz="1600" b="0" strike="noStrike" kern="1200" baseline="0" dirty="0">
            <a:latin typeface="Times New Roman" panose="02020603050405020304" pitchFamily="18" charset="0"/>
            <a:cs typeface="Times New Roman" panose="02020603050405020304" pitchFamily="18" charset="0"/>
          </a:endParaRPr>
        </a:p>
      </dsp:txBody>
      <dsp:txXfrm>
        <a:off x="23760" y="4003799"/>
        <a:ext cx="8182080" cy="439200"/>
      </dsp:txXfrm>
    </dsp:sp>
    <dsp:sp modelId="{ACD9FB09-745B-43A9-A14D-18BE8D6CE92F}">
      <dsp:nvSpPr>
        <dsp:cNvPr id="0" name=""/>
        <dsp:cNvSpPr/>
      </dsp:nvSpPr>
      <dsp:spPr>
        <a:xfrm>
          <a:off x="0" y="4541639"/>
          <a:ext cx="8229600" cy="486720"/>
        </a:xfrm>
        <a:prstGeom prst="roundRect">
          <a:avLst/>
        </a:prstGeom>
        <a:gradFill rotWithShape="0">
          <a:gsLst>
            <a:gs pos="0">
              <a:schemeClr val="accent3">
                <a:hueOff val="-8603967"/>
                <a:satOff val="2878"/>
                <a:lumOff val="-12549"/>
                <a:alphaOff val="0"/>
                <a:tint val="50000"/>
                <a:satMod val="300000"/>
              </a:schemeClr>
            </a:gs>
            <a:gs pos="35000">
              <a:schemeClr val="accent3">
                <a:hueOff val="-8603967"/>
                <a:satOff val="2878"/>
                <a:lumOff val="-12549"/>
                <a:alphaOff val="0"/>
                <a:tint val="37000"/>
                <a:satMod val="300000"/>
              </a:schemeClr>
            </a:gs>
            <a:gs pos="100000">
              <a:schemeClr val="accent3">
                <a:hueOff val="-8603967"/>
                <a:satOff val="2878"/>
                <a:lumOff val="-1254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b="0" strike="noStrike" kern="1200" baseline="0" dirty="0">
              <a:latin typeface="Times New Roman" panose="02020603050405020304" pitchFamily="18" charset="0"/>
              <a:cs typeface="Times New Roman" panose="02020603050405020304" pitchFamily="18" charset="0"/>
            </a:rPr>
            <a:t>Result and Discussion on Outcome (Conference Paper/ Patent/ Copyrights)</a:t>
          </a:r>
        </a:p>
      </dsp:txBody>
      <dsp:txXfrm>
        <a:off x="23760" y="4565399"/>
        <a:ext cx="8182080" cy="439200"/>
      </dsp:txXfrm>
    </dsp:sp>
    <dsp:sp modelId="{1B872D9D-FE3C-49B3-9DAD-AF5052A20FFE}">
      <dsp:nvSpPr>
        <dsp:cNvPr id="0" name=""/>
        <dsp:cNvSpPr/>
      </dsp:nvSpPr>
      <dsp:spPr>
        <a:xfrm>
          <a:off x="0" y="5103240"/>
          <a:ext cx="8229600" cy="486720"/>
        </a:xfrm>
        <a:prstGeom prst="roundRect">
          <a:avLst/>
        </a:prstGeom>
        <a:gradFill rotWithShape="0">
          <a:gsLst>
            <a:gs pos="0">
              <a:schemeClr val="accent3">
                <a:hueOff val="-9679462"/>
                <a:satOff val="3238"/>
                <a:lumOff val="-14118"/>
                <a:alphaOff val="0"/>
                <a:tint val="50000"/>
                <a:satMod val="300000"/>
              </a:schemeClr>
            </a:gs>
            <a:gs pos="35000">
              <a:schemeClr val="accent3">
                <a:hueOff val="-9679462"/>
                <a:satOff val="3238"/>
                <a:lumOff val="-14118"/>
                <a:alphaOff val="0"/>
                <a:tint val="37000"/>
                <a:satMod val="300000"/>
              </a:schemeClr>
            </a:gs>
            <a:gs pos="100000">
              <a:schemeClr val="accent3">
                <a:hueOff val="-9679462"/>
                <a:satOff val="3238"/>
                <a:lumOff val="-1411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Bookman Old Style" panose="02050604050505020204" pitchFamily="18" charset="0"/>
            </a:rPr>
            <a:t>References</a:t>
          </a:r>
          <a:endParaRPr lang="en-IN" sz="1600" b="0" strike="noStrike" kern="1200" baseline="0" dirty="0">
            <a:latin typeface="Times New Roman" panose="02020603050405020304" pitchFamily="18" charset="0"/>
            <a:cs typeface="Times New Roman" panose="02020603050405020304" pitchFamily="18" charset="0"/>
          </a:endParaRPr>
        </a:p>
      </dsp:txBody>
      <dsp:txXfrm>
        <a:off x="23760" y="5127000"/>
        <a:ext cx="8182080" cy="4392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19"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820"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BD592F5-36E2-49C4-AC5A-04F2CF94D6D4}" type="datetimeFigureOut">
              <a:rPr lang="en-US" smtClean="0"/>
              <a:pPr/>
              <a:t>10/1/2026</a:t>
            </a:fld>
            <a:endParaRPr lang="en-US"/>
          </a:p>
        </p:txBody>
      </p:sp>
      <p:sp>
        <p:nvSpPr>
          <p:cNvPr id="1048821"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822"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824"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D09CA17-6F94-48C9-A51D-7CB0D00B15D3}" type="slidenum">
              <a:rPr lang="en-US" smtClean="0"/>
              <a:pPr/>
              <a:t>‹#›</a:t>
            </a:fld>
            <a:endParaRPr lang="en-US"/>
          </a:p>
        </p:txBody>
      </p:sp>
    </p:spTree>
    <p:extLst>
      <p:ext uri="{BB962C8B-B14F-4D97-AF65-F5344CB8AC3E}">
        <p14:creationId xmlns:p14="http://schemas.microsoft.com/office/powerpoint/2010/main" val="3108571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Introduce the team and the guide. One line on the project: a system that tells a farmer which crop to grow from a soil test and the weather, explains why, and suggests a fertilizer. Replace the bracketed names before presenting.</a:t>
            </a:r>
          </a:p>
        </p:txBody>
      </p:sp>
    </p:spTree>
    <p:extLst>
      <p:ext uri="{BB962C8B-B14F-4D97-AF65-F5344CB8AC3E}">
        <p14:creationId xmlns:p14="http://schemas.microsoft.com/office/powerpoint/2010/main" val="25690034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Slide Image Placeholder 1"/>
          <p:cNvSpPr>
            <a:spLocks noGrp="1" noRot="1" noChangeAspect="1"/>
          </p:cNvSpPr>
          <p:nvPr>
            <p:ph type="sldImg"/>
          </p:nvPr>
        </p:nvSpPr>
        <p:spPr/>
      </p:sp>
      <p:sp>
        <p:nvSpPr>
          <p:cNvPr id="1048594" name="Notes Placeholder 2"/>
          <p:cNvSpPr>
            <a:spLocks noGrp="1"/>
          </p:cNvSpPr>
          <p:nvPr>
            <p:ph type="body" idx="1"/>
          </p:nvPr>
        </p:nvSpPr>
        <p:spPr/>
        <p:txBody>
          <a:bodyPr>
            <a:normAutofit/>
          </a:bodyPr>
          <a:lstStyle/>
          <a:p>
            <a:r>
              <a:t>The talk follows the department outline: abstract, introduction, motivation, objective, literature survey, research gap, problem statement, proposed methodology, results and outcome, and references.</a:t>
            </a:r>
          </a:p>
        </p:txBody>
      </p:sp>
      <p:sp>
        <p:nvSpPr>
          <p:cNvPr id="1048595"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D25A-8417-4FAA-8603-F6EFFE7FCD8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51086939"/>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the whole project in one minute: the problem, what we built, the main numbers. Crop model: Random Forest and Naive Bayes both 99.55% on 440 unseen samples. Fertilizer model: XGBoost 97.69%. Explanations: humidity and rainfall matter most.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a crop is the first decision of every season. A soil test gives N, P, K and pH, and the weather gives temperature, humidity and rainfall. Machine learning can learn which crop suits such a field. The diagram is the whole system: the farmer's input goes to the crop model, which gives the top 3 crops; then the explanation and the fertilizer advice.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reasons for the project. Farmers often decide by habit. The data needed for a better decision exists but is hard to use. And a recommendation with no reason is hard to trust; the next question is always which fertilizer to use.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objectives. Read them in order; each one maps to a part of the results later.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Earlier work falls into three groups: reviews of machine learning in agriculture, crop recommenders, and methods for explaining models. Harvestify is the open-source project our crop dataset comes from.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gap in earlier work, the right column says what our project does about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statement, then walk through the strip: seven inputs go in, three kinds of output come out.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steps, in the order of the numbers: data, pre-processing, training, testing, explanation, fertilizer advice. The next slides go through each step.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public datasets. The crop dataset trains the crop model, the fertilizer dataset trains the fertilizer model, and the nutrient table drives the nutrient-gap rule. Links: paper/DATASETS.md.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correlation between the seven inputs; only P and K move together. Right: average N, P, K per crop; apple and grapes need far more P and K, cotton the most N. Then the split: 80% for training, 20% for testing, 20 test samples per crop.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algorithms from the main families. KNN works by proximity: it votes among the five most similar training samples. Random Forest, XGBoost, LightGBM and AdaBoost combine many trees. AdaBoost is tested in two forms because the setting matters a lot.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how the explanations are made. Right: the two parts of the fertilizer module, the ML model and the nutrient-gap rule.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accuracy is on the 440 samples the models never saw. Random Forest and Naive Bayes tie at 99.55%, 2 mistakes each. The top five are within three test samples. AdaBoost with default settings is the one failure, explained two slides later.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alone cannot separate the top models, so we chose on four other points. Naive Bayes is an equally accurate backup, but it cannot be explained exactly.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default AdaBoost uses stumps, trees with one split. One split can only divide 22 crops into two groups, so boosting adds very little. With depth-3 trees the same algorithm reaches 99.32%. A low AdaBoost score here is a setting problem, not a boosting problem.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are the true crop, columns the predicted crop. Only two mistakes, both between crops that really are similar in the data.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Overfitting means high training accuracy and much lower test accuracy. Here the gap is under one point for most models, and the depth curve shows training and test rising together. With shuffled labels the model drops to chance.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test samples treated as six farmers. All six first choices are right. For F2 the model is less sure, so the second and third choices matter.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 over all test samples: humidity and rainfall matter most, then K, N and P. The right panel shows the deciding input changes by crop, for example nitrogen for cotton and phosphorus for apple and grapes.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 and LIME for one farmer. Both put humidity first. They do not agree on every detail, so the system shows only the top two or three reasons.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algorithms on the fertilizer data. With only 99 rows we averaged 50 tests. XGBoost is best at 97.69%. KNN and Naive Bayes are weak.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Permutation importance: shuffle one input and see how much accuracy drops. Only phosphorus, nitrogen and potassium matter. That makes sense: a fertilizer supplies what the soil lacks.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compares the farmer's soil with what the crop needs. For the recommended crop the gaps are small; for a second-choice crop they are bigger. F3 is short of nitrogen, so the advice is urea.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outcome is the conference paper. A patent does not apply because software and algorithms are excluded in India. Copyright covers our code, paper and report automatically. Fill in the paper's submission status.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findings on the left, four next steps on the right. The most important next step is testing on real Soil Health Card data.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in IEEE style, numbered as cited on the slides.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in IEEE style, numbered as cited on the slides.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and invite questions. Likely questions: is 99.5% overfitting (slide on overfitting), why Random Forest, why AdaBoost failed, and whether it works on real farms (future scope).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803"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804"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805" name="Date Placeholder 3"/>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806" name="Footer Placeholder 4"/>
          <p:cNvSpPr>
            <a:spLocks noGrp="1"/>
          </p:cNvSpPr>
          <p:nvPr>
            <p:ph type="ftr" sz="quarter" idx="11"/>
          </p:nvPr>
        </p:nvSpPr>
        <p:spPr/>
        <p:txBody>
          <a:bodyPr/>
          <a:lstStyle/>
          <a:p>
            <a:endParaRPr lang="en-US"/>
          </a:p>
        </p:txBody>
      </p:sp>
      <p:sp>
        <p:nvSpPr>
          <p:cNvPr id="1048807" name="Slide Number Placeholder 5"/>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8" name="Title 1"/>
          <p:cNvSpPr>
            <a:spLocks noGrp="1"/>
          </p:cNvSpPr>
          <p:nvPr>
            <p:ph type="title"/>
          </p:nvPr>
        </p:nvSpPr>
        <p:spPr/>
        <p:txBody>
          <a:bodyPr/>
          <a:lstStyle/>
          <a:p>
            <a:r>
              <a:rPr lang="en-US"/>
              <a:t>Click to edit Master title style</a:t>
            </a:r>
          </a:p>
        </p:txBody>
      </p:sp>
      <p:sp>
        <p:nvSpPr>
          <p:cNvPr id="1048589"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0" name="Date Placeholder 3"/>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591" name="Footer Placeholder 4"/>
          <p:cNvSpPr>
            <a:spLocks noGrp="1"/>
          </p:cNvSpPr>
          <p:nvPr>
            <p:ph type="ftr" sz="quarter" idx="11"/>
          </p:nvPr>
        </p:nvSpPr>
        <p:spPr/>
        <p:txBody>
          <a:bodyPr/>
          <a:lstStyle/>
          <a:p>
            <a:endParaRPr lang="en-US"/>
          </a:p>
        </p:txBody>
      </p:sp>
      <p:sp>
        <p:nvSpPr>
          <p:cNvPr id="1048592" name="Slide Number Placeholder 5"/>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86"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787"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8" name="Date Placeholder 3"/>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789" name="Footer Placeholder 4"/>
          <p:cNvSpPr>
            <a:spLocks noGrp="1"/>
          </p:cNvSpPr>
          <p:nvPr>
            <p:ph type="ftr" sz="quarter" idx="11"/>
          </p:nvPr>
        </p:nvSpPr>
        <p:spPr/>
        <p:txBody>
          <a:bodyPr/>
          <a:lstStyle/>
          <a:p>
            <a:endParaRPr lang="en-US"/>
          </a:p>
        </p:txBody>
      </p:sp>
      <p:sp>
        <p:nvSpPr>
          <p:cNvPr id="1048790" name="Slide Number Placeholder 5"/>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97" name="Title 1"/>
          <p:cNvSpPr>
            <a:spLocks noGrp="1"/>
          </p:cNvSpPr>
          <p:nvPr>
            <p:ph type="title"/>
          </p:nvPr>
        </p:nvSpPr>
        <p:spPr/>
        <p:txBody>
          <a:bodyPr/>
          <a:lstStyle/>
          <a:p>
            <a:r>
              <a:rPr lang="en-US"/>
              <a:t>Click to edit Master title style</a:t>
            </a:r>
          </a:p>
        </p:txBody>
      </p:sp>
      <p:sp>
        <p:nvSpPr>
          <p:cNvPr id="1048798"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9"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0" name="Date Placeholder 4"/>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801" name="Footer Placeholder 5"/>
          <p:cNvSpPr>
            <a:spLocks noGrp="1"/>
          </p:cNvSpPr>
          <p:nvPr>
            <p:ph type="ftr" sz="quarter" idx="11"/>
          </p:nvPr>
        </p:nvSpPr>
        <p:spPr/>
        <p:txBody>
          <a:bodyPr/>
          <a:lstStyle/>
          <a:p>
            <a:endParaRPr lang="en-US"/>
          </a:p>
        </p:txBody>
      </p:sp>
      <p:sp>
        <p:nvSpPr>
          <p:cNvPr id="1048802" name="Slide Number Placeholder 6"/>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73" name="Title 1"/>
          <p:cNvSpPr>
            <a:spLocks noGrp="1"/>
          </p:cNvSpPr>
          <p:nvPr>
            <p:ph type="title"/>
          </p:nvPr>
        </p:nvSpPr>
        <p:spPr/>
        <p:txBody>
          <a:bodyPr/>
          <a:lstStyle/>
          <a:p>
            <a:r>
              <a:rPr lang="en-US"/>
              <a:t>Click to edit Master title style</a:t>
            </a:r>
          </a:p>
        </p:txBody>
      </p:sp>
      <p:sp>
        <p:nvSpPr>
          <p:cNvPr id="1048774"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75"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6"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77"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8" name="Date Placeholder 6"/>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779" name="Footer Placeholder 7"/>
          <p:cNvSpPr>
            <a:spLocks noGrp="1"/>
          </p:cNvSpPr>
          <p:nvPr>
            <p:ph type="ftr" sz="quarter" idx="11"/>
          </p:nvPr>
        </p:nvSpPr>
        <p:spPr/>
        <p:txBody>
          <a:bodyPr/>
          <a:lstStyle/>
          <a:p>
            <a:endParaRPr lang="en-US"/>
          </a:p>
        </p:txBody>
      </p:sp>
      <p:sp>
        <p:nvSpPr>
          <p:cNvPr id="1048780" name="Slide Number Placeholder 8"/>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p>
        </p:txBody>
      </p:sp>
      <p:sp>
        <p:nvSpPr>
          <p:cNvPr id="1048582" name="Date Placeholder 2"/>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583" name="Footer Placeholder 3"/>
          <p:cNvSpPr>
            <a:spLocks noGrp="1"/>
          </p:cNvSpPr>
          <p:nvPr>
            <p:ph type="ftr" sz="quarter" idx="11"/>
          </p:nvPr>
        </p:nvSpPr>
        <p:spPr/>
        <p:txBody>
          <a:bodyPr/>
          <a:lstStyle/>
          <a:p>
            <a:endParaRPr lang="en-US"/>
          </a:p>
        </p:txBody>
      </p:sp>
      <p:sp>
        <p:nvSpPr>
          <p:cNvPr id="1048584" name="Slide Number Placeholder 4"/>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06" name="Date Placeholder 1"/>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707" name="Footer Placeholder 2"/>
          <p:cNvSpPr>
            <a:spLocks noGrp="1"/>
          </p:cNvSpPr>
          <p:nvPr>
            <p:ph type="ftr" sz="quarter" idx="11"/>
          </p:nvPr>
        </p:nvSpPr>
        <p:spPr/>
        <p:txBody>
          <a:bodyPr/>
          <a:lstStyle/>
          <a:p>
            <a:endParaRPr lang="en-US"/>
          </a:p>
        </p:txBody>
      </p:sp>
      <p:sp>
        <p:nvSpPr>
          <p:cNvPr id="1048708" name="Slide Number Placeholder 3"/>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91"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792"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3"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94" name="Date Placeholder 4"/>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795" name="Footer Placeholder 5"/>
          <p:cNvSpPr>
            <a:spLocks noGrp="1"/>
          </p:cNvSpPr>
          <p:nvPr>
            <p:ph type="ftr" sz="quarter" idx="11"/>
          </p:nvPr>
        </p:nvSpPr>
        <p:spPr/>
        <p:txBody>
          <a:bodyPr/>
          <a:lstStyle/>
          <a:p>
            <a:endParaRPr lang="en-US"/>
          </a:p>
        </p:txBody>
      </p:sp>
      <p:sp>
        <p:nvSpPr>
          <p:cNvPr id="1048796" name="Slide Number Placeholder 6"/>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808"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809"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10"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811" name="Date Placeholder 4"/>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812" name="Footer Placeholder 5"/>
          <p:cNvSpPr>
            <a:spLocks noGrp="1"/>
          </p:cNvSpPr>
          <p:nvPr>
            <p:ph type="ftr" sz="quarter" idx="11"/>
          </p:nvPr>
        </p:nvSpPr>
        <p:spPr/>
        <p:txBody>
          <a:bodyPr/>
          <a:lstStyle/>
          <a:p>
            <a:endParaRPr lang="en-US"/>
          </a:p>
        </p:txBody>
      </p:sp>
      <p:sp>
        <p:nvSpPr>
          <p:cNvPr id="1048813" name="Slide Number Placeholder 6"/>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814" name="Title 1"/>
          <p:cNvSpPr>
            <a:spLocks noGrp="1"/>
          </p:cNvSpPr>
          <p:nvPr>
            <p:ph type="title"/>
          </p:nvPr>
        </p:nvSpPr>
        <p:spPr/>
        <p:txBody>
          <a:bodyPr/>
          <a:lstStyle/>
          <a:p>
            <a:r>
              <a:rPr lang="en-US"/>
              <a:t>Click to edit Master title style</a:t>
            </a:r>
          </a:p>
        </p:txBody>
      </p:sp>
      <p:sp>
        <p:nvSpPr>
          <p:cNvPr id="1048815"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6" name="Date Placeholder 3"/>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817" name="Footer Placeholder 4"/>
          <p:cNvSpPr>
            <a:spLocks noGrp="1"/>
          </p:cNvSpPr>
          <p:nvPr>
            <p:ph type="ftr" sz="quarter" idx="11"/>
          </p:nvPr>
        </p:nvSpPr>
        <p:spPr/>
        <p:txBody>
          <a:bodyPr/>
          <a:lstStyle/>
          <a:p>
            <a:endParaRPr lang="en-US"/>
          </a:p>
        </p:txBody>
      </p:sp>
      <p:sp>
        <p:nvSpPr>
          <p:cNvPr id="1048818" name="Slide Number Placeholder 5"/>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81"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782"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3" name="Date Placeholder 3"/>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784" name="Footer Placeholder 4"/>
          <p:cNvSpPr>
            <a:spLocks noGrp="1"/>
          </p:cNvSpPr>
          <p:nvPr>
            <p:ph type="ftr" sz="quarter" idx="11"/>
          </p:nvPr>
        </p:nvSpPr>
        <p:spPr/>
        <p:txBody>
          <a:bodyPr/>
          <a:lstStyle/>
          <a:p>
            <a:endParaRPr lang="en-US"/>
          </a:p>
        </p:txBody>
      </p:sp>
      <p:sp>
        <p:nvSpPr>
          <p:cNvPr id="1048785" name="Slide Number Placeholder 5"/>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C59881-54BE-46AD-B095-242DAEA9C01C}" type="datetimeFigureOut">
              <a:rPr lang="en-US" smtClean="0"/>
              <a:pPr/>
              <a:t>10/1/2026</a:t>
            </a:fld>
            <a:endParaRPr lang="en-US"/>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D3D9D9-2323-4B14-959B-DD5C508B8A7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eg"/><Relationship Id="rId4" Type="http://schemas.openxmlformats.org/officeDocument/2006/relationships/diagramData" Target="../diagrams/data1.xml"/><Relationship Id="rId5" Type="http://schemas.openxmlformats.org/officeDocument/2006/relationships/diagramLayout" Target="../diagrams/layout1.xml"/><Relationship Id="rId6" Type="http://schemas.openxmlformats.org/officeDocument/2006/relationships/diagramQuickStyle" Target="../diagrams/quickStyle1.xml"/><Relationship Id="rId7" Type="http://schemas.openxmlformats.org/officeDocument/2006/relationships/diagramColors" Target="../diagrams/colors1.xml"/><Relationship Id="rId8" Type="http://schemas.microsoft.com/office/2007/relationships/diagramDrawing" Target="../diagrams/drawing1.xml"/><Relationship Id="rId9" Type="http://schemas.openxmlformats.org/officeDocument/2006/relationships/diagramData" Target="../diagrams/data2.xml"/><Relationship Id="rId10" Type="http://schemas.openxmlformats.org/officeDocument/2006/relationships/diagramLayout" Target="../diagrams/layout2.xml"/><Relationship Id="rId11" Type="http://schemas.openxmlformats.org/officeDocument/2006/relationships/diagramQuickStyle" Target="../diagrams/quickStyle2.xml"/><Relationship Id="rId12" Type="http://schemas.openxmlformats.org/officeDocument/2006/relationships/diagramColors" Target="../diagrams/colors2.xml"/><Relationship Id="rId13" Type="http://schemas.microsoft.com/office/2007/relationships/diagramDrawing" Target="../diagrams/drawin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1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16.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18.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19.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21.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22.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24.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26.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050" name="Title 1"/>
          <p:cNvSpPr>
            <a:spLocks noGrp="1"/>
          </p:cNvSpPr>
          <p:nvPr>
            <p:ph type="title"/>
          </p:nvPr>
        </p:nvSpPr>
        <p:spPr/>
        <p:txBody>
          <a:bodyPr>
            <a:normAutofit fontScale="90000"/>
          </a:bodyPr>
          <a:lstStyle/>
          <a:p>
            <a:pPr algn="ctr"/>
            <a:r>
              <a:rPr lang="en-US" sz="3100" b="1" dirty="0">
                <a:latin typeface="Times New Roman" pitchFamily="18" charset="0"/>
                <a:cs typeface="Times New Roman" pitchFamily="18" charset="0"/>
              </a:rPr>
              <a:t>Manipal University Jaipur</a:t>
            </a:r>
            <a:br>
              <a:rPr lang="en-US" sz="2400" b="1" dirty="0">
                <a:latin typeface="Times New Roman" pitchFamily="18" charset="0"/>
                <a:cs typeface="Times New Roman" pitchFamily="18" charset="0"/>
              </a:rPr>
            </a:br>
            <a:r>
              <a:rPr lang="en-US" sz="2400" b="1" dirty="0">
                <a:latin typeface="Times New Roman" pitchFamily="18" charset="0"/>
                <a:cs typeface="Times New Roman" pitchFamily="18" charset="0"/>
              </a:rPr>
              <a:t>School of Computer Science and Engineering</a:t>
            </a:r>
            <a:br>
              <a:rPr lang="en-US" sz="2400" b="1" dirty="0">
                <a:latin typeface="Times New Roman" pitchFamily="18" charset="0"/>
                <a:cs typeface="Times New Roman" pitchFamily="18" charset="0"/>
              </a:rPr>
            </a:br>
            <a:r>
              <a:rPr lang="en-US" sz="2400" b="1" dirty="0">
                <a:latin typeface="Times New Roman" pitchFamily="18" charset="0"/>
                <a:cs typeface="Times New Roman" pitchFamily="18" charset="0"/>
              </a:rPr>
              <a:t>Department of Computer Science and Engineering</a:t>
            </a:r>
          </a:p>
        </p:txBody>
      </p:sp>
      <p:sp>
        <p:nvSpPr>
          <p:cNvPr id="2052" name="Rectangle 4"/>
          <p:cNvSpPr>
            <a:spLocks noChangeArrowheads="1"/>
          </p:cNvSpPr>
          <p:nvPr/>
        </p:nvSpPr>
        <p:spPr bwMode="auto">
          <a:xfrm>
            <a:off x="-10886" y="2821909"/>
            <a:ext cx="9144000" cy="1034129"/>
          </a:xfrm>
          <a:prstGeom prst="rect">
            <a:avLst/>
          </a:prstGeom>
          <a:noFill/>
          <a:ln w="9525">
            <a:noFill/>
            <a:miter lim="800000"/>
            <a:headEnd/>
            <a:tailEnd/>
          </a:ln>
        </p:spPr>
        <p:txBody>
          <a:bodyPr wrap="square">
            <a:spAutoFit/>
          </a:bodyPr>
          <a:lstStyle/>
          <a:p>
            <a:pPr marL="447675" indent="-447675" algn="ctr">
              <a:spcBef>
                <a:spcPct val="20000"/>
              </a:spcBef>
              <a:buClr>
                <a:schemeClr val="accent1"/>
              </a:buClr>
              <a:buFont typeface="Wingdings" pitchFamily="2" charset="2"/>
              <a:buNone/>
            </a:pPr>
            <a:r>
              <a:rPr lang="en-US" b="1" dirty="0">
                <a:solidFill>
                  <a:schemeClr val="tx2">
                    <a:lumMod val="50000"/>
                  </a:schemeClr>
                </a:solidFill>
                <a:latin typeface="Bookman Old Style" pitchFamily="18" charset="0"/>
              </a:rPr>
              <a:t>DSE3170 Project Based Learning-3 Presentation</a:t>
            </a:r>
          </a:p>
          <a:p>
            <a:pPr marL="447675" indent="-447675" algn="ctr">
              <a:spcBef>
                <a:spcPct val="20000"/>
              </a:spcBef>
              <a:buClr>
                <a:schemeClr val="accent1"/>
              </a:buClr>
              <a:buFont typeface="Wingdings" pitchFamily="2" charset="2"/>
              <a:buNone/>
            </a:pPr>
            <a:r>
              <a:rPr lang="en-US" b="1" dirty="0">
                <a:solidFill>
                  <a:schemeClr val="tx2">
                    <a:lumMod val="50000"/>
                  </a:schemeClr>
                </a:solidFill>
                <a:latin typeface="Bookman Old Style" pitchFamily="18" charset="0"/>
              </a:rPr>
              <a:t>On</a:t>
            </a:r>
          </a:p>
          <a:p>
            <a:pPr marL="447675" indent="-447675" algn="ctr">
              <a:spcBef>
                <a:spcPct val="20000"/>
              </a:spcBef>
              <a:buClr>
                <a:schemeClr val="accent1"/>
              </a:buClr>
              <a:buFont typeface="Wingdings" pitchFamily="2" charset="2"/>
              <a:buNone/>
            </a:pPr>
            <a:r>
              <a:rPr lang="en-US" dirty="0">
                <a:latin typeface="Bookman Old Style" pitchFamily="18" charset="0"/>
              </a:rPr>
              <a:t> </a:t>
            </a:r>
            <a:endParaRPr lang="en-US" sz="3200" dirty="0">
              <a:latin typeface="Bookman Old Style" pitchFamily="18" charset="0"/>
            </a:endParaRPr>
          </a:p>
        </p:txBody>
      </p:sp>
      <p:sp>
        <p:nvSpPr>
          <p:cNvPr id="9" name="Rectangle 8"/>
          <p:cNvSpPr/>
          <p:nvPr/>
        </p:nvSpPr>
        <p:spPr>
          <a:xfrm>
            <a:off x="-10886" y="3636800"/>
            <a:ext cx="9144000" cy="523220"/>
          </a:xfrm>
          <a:prstGeom prst="rect">
            <a:avLst/>
          </a:prstGeom>
        </p:spPr>
        <p:txBody>
          <a:bodyPr wrap="square">
            <a:spAutoFit/>
          </a:bodyPr>
          <a:lstStyle/>
          <a:p>
            <a:pPr algn="ctr"/>
            <a:r>
              <a:rPr lang="en-IN" sz="2800" b="1" dirty="0">
                <a:solidFill>
                  <a:schemeClr val="tx2">
                    <a:lumMod val="50000"/>
                  </a:schemeClr>
                </a:solidFill>
                <a:latin typeface="Bookman Old Style" pitchFamily="18" charset="0"/>
              </a:rPr>
              <a:t>Crop Recommendation System</a:t>
            </a:r>
          </a:p>
          <a:p>
            <a:pPr algn="ctr"/>
            <a:r>
              <a:rPr lang="en-IN" sz="1600" b="0" dirty="0">
                <a:solidFill>
                  <a:schemeClr val="tx2">
                    <a:lumMod val="50000"/>
                  </a:schemeClr>
                </a:solidFill>
                <a:latin typeface="Bookman Old Style" pitchFamily="18" charset="0"/>
              </a:rPr>
              <a:t>Using Machine Learning, Explainable AI and Fertilizer Recommendation</a:t>
            </a:r>
          </a:p>
        </p:txBody>
      </p:sp>
      <p:sp>
        <p:nvSpPr>
          <p:cNvPr id="30722" name="AutoShape 2" descr="Image result for soit rgpv logo"/>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0724" name="AutoShape 4" descr="Image result for soit rgpv logo"/>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2" name="Table 1">
            <a:extLst>
              <a:ext uri="{FF2B5EF4-FFF2-40B4-BE49-F238E27FC236}">
                <a16:creationId xmlns:a16="http://schemas.microsoft.com/office/drawing/2014/main" id="{CD526A3A-00DA-DCF0-32C3-5C2F4C3AC757}"/>
              </a:ext>
            </a:extLst>
          </p:cNvPr>
          <p:cNvGraphicFramePr>
            <a:graphicFrameLocks noGrp="1"/>
          </p:cNvGraphicFramePr>
          <p:nvPr>
            <p:extLst>
              <p:ext uri="{D42A27DB-BD31-4B8C-83A1-F6EECF244321}">
                <p14:modId xmlns:p14="http://schemas.microsoft.com/office/powerpoint/2010/main" val="3046051251"/>
              </p:ext>
            </p:extLst>
          </p:nvPr>
        </p:nvGraphicFramePr>
        <p:xfrm>
          <a:off x="307975" y="5101816"/>
          <a:ext cx="8607425" cy="1380578"/>
        </p:xfrm>
        <a:graphic>
          <a:graphicData uri="http://schemas.openxmlformats.org/drawingml/2006/table">
            <a:tbl>
              <a:tblPr firstRow="1" bandRow="1">
                <a:tableStyleId>{2D5ABB26-0587-4C30-8999-92F81FD0307C}</a:tableStyleId>
              </a:tblPr>
              <a:tblGrid>
                <a:gridCol w="2795574">
                  <a:extLst>
                    <a:ext uri="{9D8B030D-6E8A-4147-A177-3AD203B41FA5}">
                      <a16:colId xmlns:a16="http://schemas.microsoft.com/office/drawing/2014/main" val="20000"/>
                    </a:ext>
                  </a:extLst>
                </a:gridCol>
                <a:gridCol w="2588172">
                  <a:extLst>
                    <a:ext uri="{9D8B030D-6E8A-4147-A177-3AD203B41FA5}">
                      <a16:colId xmlns:a16="http://schemas.microsoft.com/office/drawing/2014/main" val="20001"/>
                    </a:ext>
                  </a:extLst>
                </a:gridCol>
                <a:gridCol w="3223679">
                  <a:extLst>
                    <a:ext uri="{9D8B030D-6E8A-4147-A177-3AD203B41FA5}">
                      <a16:colId xmlns:a16="http://schemas.microsoft.com/office/drawing/2014/main" val="20002"/>
                    </a:ext>
                  </a:extLst>
                </a:gridCol>
              </a:tblGrid>
              <a:tr h="1380578">
                <a:tc>
                  <a:txBody>
                    <a:bodyPr/>
                    <a:lstStyle/>
                    <a:p>
                      <a:pPr algn="ctr"/>
                      <a:r>
                        <a:rPr lang="en-GB" b="1" dirty="0">
                          <a:effectLst>
                            <a:outerShdw blurRad="38100" dist="38100" dir="2700000" algn="tl">
                              <a:srgbClr val="000000">
                                <a:alpha val="43137"/>
                              </a:srgbClr>
                            </a:outerShdw>
                          </a:effectLst>
                          <a:latin typeface="Bookman Old Style" pitchFamily="18" charset="0"/>
                        </a:rPr>
                        <a:t>Presented by </a:t>
                      </a:r>
                    </a:p>
                    <a:p>
                      <a:pPr algn="l"/>
                      <a:r>
                        <a:rPr sz="1400" b="0" i="0">
                          <a:solidFill>
                            <a:srgbClr val="1F2A36"/>
                          </a:solidFill>
                          <a:latin typeface="Times New Roman"/>
                        </a:rPr>
                        <a:t>[Student 1 name] ([Reg. No.])</a:t>
                      </a:r>
                      <a:endParaRPr lang="en-US" dirty="0">
                        <a:solidFill>
                          <a:schemeClr val="bg1"/>
                        </a:solidFill>
                        <a:latin typeface="Bookman Old Style" pitchFamily="18" charset="0"/>
                      </a:endParaRPr>
                    </a:p>
                    <a:p>
                      <a:pPr algn="l"/>
                      <a:r>
                        <a:rPr sz="1400" b="0" i="0">
                          <a:solidFill>
                            <a:srgbClr val="1F2A36"/>
                          </a:solidFill>
                          <a:latin typeface="Times New Roman"/>
                        </a:rPr>
                        <a:t>[Student 2 name] ([Reg. No.])</a:t>
                      </a:r>
                    </a:p>
                    <a:p>
                      <a:pPr algn="l"/>
                      <a:r>
                        <a:rPr sz="1400" b="0" i="0">
                          <a:solidFill>
                            <a:srgbClr val="1F2A36"/>
                          </a:solidFill>
                          <a:latin typeface="Times New Roman"/>
                        </a:rPr>
                        <a:t>[Student 3 name] ([Reg. No.])</a:t>
                      </a:r>
                    </a:p>
                  </a:txBody>
                  <a:tcPr/>
                </a:tc>
                <a:tc>
                  <a:txBody>
                    <a:bodyPr/>
                    <a:lstStyle/>
                    <a:p>
                      <a:pPr algn="r"/>
                      <a:endParaRPr lang="en-US" sz="1800" b="0" i="0" kern="1200" dirty="0">
                        <a:solidFill>
                          <a:schemeClr val="tx1"/>
                        </a:solidFill>
                        <a:latin typeface="Times New Roman" pitchFamily="18" charset="0"/>
                        <a:ea typeface="+mn-ea"/>
                        <a:cs typeface="Times New Roman" pitchFamily="18" charset="0"/>
                      </a:endParaRPr>
                    </a:p>
                  </a:txBody>
                  <a:tcPr/>
                </a:tc>
                <a:tc>
                  <a:txBody>
                    <a:bodyPr/>
                    <a:lstStyle/>
                    <a:p>
                      <a:pPr algn="just"/>
                      <a:r>
                        <a:rPr 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Under the Guidance of</a:t>
                      </a:r>
                    </a:p>
                    <a:p>
                      <a:pPr algn="l"/>
                      <a:r>
                        <a:rPr sz="1400" b="0" i="0">
                          <a:solidFill>
                            <a:srgbClr val="1F2A36"/>
                          </a:solidFill>
                          <a:latin typeface="Times New Roman"/>
                        </a:rPr>
                        <a:t>[Guide name]</a:t>
                      </a:r>
                    </a:p>
                    <a:p>
                      <a:pPr algn="l"/>
                      <a:r>
                        <a:rPr sz="1400" b="0" i="0">
                          <a:solidFill>
                            <a:srgbClr val="1F2A36"/>
                          </a:solidFill>
                          <a:latin typeface="Times New Roman"/>
                        </a:rPr>
                        <a:t>[Designation]</a:t>
                      </a:r>
                    </a:p>
                    <a:p>
                      <a:pPr algn="l"/>
                      <a:r>
                        <a:rPr sz="1400" b="0" i="0">
                          <a:solidFill>
                            <a:srgbClr val="1F2A36"/>
                          </a:solidFill>
                          <a:latin typeface="Times New Roman"/>
                        </a:rPr>
                        <a:t>Dept. of Data Science and Engineering</a:t>
                      </a:r>
                    </a:p>
                  </a:txBody>
                  <a:tcPr/>
                </a:tc>
                <a:extLst>
                  <a:ext uri="{0D108BD9-81ED-4DB2-BD59-A6C34878D82A}">
                    <a16:rowId xmlns:a16="http://schemas.microsoft.com/office/drawing/2014/main" val="10000"/>
                  </a:ext>
                </a:extLst>
              </a:tr>
            </a:tbl>
          </a:graphicData>
        </a:graphic>
      </p:graphicFrame>
      <p:pic>
        <p:nvPicPr>
          <p:cNvPr id="4" name="Picture 3">
            <a:extLst>
              <a:ext uri="{FF2B5EF4-FFF2-40B4-BE49-F238E27FC236}">
                <a16:creationId xmlns:a16="http://schemas.microsoft.com/office/drawing/2014/main" id="{1814AFFA-6FB5-C0B9-7906-293F469DFB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60018" y="1426826"/>
            <a:ext cx="1223963" cy="1223963"/>
          </a:xfrm>
          <a:prstGeom prst="rect">
            <a:avLst/>
          </a:prstGeom>
        </p:spPr>
      </p:pic>
      <p:sp>
        <p:nvSpPr>
          <p:cNvPr id="5" name="Date Placeholder 4">
            <a:extLst>
              <a:ext uri="{FF2B5EF4-FFF2-40B4-BE49-F238E27FC236}">
                <a16:creationId xmlns:a16="http://schemas.microsoft.com/office/drawing/2014/main" id="{BDB6C62C-60CE-4889-8CA7-1827D66F6091}"/>
              </a:ext>
            </a:extLst>
          </p:cNvPr>
          <p:cNvSpPr>
            <a:spLocks noGrp="1"/>
          </p:cNvSpPr>
          <p:nvPr>
            <p:ph type="dt" sz="half" idx="10"/>
          </p:nvPr>
        </p:nvSpPr>
        <p:spPr/>
        <p:txBody>
          <a:bodyPr/>
          <a:lstStyle/>
          <a:p>
            <a:fld id="{AF6F4291-B061-48D0-859A-7E7E99C32DEE}" type="datetime1">
              <a:rPr lang="en-US" b="1" smtClean="0"/>
              <a:t>10/1/2026</a:t>
            </a:fld>
            <a:endParaRPr lang="en-US" b="1" dirty="0"/>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extLst>
      <p:ext uri="{BB962C8B-B14F-4D97-AF65-F5344CB8AC3E}">
        <p14:creationId xmlns:p14="http://schemas.microsoft.com/office/powerpoint/2010/main" val="405326414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graphicFrame>
        <p:nvGraphicFramePr>
          <p:cNvPr id="4194305" name="Diagram 4"/>
          <p:cNvGraphicFramePr>
            <a:graphicFrameLocks/>
          </p:cNvGraphicFramePr>
          <p:nvPr>
            <p:extLst>
              <p:ext uri="{D42A27DB-BD31-4B8C-83A1-F6EECF244321}">
                <p14:modId xmlns:p14="http://schemas.microsoft.com/office/powerpoint/2010/main" val="4157367672"/>
              </p:ext>
            </p:extLst>
          </p:nvPr>
        </p:nvGraphicFramePr>
        <p:xfrm>
          <a:off x="446314" y="122238"/>
          <a:ext cx="8229600" cy="86836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4194306" name="Content Placeholder 3"/>
          <p:cNvGraphicFramePr>
            <a:graphicFrameLocks noGrp="1"/>
          </p:cNvGraphicFramePr>
          <p:nvPr>
            <p:ph idx="1"/>
            <p:extLst>
              <p:ext uri="{D42A27DB-BD31-4B8C-83A1-F6EECF244321}">
                <p14:modId xmlns:p14="http://schemas.microsoft.com/office/powerpoint/2010/main" val="1040866723"/>
              </p:ext>
            </p:extLst>
          </p:nvPr>
        </p:nvGraphicFramePr>
        <p:xfrm>
          <a:off x="457200" y="990600"/>
          <a:ext cx="8229600" cy="563880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Abstract</a:t>
            </a:r>
          </a:p>
        </p:txBody>
      </p:sp>
      <p:sp>
        <p:nvSpPr>
          <p:cNvPr id="3" name="Rounded Rectangle 2"/>
          <p:cNvSpPr/>
          <p:nvPr/>
        </p:nvSpPr>
        <p:spPr>
          <a:xfrm>
            <a:off x="448056" y="1188720"/>
            <a:ext cx="8229600" cy="3429000"/>
          </a:xfrm>
          <a:prstGeom prst="roundRect">
            <a:avLst>
              <a:gd name="adj" fmla="val 12000"/>
            </a:avLst>
          </a:prstGeom>
          <a:gradFill rotWithShape="1">
            <a:gsLst>
              <a:gs pos="0">
                <a:srgbClr val="EDEBF6"/>
              </a:gs>
              <a:gs pos="100000">
                <a:srgbClr val="D1CCE3"/>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marL="201168" indent="-201168">
              <a:spcAft>
                <a:spcPts val="800"/>
              </a:spcAft>
              <a:buFont typeface="Arial"/>
              <a:buChar char="•"/>
            </a:pPr>
            <a:r>
              <a:rPr sz="1700" b="0" i="0">
                <a:solidFill>
                  <a:srgbClr val="1F2A36"/>
                </a:solidFill>
                <a:latin typeface="Times New Roman"/>
              </a:rPr>
              <a:t>Farmers often choose crops by habit. Soil tests and weather data are available, but turning them into a decision is hard.</a:t>
            </a:r>
          </a:p>
          <a:p>
            <a:pPr algn="l" marL="201168" indent="-201168">
              <a:spcAft>
                <a:spcPts val="800"/>
              </a:spcAft>
              <a:buFont typeface="Arial"/>
              <a:buChar char="•"/>
            </a:pPr>
            <a:r>
              <a:rPr sz="1700" b="0" i="0">
                <a:solidFill>
                  <a:srgbClr val="1F2A36"/>
                </a:solidFill>
                <a:latin typeface="Times New Roman"/>
              </a:rPr>
              <a:t>We built a system that recommends crops from 7 inputs (N, P, K, pH, temperature, humidity, rainfall), explains each recommendation and suggests a fertilizer.</a:t>
            </a:r>
          </a:p>
          <a:p>
            <a:pPr algn="l" marL="201168" indent="-201168">
              <a:spcAft>
                <a:spcPts val="800"/>
              </a:spcAft>
              <a:buFont typeface="Arial"/>
              <a:buChar char="•"/>
            </a:pPr>
            <a:r>
              <a:rPr sz="1700" b="0" i="0">
                <a:solidFill>
                  <a:srgbClr val="1F2A36"/>
                </a:solidFill>
                <a:latin typeface="Times New Roman"/>
              </a:rPr>
              <a:t>Ten machine learning algorithms were trained and tested on 2,200 samples of 22 crops. Random Forest and Naive Bayes were best: </a:t>
            </a:r>
            <a:r>
              <a:rPr sz="1700" b="1" i="0">
                <a:solidFill>
                  <a:srgbClr val="1F2A36"/>
                </a:solidFill>
                <a:latin typeface="Times New Roman"/>
              </a:rPr>
              <a:t>99.55%</a:t>
            </a:r>
            <a:r>
              <a:rPr sz="1700" b="0" i="0">
                <a:solidFill>
                  <a:srgbClr val="1F2A36"/>
                </a:solidFill>
                <a:latin typeface="Times New Roman"/>
              </a:rPr>
              <a:t> (438 of 440 test samples).</a:t>
            </a:r>
          </a:p>
          <a:p>
            <a:pPr algn="l" marL="201168" indent="-201168">
              <a:spcAft>
                <a:spcPts val="800"/>
              </a:spcAft>
              <a:buFont typeface="Arial"/>
              <a:buChar char="•"/>
            </a:pPr>
            <a:r>
              <a:rPr sz="1700" b="0" i="0">
                <a:solidFill>
                  <a:srgbClr val="1F2A36"/>
                </a:solidFill>
                <a:latin typeface="Times New Roman"/>
              </a:rPr>
              <a:t>SHAP and LIME show that humidity and rainfall matter most, followed by N, P and K.</a:t>
            </a:r>
          </a:p>
          <a:p>
            <a:pPr algn="l" marL="201168" indent="-201168">
              <a:spcAft>
                <a:spcPts val="800"/>
              </a:spcAft>
              <a:buFont typeface="Arial"/>
              <a:buChar char="•"/>
            </a:pPr>
            <a:r>
              <a:rPr sz="1700" b="0" i="0">
                <a:solidFill>
                  <a:srgbClr val="1F2A36"/>
                </a:solidFill>
                <a:latin typeface="Times New Roman"/>
              </a:rPr>
              <a:t>For fertilizer, XGBoost reached </a:t>
            </a:r>
            <a:r>
              <a:rPr sz="1700" b="1" i="0">
                <a:solidFill>
                  <a:srgbClr val="1F2A36"/>
                </a:solidFill>
                <a:latin typeface="Times New Roman"/>
              </a:rPr>
              <a:t>97.69%</a:t>
            </a:r>
            <a:r>
              <a:rPr sz="1700" b="0" i="0">
                <a:solidFill>
                  <a:srgbClr val="1F2A36"/>
                </a:solidFill>
                <a:latin typeface="Times New Roman"/>
              </a:rPr>
              <a:t> accuracy; a nutrient-gap rule tells the farmer which nutrient to add or skip.</a:t>
            </a:r>
          </a:p>
        </p:txBody>
      </p:sp>
      <p:sp>
        <p:nvSpPr>
          <p:cNvPr id="4" name="Rounded Rectangle 3"/>
          <p:cNvSpPr/>
          <p:nvPr/>
        </p:nvSpPr>
        <p:spPr>
          <a:xfrm>
            <a:off x="448056" y="4846320"/>
            <a:ext cx="2560320" cy="1371600"/>
          </a:xfrm>
          <a:prstGeom prst="roundRect">
            <a:avLst>
              <a:gd name="adj" fmla="val 12000"/>
            </a:avLst>
          </a:prstGeom>
          <a:gradFill rotWithShape="1">
            <a:gsLst>
              <a:gs pos="0">
                <a:srgbClr val="E8EEF4"/>
              </a:gs>
              <a:gs pos="100000">
                <a:srgbClr val="CDD9E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ctr">
              <a:spcAft>
                <a:spcPts val="200"/>
              </a:spcAft>
            </a:pPr>
            <a:r>
              <a:rPr sz="3000" b="1" i="0">
                <a:solidFill>
                  <a:srgbClr val="3B5A78"/>
                </a:solidFill>
                <a:latin typeface="Bookman Old Style"/>
              </a:rPr>
              <a:t>99.55%</a:t>
            </a:r>
          </a:p>
          <a:p>
            <a:pPr algn="ctr">
              <a:spcAft>
                <a:spcPts val="200"/>
              </a:spcAft>
            </a:pPr>
            <a:r>
              <a:rPr sz="1400" b="0" i="0">
                <a:solidFill>
                  <a:srgbClr val="1F2A36"/>
                </a:solidFill>
                <a:latin typeface="Times New Roman"/>
              </a:rPr>
              <a:t>crop accuracy (Random Forest)</a:t>
            </a:r>
          </a:p>
        </p:txBody>
      </p:sp>
      <p:sp>
        <p:nvSpPr>
          <p:cNvPr id="5" name="Rounded Rectangle 4"/>
          <p:cNvSpPr/>
          <p:nvPr/>
        </p:nvSpPr>
        <p:spPr>
          <a:xfrm>
            <a:off x="3282696" y="4846320"/>
            <a:ext cx="2560320" cy="1371600"/>
          </a:xfrm>
          <a:prstGeom prst="roundRect">
            <a:avLst>
              <a:gd name="adj" fmla="val 12000"/>
            </a:avLst>
          </a:prstGeom>
          <a:gradFill rotWithShape="1">
            <a:gsLst>
              <a:gs pos="0">
                <a:srgbClr val="E7F3F1"/>
              </a:gs>
              <a:gs pos="100000">
                <a:srgbClr val="CDE3DF"/>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ctr">
              <a:spcAft>
                <a:spcPts val="200"/>
              </a:spcAft>
            </a:pPr>
            <a:r>
              <a:rPr sz="3000" b="1" i="0">
                <a:solidFill>
                  <a:srgbClr val="3B5A78"/>
                </a:solidFill>
                <a:latin typeface="Bookman Old Style"/>
              </a:rPr>
              <a:t>97.69%</a:t>
            </a:r>
          </a:p>
          <a:p>
            <a:pPr algn="ctr">
              <a:spcAft>
                <a:spcPts val="200"/>
              </a:spcAft>
            </a:pPr>
            <a:r>
              <a:rPr sz="1400" b="0" i="0">
                <a:solidFill>
                  <a:srgbClr val="1F2A36"/>
                </a:solidFill>
                <a:latin typeface="Times New Roman"/>
              </a:rPr>
              <a:t>fertilizer accuracy (XGBoost)</a:t>
            </a:r>
          </a:p>
        </p:txBody>
      </p:sp>
      <p:sp>
        <p:nvSpPr>
          <p:cNvPr id="6" name="Rounded Rectangle 5"/>
          <p:cNvSpPr/>
          <p:nvPr/>
        </p:nvSpPr>
        <p:spPr>
          <a:xfrm>
            <a:off x="6117336" y="4846320"/>
            <a:ext cx="2560320" cy="1371600"/>
          </a:xfrm>
          <a:prstGeom prst="roundRect">
            <a:avLst>
              <a:gd name="adj" fmla="val 12000"/>
            </a:avLst>
          </a:prstGeom>
          <a:gradFill rotWithShape="1">
            <a:gsLst>
              <a:gs pos="0">
                <a:srgbClr val="E6F3EC"/>
              </a:gs>
              <a:gs pos="100000">
                <a:srgbClr val="CBE3D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ctr">
              <a:spcAft>
                <a:spcPts val="200"/>
              </a:spcAft>
            </a:pPr>
            <a:r>
              <a:rPr sz="3000" b="1" i="0">
                <a:solidFill>
                  <a:srgbClr val="3B5A78"/>
                </a:solidFill>
                <a:latin typeface="Bookman Old Style"/>
              </a:rPr>
              <a:t>22 crops</a:t>
            </a:r>
          </a:p>
          <a:p>
            <a:pPr algn="ctr">
              <a:spcAft>
                <a:spcPts val="200"/>
              </a:spcAft>
            </a:pPr>
            <a:r>
              <a:rPr sz="1400" b="0" i="0">
                <a:solidFill>
                  <a:srgbClr val="1F2A36"/>
                </a:solidFill>
                <a:latin typeface="Times New Roman"/>
              </a:rPr>
              <a:t>10 algorithms compared</a:t>
            </a:r>
          </a:p>
        </p:txBody>
      </p:sp>
      <p:sp>
        <p:nvSpPr>
          <p:cNvPr id="7"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Introduction</a:t>
            </a:r>
          </a:p>
        </p:txBody>
      </p:sp>
      <p:sp>
        <p:nvSpPr>
          <p:cNvPr id="3" name="Rounded Rectangle 2"/>
          <p:cNvSpPr/>
          <p:nvPr/>
        </p:nvSpPr>
        <p:spPr>
          <a:xfrm>
            <a:off x="448056" y="1188720"/>
            <a:ext cx="8229600" cy="566928"/>
          </a:xfrm>
          <a:prstGeom prst="roundRect">
            <a:avLst>
              <a:gd name="adj" fmla="val 12000"/>
            </a:avLst>
          </a:prstGeom>
          <a:gradFill rotWithShape="1">
            <a:gsLst>
              <a:gs pos="0">
                <a:srgbClr val="E8EEF4"/>
              </a:gs>
              <a:gs pos="100000">
                <a:srgbClr val="CDD9E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600" b="0" i="0">
                <a:solidFill>
                  <a:srgbClr val="1F2A36"/>
                </a:solidFill>
                <a:latin typeface="Times New Roman"/>
              </a:rPr>
              <a:t>Choosing the right crop for the soil and the season decides a farmer's income for the whole year.</a:t>
            </a:r>
          </a:p>
        </p:txBody>
      </p:sp>
      <p:sp>
        <p:nvSpPr>
          <p:cNvPr id="4" name="Rounded Rectangle 3"/>
          <p:cNvSpPr/>
          <p:nvPr/>
        </p:nvSpPr>
        <p:spPr>
          <a:xfrm>
            <a:off x="448056" y="1847088"/>
            <a:ext cx="8229600" cy="566928"/>
          </a:xfrm>
          <a:prstGeom prst="roundRect">
            <a:avLst>
              <a:gd name="adj" fmla="val 12000"/>
            </a:avLst>
          </a:prstGeom>
          <a:gradFill rotWithShape="1">
            <a:gsLst>
              <a:gs pos="0">
                <a:srgbClr val="E7F3F1"/>
              </a:gs>
              <a:gs pos="100000">
                <a:srgbClr val="CDE3DF"/>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600" b="0" i="0">
                <a:solidFill>
                  <a:srgbClr val="1F2A36"/>
                </a:solidFill>
                <a:latin typeface="Times New Roman"/>
              </a:rPr>
              <a:t>Machine learning can learn from soil (N, P, K, pH) and weather (temperature, humidity, rainfall) which crop suits a field [1].</a:t>
            </a:r>
          </a:p>
        </p:txBody>
      </p:sp>
      <p:pic>
        <p:nvPicPr>
          <p:cNvPr id="5" name="Picture 4" descr="fig1_1_architecture.png"/>
          <p:cNvPicPr>
            <a:picLocks noChangeAspect="1"/>
          </p:cNvPicPr>
          <p:nvPr/>
        </p:nvPicPr>
        <p:blipFill>
          <a:blip r:embed="rId4"/>
          <a:stretch>
            <a:fillRect/>
          </a:stretch>
        </p:blipFill>
        <p:spPr>
          <a:xfrm>
            <a:off x="1967497" y="2578608"/>
            <a:ext cx="5190717" cy="3429000"/>
          </a:xfrm>
          <a:prstGeom prst="rect">
            <a:avLst/>
          </a:prstGeom>
          <a:ln w="9525">
            <a:solidFill>
              <a:srgbClr val="B8C4CE"/>
            </a:solidFill>
          </a:ln>
        </p:spPr>
      </p:pic>
      <p:sp>
        <p:nvSpPr>
          <p:cNvPr id="6" name="TextBox 5"/>
          <p:cNvSpPr txBox="1"/>
          <p:nvPr/>
        </p:nvSpPr>
        <p:spPr>
          <a:xfrm>
            <a:off x="448056" y="6035040"/>
            <a:ext cx="8229600" cy="274320"/>
          </a:xfrm>
          <a:prstGeom prst="rect">
            <a:avLst/>
          </a:prstGeom>
          <a:noFill/>
        </p:spPr>
        <p:txBody>
          <a:bodyPr wrap="square" lIns="45720" rIns="45720" tIns="27432" bIns="27432" anchor="t">
            <a:spAutoFit/>
          </a:bodyPr>
          <a:lstStyle/>
          <a:p>
            <a:pPr algn="ctr">
              <a:spcAft>
                <a:spcPts val="400"/>
              </a:spcAft>
            </a:pPr>
            <a:r>
              <a:rPr sz="1300" b="0" i="1">
                <a:solidFill>
                  <a:srgbClr val="3A4652"/>
                </a:solidFill>
                <a:latin typeface="Times New Roman"/>
              </a:rPr>
              <a:t>Proposed system: recommend the crop, explain why, advise on fertilizer</a:t>
            </a:r>
          </a:p>
        </p:txBody>
      </p:sp>
      <p:sp>
        <p:nvSpPr>
          <p:cNvPr id="7"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Motivation</a:t>
            </a:r>
          </a:p>
        </p:txBody>
      </p:sp>
      <p:sp>
        <p:nvSpPr>
          <p:cNvPr id="3" name="Rounded Rectangle 2"/>
          <p:cNvSpPr/>
          <p:nvPr/>
        </p:nvSpPr>
        <p:spPr>
          <a:xfrm>
            <a:off x="448056" y="1234440"/>
            <a:ext cx="2560320" cy="3611880"/>
          </a:xfrm>
          <a:prstGeom prst="roundRect">
            <a:avLst>
              <a:gd name="adj" fmla="val 12000"/>
            </a:avLst>
          </a:prstGeom>
          <a:gradFill rotWithShape="1">
            <a:gsLst>
              <a:gs pos="0">
                <a:srgbClr val="EDEBF6"/>
              </a:gs>
              <a:gs pos="100000">
                <a:srgbClr val="D1CCE3"/>
              </a:gs>
            </a:gsLst>
            <a:lin ang="5400000" scaled="0"/>
          </a:gradFill>
          <a:ln>
            <a:noFill/>
          </a:ln>
          <a:effectLst>
            <a:outerShdw blurRad="40000" dist="20000" dir="5400000" rotWithShape="0">
              <a:srgbClr val="000000">
                <a:alpha val="38000"/>
              </a:srgbClr>
            </a:outerShdw>
          </a:effectLst>
        </p:spPr>
        <p:txBody>
          <a:bodyPr rtlCol="0" anchor="ctr"/>
          <a:lstStyle/>
          <a:p>
            <a:pPr algn="ctr"/>
          </a:p>
        </p:txBody>
      </p:sp>
      <p:sp>
        <p:nvSpPr>
          <p:cNvPr id="4" name="Oval 3"/>
          <p:cNvSpPr/>
          <p:nvPr/>
        </p:nvSpPr>
        <p:spPr>
          <a:xfrm>
            <a:off x="630936" y="1417320"/>
            <a:ext cx="502920" cy="502920"/>
          </a:xfrm>
          <a:prstGeom prst="ellipse">
            <a:avLst/>
          </a:prstGeom>
          <a:solidFill>
            <a:srgbClr val="3B5A78"/>
          </a:solidFill>
          <a:ln>
            <a:noFill/>
          </a:ln>
        </p:spPr>
        <p:txBody>
          <a:bodyPr rtlCol="0" anchor="ctr" wrap="square" lIns="0" rIns="0" tIns="0" bIns="0"/>
          <a:lstStyle/>
          <a:p>
            <a:pPr algn="ctr">
              <a:spcAft>
                <a:spcPts val="400"/>
              </a:spcAft>
            </a:pPr>
            <a:r>
              <a:rPr sz="1600" b="1" i="0">
                <a:solidFill>
                  <a:srgbClr val="FFFFFF"/>
                </a:solidFill>
                <a:latin typeface="Bookman Old Style"/>
              </a:rPr>
              <a:t>1</a:t>
            </a:r>
          </a:p>
        </p:txBody>
      </p:sp>
      <p:sp>
        <p:nvSpPr>
          <p:cNvPr id="5" name="TextBox 4"/>
          <p:cNvSpPr txBox="1"/>
          <p:nvPr/>
        </p:nvSpPr>
        <p:spPr>
          <a:xfrm>
            <a:off x="630936" y="2057400"/>
            <a:ext cx="2194560" cy="822960"/>
          </a:xfrm>
          <a:prstGeom prst="rect">
            <a:avLst/>
          </a:prstGeom>
          <a:noFill/>
        </p:spPr>
        <p:txBody>
          <a:bodyPr wrap="square" lIns="45720" rIns="45720" tIns="27432" bIns="27432" anchor="t">
            <a:spAutoFit/>
          </a:bodyPr>
          <a:lstStyle/>
          <a:p>
            <a:pPr algn="l">
              <a:spcAft>
                <a:spcPts val="400"/>
              </a:spcAft>
            </a:pPr>
            <a:r>
              <a:rPr sz="1800" b="1" i="0">
                <a:solidFill>
                  <a:srgbClr val="1F2A36"/>
                </a:solidFill>
                <a:latin typeface="Bookman Old Style"/>
              </a:rPr>
              <a:t>Crop choice by habit</a:t>
            </a:r>
          </a:p>
        </p:txBody>
      </p:sp>
      <p:sp>
        <p:nvSpPr>
          <p:cNvPr id="6" name="TextBox 5"/>
          <p:cNvSpPr txBox="1"/>
          <p:nvPr/>
        </p:nvSpPr>
        <p:spPr>
          <a:xfrm>
            <a:off x="630936" y="2880360"/>
            <a:ext cx="2194560" cy="1828800"/>
          </a:xfrm>
          <a:prstGeom prst="rect">
            <a:avLst/>
          </a:prstGeom>
          <a:noFill/>
        </p:spPr>
        <p:txBody>
          <a:bodyPr wrap="square" lIns="45720" rIns="45720" tIns="27432" bIns="27432" anchor="t">
            <a:spAutoFit/>
          </a:bodyPr>
          <a:lstStyle/>
          <a:p>
            <a:pPr algn="l">
              <a:spcAft>
                <a:spcPts val="400"/>
              </a:spcAft>
            </a:pPr>
            <a:r>
              <a:rPr sz="1500" b="0" i="0">
                <a:solidFill>
                  <a:srgbClr val="1F2A36"/>
                </a:solidFill>
                <a:latin typeface="Times New Roman"/>
              </a:rPr>
              <a:t>Farmers often sow what neighbours grow or what paid well last season, even when soil and rainfall have changed.</a:t>
            </a:r>
          </a:p>
        </p:txBody>
      </p:sp>
      <p:sp>
        <p:nvSpPr>
          <p:cNvPr id="7" name="Rounded Rectangle 6"/>
          <p:cNvSpPr/>
          <p:nvPr/>
        </p:nvSpPr>
        <p:spPr>
          <a:xfrm>
            <a:off x="3282696" y="1234440"/>
            <a:ext cx="2560320" cy="3611880"/>
          </a:xfrm>
          <a:prstGeom prst="roundRect">
            <a:avLst>
              <a:gd name="adj" fmla="val 12000"/>
            </a:avLst>
          </a:prstGeom>
          <a:gradFill rotWithShape="1">
            <a:gsLst>
              <a:gs pos="0">
                <a:srgbClr val="E8EEF4"/>
              </a:gs>
              <a:gs pos="100000">
                <a:srgbClr val="CDD9E6"/>
              </a:gs>
            </a:gsLst>
            <a:lin ang="5400000" scaled="0"/>
          </a:gradFill>
          <a:ln>
            <a:noFill/>
          </a:ln>
          <a:effectLst>
            <a:outerShdw blurRad="40000" dist="20000" dir="5400000" rotWithShape="0">
              <a:srgbClr val="000000">
                <a:alpha val="38000"/>
              </a:srgbClr>
            </a:outerShdw>
          </a:effectLst>
        </p:spPr>
        <p:txBody>
          <a:bodyPr rtlCol="0" anchor="ctr"/>
          <a:lstStyle/>
          <a:p>
            <a:pPr algn="ctr"/>
          </a:p>
        </p:txBody>
      </p:sp>
      <p:sp>
        <p:nvSpPr>
          <p:cNvPr id="8" name="Oval 7"/>
          <p:cNvSpPr/>
          <p:nvPr/>
        </p:nvSpPr>
        <p:spPr>
          <a:xfrm>
            <a:off x="3465576" y="1417320"/>
            <a:ext cx="502920" cy="502920"/>
          </a:xfrm>
          <a:prstGeom prst="ellipse">
            <a:avLst/>
          </a:prstGeom>
          <a:solidFill>
            <a:srgbClr val="3B5A78"/>
          </a:solidFill>
          <a:ln>
            <a:noFill/>
          </a:ln>
        </p:spPr>
        <p:txBody>
          <a:bodyPr rtlCol="0" anchor="ctr" wrap="square" lIns="0" rIns="0" tIns="0" bIns="0"/>
          <a:lstStyle/>
          <a:p>
            <a:pPr algn="ctr">
              <a:spcAft>
                <a:spcPts val="400"/>
              </a:spcAft>
            </a:pPr>
            <a:r>
              <a:rPr sz="1600" b="1" i="0">
                <a:solidFill>
                  <a:srgbClr val="FFFFFF"/>
                </a:solidFill>
                <a:latin typeface="Bookman Old Style"/>
              </a:rPr>
              <a:t>2</a:t>
            </a:r>
          </a:p>
        </p:txBody>
      </p:sp>
      <p:sp>
        <p:nvSpPr>
          <p:cNvPr id="9" name="TextBox 8"/>
          <p:cNvSpPr txBox="1"/>
          <p:nvPr/>
        </p:nvSpPr>
        <p:spPr>
          <a:xfrm>
            <a:off x="3465576" y="2057400"/>
            <a:ext cx="2194560" cy="822960"/>
          </a:xfrm>
          <a:prstGeom prst="rect">
            <a:avLst/>
          </a:prstGeom>
          <a:noFill/>
        </p:spPr>
        <p:txBody>
          <a:bodyPr wrap="square" lIns="45720" rIns="45720" tIns="27432" bIns="27432" anchor="t">
            <a:spAutoFit/>
          </a:bodyPr>
          <a:lstStyle/>
          <a:p>
            <a:pPr algn="l">
              <a:spcAft>
                <a:spcPts val="400"/>
              </a:spcAft>
            </a:pPr>
            <a:r>
              <a:rPr sz="1800" b="1" i="0">
                <a:solidFill>
                  <a:srgbClr val="1F2A36"/>
                </a:solidFill>
                <a:latin typeface="Bookman Old Style"/>
              </a:rPr>
              <a:t>The data exists</a:t>
            </a:r>
          </a:p>
        </p:txBody>
      </p:sp>
      <p:sp>
        <p:nvSpPr>
          <p:cNvPr id="10" name="TextBox 9"/>
          <p:cNvSpPr txBox="1"/>
          <p:nvPr/>
        </p:nvSpPr>
        <p:spPr>
          <a:xfrm>
            <a:off x="3465576" y="2880360"/>
            <a:ext cx="2194560" cy="1828800"/>
          </a:xfrm>
          <a:prstGeom prst="rect">
            <a:avLst/>
          </a:prstGeom>
          <a:noFill/>
        </p:spPr>
        <p:txBody>
          <a:bodyPr wrap="square" lIns="45720" rIns="45720" tIns="27432" bIns="27432" anchor="t">
            <a:spAutoFit/>
          </a:bodyPr>
          <a:lstStyle/>
          <a:p>
            <a:pPr algn="l">
              <a:spcAft>
                <a:spcPts val="400"/>
              </a:spcAft>
            </a:pPr>
            <a:r>
              <a:rPr sz="1500" b="0" i="0">
                <a:solidFill>
                  <a:srgbClr val="1F2A36"/>
                </a:solidFill>
                <a:latin typeface="Times New Roman"/>
              </a:rPr>
              <a:t>Soil Health Card tests give N, P, K and pH, and weather data is public. Turning these numbers into a decision is the hard part.</a:t>
            </a:r>
          </a:p>
        </p:txBody>
      </p:sp>
      <p:sp>
        <p:nvSpPr>
          <p:cNvPr id="11" name="Rounded Rectangle 10"/>
          <p:cNvSpPr/>
          <p:nvPr/>
        </p:nvSpPr>
        <p:spPr>
          <a:xfrm>
            <a:off x="6117336" y="1234440"/>
            <a:ext cx="2560320" cy="3611880"/>
          </a:xfrm>
          <a:prstGeom prst="roundRect">
            <a:avLst>
              <a:gd name="adj" fmla="val 12000"/>
            </a:avLst>
          </a:prstGeom>
          <a:gradFill rotWithShape="1">
            <a:gsLst>
              <a:gs pos="0">
                <a:srgbClr val="E6F3EC"/>
              </a:gs>
              <a:gs pos="100000">
                <a:srgbClr val="CBE3D6"/>
              </a:gs>
            </a:gsLst>
            <a:lin ang="5400000" scaled="0"/>
          </a:gradFill>
          <a:ln>
            <a:noFill/>
          </a:ln>
          <a:effectLst>
            <a:outerShdw blurRad="40000" dist="20000" dir="5400000" rotWithShape="0">
              <a:srgbClr val="000000">
                <a:alpha val="38000"/>
              </a:srgbClr>
            </a:outerShdw>
          </a:effectLst>
        </p:spPr>
        <p:txBody>
          <a:bodyPr rtlCol="0" anchor="ctr"/>
          <a:lstStyle/>
          <a:p>
            <a:pPr algn="ctr"/>
          </a:p>
        </p:txBody>
      </p:sp>
      <p:sp>
        <p:nvSpPr>
          <p:cNvPr id="12" name="Oval 11"/>
          <p:cNvSpPr/>
          <p:nvPr/>
        </p:nvSpPr>
        <p:spPr>
          <a:xfrm>
            <a:off x="6300216" y="1417320"/>
            <a:ext cx="502920" cy="502920"/>
          </a:xfrm>
          <a:prstGeom prst="ellipse">
            <a:avLst/>
          </a:prstGeom>
          <a:solidFill>
            <a:srgbClr val="3B5A78"/>
          </a:solidFill>
          <a:ln>
            <a:noFill/>
          </a:ln>
        </p:spPr>
        <p:txBody>
          <a:bodyPr rtlCol="0" anchor="ctr" wrap="square" lIns="0" rIns="0" tIns="0" bIns="0"/>
          <a:lstStyle/>
          <a:p>
            <a:pPr algn="ctr">
              <a:spcAft>
                <a:spcPts val="400"/>
              </a:spcAft>
            </a:pPr>
            <a:r>
              <a:rPr sz="1600" b="1" i="0">
                <a:solidFill>
                  <a:srgbClr val="FFFFFF"/>
                </a:solidFill>
                <a:latin typeface="Bookman Old Style"/>
              </a:rPr>
              <a:t>3</a:t>
            </a:r>
          </a:p>
        </p:txBody>
      </p:sp>
      <p:sp>
        <p:nvSpPr>
          <p:cNvPr id="13" name="TextBox 12"/>
          <p:cNvSpPr txBox="1"/>
          <p:nvPr/>
        </p:nvSpPr>
        <p:spPr>
          <a:xfrm>
            <a:off x="6300216" y="2057400"/>
            <a:ext cx="2194560" cy="822960"/>
          </a:xfrm>
          <a:prstGeom prst="rect">
            <a:avLst/>
          </a:prstGeom>
          <a:noFill/>
        </p:spPr>
        <p:txBody>
          <a:bodyPr wrap="square" lIns="45720" rIns="45720" tIns="27432" bIns="27432" anchor="t">
            <a:spAutoFit/>
          </a:bodyPr>
          <a:lstStyle/>
          <a:p>
            <a:pPr algn="l">
              <a:spcAft>
                <a:spcPts val="400"/>
              </a:spcAft>
            </a:pPr>
            <a:r>
              <a:rPr sz="1800" b="1" i="0">
                <a:solidFill>
                  <a:srgbClr val="1F2A36"/>
                </a:solidFill>
                <a:latin typeface="Bookman Old Style"/>
              </a:rPr>
              <a:t>Advice needs reasons</a:t>
            </a:r>
          </a:p>
        </p:txBody>
      </p:sp>
      <p:sp>
        <p:nvSpPr>
          <p:cNvPr id="14" name="TextBox 13"/>
          <p:cNvSpPr txBox="1"/>
          <p:nvPr/>
        </p:nvSpPr>
        <p:spPr>
          <a:xfrm>
            <a:off x="6300216" y="2880360"/>
            <a:ext cx="2194560" cy="1828800"/>
          </a:xfrm>
          <a:prstGeom prst="rect">
            <a:avLst/>
          </a:prstGeom>
          <a:noFill/>
        </p:spPr>
        <p:txBody>
          <a:bodyPr wrap="square" lIns="45720" rIns="45720" tIns="27432" bIns="27432" anchor="t">
            <a:spAutoFit/>
          </a:bodyPr>
          <a:lstStyle/>
          <a:p>
            <a:pPr algn="l">
              <a:spcAft>
                <a:spcPts val="400"/>
              </a:spcAft>
            </a:pPr>
            <a:r>
              <a:rPr sz="1500" b="0" i="0">
                <a:solidFill>
                  <a:srgbClr val="1F2A36"/>
                </a:solidFill>
                <a:latin typeface="Times New Roman"/>
              </a:rPr>
              <a:t>A crop name with no explanation is hard to trust, and the next question is always: which fertilizer?</a:t>
            </a:r>
          </a:p>
        </p:txBody>
      </p:sp>
      <p:sp>
        <p:nvSpPr>
          <p:cNvPr id="15" name="Rounded Rectangle 14"/>
          <p:cNvSpPr/>
          <p:nvPr/>
        </p:nvSpPr>
        <p:spPr>
          <a:xfrm>
            <a:off x="448056" y="5074920"/>
            <a:ext cx="8229600" cy="1005840"/>
          </a:xfrm>
          <a:prstGeom prst="roundRect">
            <a:avLst>
              <a:gd name="adj" fmla="val 12000"/>
            </a:avLst>
          </a:prstGeom>
          <a:gradFill rotWithShape="1">
            <a:gsLst>
              <a:gs pos="0">
                <a:srgbClr val="EDF1E6"/>
              </a:gs>
              <a:gs pos="100000">
                <a:srgbClr val="D6E0CC"/>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700" b="1" i="0">
                <a:solidFill>
                  <a:srgbClr val="1F2A36"/>
                </a:solidFill>
                <a:latin typeface="Times New Roman"/>
              </a:rPr>
              <a:t>Our motivation:</a:t>
            </a:r>
            <a:r>
              <a:rPr sz="1700" b="0" i="0">
                <a:solidFill>
                  <a:srgbClr val="1F2A36"/>
                </a:solidFill>
                <a:latin typeface="Times New Roman"/>
              </a:rPr>
              <a:t> give the farmer advice they can check and act on: the crop, the reason behind it, and the fertilizer.</a:t>
            </a:r>
          </a:p>
        </p:txBody>
      </p:sp>
      <p:sp>
        <p:nvSpPr>
          <p:cNvPr id="1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Objective</a:t>
            </a:r>
          </a:p>
        </p:txBody>
      </p:sp>
      <p:sp>
        <p:nvSpPr>
          <p:cNvPr id="3" name="Rounded Rectangle 2"/>
          <p:cNvSpPr/>
          <p:nvPr/>
        </p:nvSpPr>
        <p:spPr>
          <a:xfrm>
            <a:off x="448056" y="1188720"/>
            <a:ext cx="8229600" cy="713232"/>
          </a:xfrm>
          <a:prstGeom prst="roundRect">
            <a:avLst>
              <a:gd name="adj" fmla="val 12000"/>
            </a:avLst>
          </a:prstGeom>
          <a:gradFill rotWithShape="1">
            <a:gsLst>
              <a:gs pos="0">
                <a:srgbClr val="EDEBF6"/>
              </a:gs>
              <a:gs pos="100000">
                <a:srgbClr val="D1CCE3"/>
              </a:gs>
            </a:gsLst>
            <a:lin ang="5400000" scaled="0"/>
          </a:gradFill>
          <a:ln>
            <a:noFill/>
          </a:ln>
          <a:effectLst>
            <a:outerShdw blurRad="40000" dist="20000" dir="5400000" rotWithShape="0">
              <a:srgbClr val="000000">
                <a:alpha val="38000"/>
              </a:srgbClr>
            </a:outerShdw>
          </a:effectLst>
        </p:spPr>
        <p:txBody>
          <a:bodyPr rtlCol="0" anchor="ctr" wrap="square" lIns="731520" rIns="731520"/>
          <a:lstStyle/>
          <a:p>
            <a:pPr algn="l">
              <a:spcAft>
                <a:spcPts val="400"/>
              </a:spcAft>
            </a:pPr>
            <a:r>
              <a:rPr sz="1600" b="0" i="0">
                <a:solidFill>
                  <a:srgbClr val="1F2A36"/>
                </a:solidFill>
                <a:latin typeface="Times New Roman"/>
              </a:rPr>
              <a:t>Recommend the most suitable crops (top 3, with probabilities) from soil N, P, K, pH and the weather.</a:t>
            </a:r>
          </a:p>
        </p:txBody>
      </p:sp>
      <p:sp>
        <p:nvSpPr>
          <p:cNvPr id="4" name="Oval 3"/>
          <p:cNvSpPr/>
          <p:nvPr/>
        </p:nvSpPr>
        <p:spPr>
          <a:xfrm>
            <a:off x="585216" y="1316736"/>
            <a:ext cx="457200" cy="457200"/>
          </a:xfrm>
          <a:prstGeom prst="ellipse">
            <a:avLst/>
          </a:prstGeom>
          <a:solidFill>
            <a:srgbClr val="3B5A78"/>
          </a:solidFill>
          <a:ln>
            <a:noFill/>
          </a:ln>
        </p:spPr>
        <p:txBody>
          <a:bodyPr rtlCol="0" anchor="ctr" wrap="square" lIns="0" rIns="0" tIns="0" bIns="0"/>
          <a:lstStyle/>
          <a:p>
            <a:pPr algn="ctr">
              <a:spcAft>
                <a:spcPts val="400"/>
              </a:spcAft>
            </a:pPr>
            <a:r>
              <a:rPr sz="1600" b="1" i="0">
                <a:solidFill>
                  <a:srgbClr val="FFFFFF"/>
                </a:solidFill>
                <a:latin typeface="Bookman Old Style"/>
              </a:rPr>
              <a:t>1</a:t>
            </a:r>
          </a:p>
        </p:txBody>
      </p:sp>
      <p:sp>
        <p:nvSpPr>
          <p:cNvPr id="5" name="Rounded Rectangle 4"/>
          <p:cNvSpPr/>
          <p:nvPr/>
        </p:nvSpPr>
        <p:spPr>
          <a:xfrm>
            <a:off x="448056" y="2029968"/>
            <a:ext cx="8229600" cy="713232"/>
          </a:xfrm>
          <a:prstGeom prst="roundRect">
            <a:avLst>
              <a:gd name="adj" fmla="val 12000"/>
            </a:avLst>
          </a:prstGeom>
          <a:gradFill rotWithShape="1">
            <a:gsLst>
              <a:gs pos="0">
                <a:srgbClr val="E9EAF4"/>
              </a:gs>
              <a:gs pos="100000">
                <a:srgbClr val="D2D5E8"/>
              </a:gs>
            </a:gsLst>
            <a:lin ang="5400000" scaled="0"/>
          </a:gradFill>
          <a:ln>
            <a:noFill/>
          </a:ln>
          <a:effectLst>
            <a:outerShdw blurRad="40000" dist="20000" dir="5400000" rotWithShape="0">
              <a:srgbClr val="000000">
                <a:alpha val="38000"/>
              </a:srgbClr>
            </a:outerShdw>
          </a:effectLst>
        </p:spPr>
        <p:txBody>
          <a:bodyPr rtlCol="0" anchor="ctr" wrap="square" lIns="731520" rIns="731520"/>
          <a:lstStyle/>
          <a:p>
            <a:pPr algn="l">
              <a:spcAft>
                <a:spcPts val="400"/>
              </a:spcAft>
            </a:pPr>
            <a:r>
              <a:rPr sz="1600" b="0" i="0">
                <a:solidFill>
                  <a:srgbClr val="1F2A36"/>
                </a:solidFill>
                <a:latin typeface="Times New Roman"/>
              </a:rPr>
              <a:t>Compare 10 machine learning algorithms on the same train/test split and choose the best with clear reasons.</a:t>
            </a:r>
          </a:p>
        </p:txBody>
      </p:sp>
      <p:sp>
        <p:nvSpPr>
          <p:cNvPr id="6" name="Oval 5"/>
          <p:cNvSpPr/>
          <p:nvPr/>
        </p:nvSpPr>
        <p:spPr>
          <a:xfrm>
            <a:off x="585216" y="2157984"/>
            <a:ext cx="457200" cy="457200"/>
          </a:xfrm>
          <a:prstGeom prst="ellipse">
            <a:avLst/>
          </a:prstGeom>
          <a:solidFill>
            <a:srgbClr val="3B5A78"/>
          </a:solidFill>
          <a:ln>
            <a:noFill/>
          </a:ln>
        </p:spPr>
        <p:txBody>
          <a:bodyPr rtlCol="0" anchor="ctr" wrap="square" lIns="0" rIns="0" tIns="0" bIns="0"/>
          <a:lstStyle/>
          <a:p>
            <a:pPr algn="ctr">
              <a:spcAft>
                <a:spcPts val="400"/>
              </a:spcAft>
            </a:pPr>
            <a:r>
              <a:rPr sz="1600" b="1" i="0">
                <a:solidFill>
                  <a:srgbClr val="FFFFFF"/>
                </a:solidFill>
                <a:latin typeface="Bookman Old Style"/>
              </a:rPr>
              <a:t>2</a:t>
            </a:r>
          </a:p>
        </p:txBody>
      </p:sp>
      <p:sp>
        <p:nvSpPr>
          <p:cNvPr id="7" name="Rounded Rectangle 6"/>
          <p:cNvSpPr/>
          <p:nvPr/>
        </p:nvSpPr>
        <p:spPr>
          <a:xfrm>
            <a:off x="448056" y="2871216"/>
            <a:ext cx="8229600" cy="713232"/>
          </a:xfrm>
          <a:prstGeom prst="roundRect">
            <a:avLst>
              <a:gd name="adj" fmla="val 12000"/>
            </a:avLst>
          </a:prstGeom>
          <a:gradFill rotWithShape="1">
            <a:gsLst>
              <a:gs pos="0">
                <a:srgbClr val="E8EEF4"/>
              </a:gs>
              <a:gs pos="100000">
                <a:srgbClr val="CDD9E6"/>
              </a:gs>
            </a:gsLst>
            <a:lin ang="5400000" scaled="0"/>
          </a:gradFill>
          <a:ln>
            <a:noFill/>
          </a:ln>
          <a:effectLst>
            <a:outerShdw blurRad="40000" dist="20000" dir="5400000" rotWithShape="0">
              <a:srgbClr val="000000">
                <a:alpha val="38000"/>
              </a:srgbClr>
            </a:outerShdw>
          </a:effectLst>
        </p:spPr>
        <p:txBody>
          <a:bodyPr rtlCol="0" anchor="ctr" wrap="square" lIns="731520" rIns="731520"/>
          <a:lstStyle/>
          <a:p>
            <a:pPr algn="l">
              <a:spcAft>
                <a:spcPts val="400"/>
              </a:spcAft>
            </a:pPr>
            <a:r>
              <a:rPr sz="1600" b="0" i="0">
                <a:solidFill>
                  <a:srgbClr val="1F2A36"/>
                </a:solidFill>
                <a:latin typeface="Times New Roman"/>
              </a:rPr>
              <a:t>Check whether the high accuracy of the chosen model is a sign of overfitting.</a:t>
            </a:r>
          </a:p>
        </p:txBody>
      </p:sp>
      <p:sp>
        <p:nvSpPr>
          <p:cNvPr id="8" name="Oval 7"/>
          <p:cNvSpPr/>
          <p:nvPr/>
        </p:nvSpPr>
        <p:spPr>
          <a:xfrm>
            <a:off x="585216" y="2999232"/>
            <a:ext cx="457200" cy="457200"/>
          </a:xfrm>
          <a:prstGeom prst="ellipse">
            <a:avLst/>
          </a:prstGeom>
          <a:solidFill>
            <a:srgbClr val="3B5A78"/>
          </a:solidFill>
          <a:ln>
            <a:noFill/>
          </a:ln>
        </p:spPr>
        <p:txBody>
          <a:bodyPr rtlCol="0" anchor="ctr" wrap="square" lIns="0" rIns="0" tIns="0" bIns="0"/>
          <a:lstStyle/>
          <a:p>
            <a:pPr algn="ctr">
              <a:spcAft>
                <a:spcPts val="400"/>
              </a:spcAft>
            </a:pPr>
            <a:r>
              <a:rPr sz="1600" b="1" i="0">
                <a:solidFill>
                  <a:srgbClr val="FFFFFF"/>
                </a:solidFill>
                <a:latin typeface="Bookman Old Style"/>
              </a:rPr>
              <a:t>3</a:t>
            </a:r>
          </a:p>
        </p:txBody>
      </p:sp>
      <p:sp>
        <p:nvSpPr>
          <p:cNvPr id="9" name="Rounded Rectangle 8"/>
          <p:cNvSpPr/>
          <p:nvPr/>
        </p:nvSpPr>
        <p:spPr>
          <a:xfrm>
            <a:off x="448056" y="3712464"/>
            <a:ext cx="8229600" cy="713232"/>
          </a:xfrm>
          <a:prstGeom prst="roundRect">
            <a:avLst>
              <a:gd name="adj" fmla="val 12000"/>
            </a:avLst>
          </a:prstGeom>
          <a:gradFill rotWithShape="1">
            <a:gsLst>
              <a:gs pos="0">
                <a:srgbClr val="E7F3F1"/>
              </a:gs>
              <a:gs pos="100000">
                <a:srgbClr val="CDE3DF"/>
              </a:gs>
            </a:gsLst>
            <a:lin ang="5400000" scaled="0"/>
          </a:gradFill>
          <a:ln>
            <a:noFill/>
          </a:ln>
          <a:effectLst>
            <a:outerShdw blurRad="40000" dist="20000" dir="5400000" rotWithShape="0">
              <a:srgbClr val="000000">
                <a:alpha val="38000"/>
              </a:srgbClr>
            </a:outerShdw>
          </a:effectLst>
        </p:spPr>
        <p:txBody>
          <a:bodyPr rtlCol="0" anchor="ctr" wrap="square" lIns="731520" rIns="731520"/>
          <a:lstStyle/>
          <a:p>
            <a:pPr algn="l">
              <a:spcAft>
                <a:spcPts val="400"/>
              </a:spcAft>
            </a:pPr>
            <a:r>
              <a:rPr sz="1600" b="0" i="0">
                <a:solidFill>
                  <a:srgbClr val="1F2A36"/>
                </a:solidFill>
                <a:latin typeface="Times New Roman"/>
              </a:rPr>
              <a:t>Explain every recommendation with SHAP and LIME.</a:t>
            </a:r>
          </a:p>
        </p:txBody>
      </p:sp>
      <p:sp>
        <p:nvSpPr>
          <p:cNvPr id="10" name="Oval 9"/>
          <p:cNvSpPr/>
          <p:nvPr/>
        </p:nvSpPr>
        <p:spPr>
          <a:xfrm>
            <a:off x="585216" y="3840480"/>
            <a:ext cx="457200" cy="457200"/>
          </a:xfrm>
          <a:prstGeom prst="ellipse">
            <a:avLst/>
          </a:prstGeom>
          <a:solidFill>
            <a:srgbClr val="3B5A78"/>
          </a:solidFill>
          <a:ln>
            <a:noFill/>
          </a:ln>
        </p:spPr>
        <p:txBody>
          <a:bodyPr rtlCol="0" anchor="ctr" wrap="square" lIns="0" rIns="0" tIns="0" bIns="0"/>
          <a:lstStyle/>
          <a:p>
            <a:pPr algn="ctr">
              <a:spcAft>
                <a:spcPts val="400"/>
              </a:spcAft>
            </a:pPr>
            <a:r>
              <a:rPr sz="1600" b="1" i="0">
                <a:solidFill>
                  <a:srgbClr val="FFFFFF"/>
                </a:solidFill>
                <a:latin typeface="Bookman Old Style"/>
              </a:rPr>
              <a:t>4</a:t>
            </a:r>
          </a:p>
        </p:txBody>
      </p:sp>
      <p:sp>
        <p:nvSpPr>
          <p:cNvPr id="11" name="Rounded Rectangle 10"/>
          <p:cNvSpPr/>
          <p:nvPr/>
        </p:nvSpPr>
        <p:spPr>
          <a:xfrm>
            <a:off x="448056" y="4553712"/>
            <a:ext cx="8229600" cy="713232"/>
          </a:xfrm>
          <a:prstGeom prst="roundRect">
            <a:avLst>
              <a:gd name="adj" fmla="val 12000"/>
            </a:avLst>
          </a:prstGeom>
          <a:gradFill rotWithShape="1">
            <a:gsLst>
              <a:gs pos="0">
                <a:srgbClr val="E6F3EC"/>
              </a:gs>
              <a:gs pos="100000">
                <a:srgbClr val="CBE3D6"/>
              </a:gs>
            </a:gsLst>
            <a:lin ang="5400000" scaled="0"/>
          </a:gradFill>
          <a:ln>
            <a:noFill/>
          </a:ln>
          <a:effectLst>
            <a:outerShdw blurRad="40000" dist="20000" dir="5400000" rotWithShape="0">
              <a:srgbClr val="000000">
                <a:alpha val="38000"/>
              </a:srgbClr>
            </a:outerShdw>
          </a:effectLst>
        </p:spPr>
        <p:txBody>
          <a:bodyPr rtlCol="0" anchor="ctr" wrap="square" lIns="731520" rIns="731520"/>
          <a:lstStyle/>
          <a:p>
            <a:pPr algn="l">
              <a:spcAft>
                <a:spcPts val="400"/>
              </a:spcAft>
            </a:pPr>
            <a:r>
              <a:rPr sz="1600" b="0" i="0">
                <a:solidFill>
                  <a:srgbClr val="1F2A36"/>
                </a:solidFill>
                <a:latin typeface="Times New Roman"/>
              </a:rPr>
              <a:t>Recommend a fertilizer: predict a product and compare the soil with the crop's needs.</a:t>
            </a:r>
          </a:p>
        </p:txBody>
      </p:sp>
      <p:sp>
        <p:nvSpPr>
          <p:cNvPr id="12" name="Oval 11"/>
          <p:cNvSpPr/>
          <p:nvPr/>
        </p:nvSpPr>
        <p:spPr>
          <a:xfrm>
            <a:off x="585216" y="4681728"/>
            <a:ext cx="457200" cy="457200"/>
          </a:xfrm>
          <a:prstGeom prst="ellipse">
            <a:avLst/>
          </a:prstGeom>
          <a:solidFill>
            <a:srgbClr val="3B5A78"/>
          </a:solidFill>
          <a:ln>
            <a:noFill/>
          </a:ln>
        </p:spPr>
        <p:txBody>
          <a:bodyPr rtlCol="0" anchor="ctr" wrap="square" lIns="0" rIns="0" tIns="0" bIns="0"/>
          <a:lstStyle/>
          <a:p>
            <a:pPr algn="ctr">
              <a:spcAft>
                <a:spcPts val="400"/>
              </a:spcAft>
            </a:pPr>
            <a:r>
              <a:rPr sz="1600" b="1" i="0">
                <a:solidFill>
                  <a:srgbClr val="FFFFFF"/>
                </a:solidFill>
                <a:latin typeface="Bookman Old Style"/>
              </a:rPr>
              <a:t>5</a:t>
            </a:r>
          </a:p>
        </p:txBody>
      </p:sp>
      <p:sp>
        <p:nvSpPr>
          <p:cNvPr id="13" name="Rounded Rectangle 12"/>
          <p:cNvSpPr/>
          <p:nvPr/>
        </p:nvSpPr>
        <p:spPr>
          <a:xfrm>
            <a:off x="448056" y="5394960"/>
            <a:ext cx="8229600" cy="713232"/>
          </a:xfrm>
          <a:prstGeom prst="roundRect">
            <a:avLst>
              <a:gd name="adj" fmla="val 12000"/>
            </a:avLst>
          </a:prstGeom>
          <a:gradFill rotWithShape="1">
            <a:gsLst>
              <a:gs pos="0">
                <a:srgbClr val="E7F1E6"/>
              </a:gs>
              <a:gs pos="100000">
                <a:srgbClr val="CCE0CC"/>
              </a:gs>
            </a:gsLst>
            <a:lin ang="5400000" scaled="0"/>
          </a:gradFill>
          <a:ln>
            <a:noFill/>
          </a:ln>
          <a:effectLst>
            <a:outerShdw blurRad="40000" dist="20000" dir="5400000" rotWithShape="0">
              <a:srgbClr val="000000">
                <a:alpha val="38000"/>
              </a:srgbClr>
            </a:outerShdw>
          </a:effectLst>
        </p:spPr>
        <p:txBody>
          <a:bodyPr rtlCol="0" anchor="ctr" wrap="square" lIns="731520" rIns="731520"/>
          <a:lstStyle/>
          <a:p>
            <a:pPr algn="l">
              <a:spcAft>
                <a:spcPts val="400"/>
              </a:spcAft>
            </a:pPr>
            <a:r>
              <a:rPr sz="1600" b="0" i="0">
                <a:solidFill>
                  <a:srgbClr val="1F2A36"/>
                </a:solidFill>
                <a:latin typeface="Times New Roman"/>
              </a:rPr>
              <a:t>Write up the work as a research paper in IEEE conference format.</a:t>
            </a:r>
          </a:p>
        </p:txBody>
      </p:sp>
      <p:sp>
        <p:nvSpPr>
          <p:cNvPr id="14" name="Oval 13"/>
          <p:cNvSpPr/>
          <p:nvPr/>
        </p:nvSpPr>
        <p:spPr>
          <a:xfrm>
            <a:off x="585216" y="5522976"/>
            <a:ext cx="457200" cy="457200"/>
          </a:xfrm>
          <a:prstGeom prst="ellipse">
            <a:avLst/>
          </a:prstGeom>
          <a:solidFill>
            <a:srgbClr val="3B5A78"/>
          </a:solidFill>
          <a:ln>
            <a:noFill/>
          </a:ln>
        </p:spPr>
        <p:txBody>
          <a:bodyPr rtlCol="0" anchor="ctr" wrap="square" lIns="0" rIns="0" tIns="0" bIns="0"/>
          <a:lstStyle/>
          <a:p>
            <a:pPr algn="ctr">
              <a:spcAft>
                <a:spcPts val="400"/>
              </a:spcAft>
            </a:pPr>
            <a:r>
              <a:rPr sz="1600" b="1" i="0">
                <a:solidFill>
                  <a:srgbClr val="FFFFFF"/>
                </a:solidFill>
                <a:latin typeface="Bookman Old Style"/>
              </a:rPr>
              <a:t>6</a:t>
            </a:r>
          </a:p>
        </p:txBody>
      </p:sp>
      <p:sp>
        <p:nvSpPr>
          <p:cNvPr id="15"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Literature Survey</a:t>
            </a:r>
          </a:p>
        </p:txBody>
      </p:sp>
      <p:graphicFrame>
        <p:nvGraphicFramePr>
          <p:cNvPr id="3" name="Table 2"/>
          <p:cNvGraphicFramePr>
            <a:graphicFrameLocks noGrp="1"/>
          </p:cNvGraphicFramePr>
          <p:nvPr/>
        </p:nvGraphicFramePr>
        <p:xfrm>
          <a:off x="448056" y="1188720"/>
          <a:ext cx="8229600" cy="4572000"/>
        </p:xfrm>
        <a:graphic>
          <a:graphicData uri="http://schemas.openxmlformats.org/drawingml/2006/table">
            <a:tbl>
              <a:tblPr firstRow="1">
                <a:tableStyleId>{5C22544A-7EE6-4342-B048-85BDC9FD1C3A}</a:tableStyleId>
              </a:tblPr>
              <a:tblGrid>
                <a:gridCol w="502920"/>
                <a:gridCol w="2148840"/>
                <a:gridCol w="2103120"/>
                <a:gridCol w="3474720"/>
              </a:tblGrid>
              <a:tr h="457200">
                <a:tc>
                  <a:txBody>
                    <a:bodyPr wrap="square"/>
                    <a:lstStyle/>
                    <a:p>
                      <a:pPr algn="ctr"/>
                      <a:r>
                        <a:rPr sz="1300" b="1" i="0">
                          <a:solidFill>
                            <a:srgbClr val="1F2A36"/>
                          </a:solidFill>
                          <a:latin typeface="Times New Roman"/>
                        </a:rPr>
                        <a:t>Ref.</a:t>
                      </a:r>
                    </a:p>
                  </a:txBody>
                  <a:tcPr marL="54864" marR="54864" marT="27432" marB="27432" anchor="ctr">
                    <a:solidFill>
                      <a:srgbClr val="CBDCE4"/>
                    </a:solidFill>
                  </a:tcPr>
                </a:tc>
                <a:tc>
                  <a:txBody>
                    <a:bodyPr wrap="square"/>
                    <a:lstStyle/>
                    <a:p>
                      <a:pPr algn="ctr"/>
                      <a:r>
                        <a:rPr sz="1300" b="1" i="0">
                          <a:solidFill>
                            <a:srgbClr val="1F2A36"/>
                          </a:solidFill>
                          <a:latin typeface="Times New Roman"/>
                        </a:rPr>
                        <a:t>Study</a:t>
                      </a:r>
                    </a:p>
                  </a:txBody>
                  <a:tcPr marL="54864" marR="54864" marT="27432" marB="27432" anchor="ctr">
                    <a:solidFill>
                      <a:srgbClr val="CBDCE4"/>
                    </a:solidFill>
                  </a:tcPr>
                </a:tc>
                <a:tc>
                  <a:txBody>
                    <a:bodyPr wrap="square"/>
                    <a:lstStyle/>
                    <a:p>
                      <a:pPr algn="ctr"/>
                      <a:r>
                        <a:rPr sz="1300" b="1" i="0">
                          <a:solidFill>
                            <a:srgbClr val="1F2A36"/>
                          </a:solidFill>
                          <a:latin typeface="Times New Roman"/>
                        </a:rPr>
                        <a:t>Work</a:t>
                      </a:r>
                    </a:p>
                  </a:txBody>
                  <a:tcPr marL="54864" marR="54864" marT="27432" marB="27432" anchor="ctr">
                    <a:solidFill>
                      <a:srgbClr val="CBDCE4"/>
                    </a:solidFill>
                  </a:tcPr>
                </a:tc>
                <a:tc>
                  <a:txBody>
                    <a:bodyPr wrap="square"/>
                    <a:lstStyle/>
                    <a:p>
                      <a:pPr algn="ctr"/>
                      <a:r>
                        <a:rPr sz="1300" b="1" i="0">
                          <a:solidFill>
                            <a:srgbClr val="1F2A36"/>
                          </a:solidFill>
                          <a:latin typeface="Times New Roman"/>
                        </a:rPr>
                        <a:t>Key idea / relevance</a:t>
                      </a:r>
                    </a:p>
                  </a:txBody>
                  <a:tcPr marL="54864" marR="54864" marT="27432" marB="27432" anchor="ctr">
                    <a:solidFill>
                      <a:srgbClr val="CBDCE4"/>
                    </a:solidFill>
                  </a:tcPr>
                </a:tc>
              </a:tr>
              <a:tr h="457200">
                <a:tc>
                  <a:txBody>
                    <a:bodyPr wrap="square"/>
                    <a:lstStyle/>
                    <a:p>
                      <a:pPr algn="ctr"/>
                      <a:r>
                        <a:rPr sz="1300" b="0" i="0">
                          <a:solidFill>
                            <a:srgbClr val="1F2A36"/>
                          </a:solidFill>
                          <a:latin typeface="Times New Roman"/>
                        </a:rPr>
                        <a:t>[1]</a:t>
                      </a:r>
                    </a:p>
                  </a:txBody>
                  <a:tcPr marL="54864" marR="54864" marT="27432" marB="27432" anchor="ctr">
                    <a:solidFill>
                      <a:srgbClr val="FFFFFF"/>
                    </a:solidFill>
                  </a:tcPr>
                </a:tc>
                <a:tc>
                  <a:txBody>
                    <a:bodyPr wrap="square"/>
                    <a:lstStyle/>
                    <a:p>
                      <a:pPr algn="l"/>
                      <a:r>
                        <a:rPr sz="1300" b="0" i="0">
                          <a:solidFill>
                            <a:srgbClr val="1F2A36"/>
                          </a:solidFill>
                          <a:latin typeface="Times New Roman"/>
                        </a:rPr>
                        <a:t>Liakos et al. (2018)</a:t>
                      </a:r>
                    </a:p>
                  </a:txBody>
                  <a:tcPr marL="54864" marR="54864" marT="27432" marB="27432" anchor="ctr">
                    <a:solidFill>
                      <a:srgbClr val="FFFFFF"/>
                    </a:solidFill>
                  </a:tcPr>
                </a:tc>
                <a:tc>
                  <a:txBody>
                    <a:bodyPr wrap="square"/>
                    <a:lstStyle/>
                    <a:p>
                      <a:pPr algn="l"/>
                      <a:r>
                        <a:rPr sz="1300" b="0" i="0">
                          <a:solidFill>
                            <a:srgbClr val="1F2A36"/>
                          </a:solidFill>
                          <a:latin typeface="Times New Roman"/>
                        </a:rPr>
                        <a:t>Review: ML in agriculture</a:t>
                      </a:r>
                    </a:p>
                  </a:txBody>
                  <a:tcPr marL="54864" marR="54864" marT="27432" marB="27432" anchor="ctr">
                    <a:solidFill>
                      <a:srgbClr val="FFFFFF"/>
                    </a:solidFill>
                  </a:tcPr>
                </a:tc>
                <a:tc>
                  <a:txBody>
                    <a:bodyPr wrap="square"/>
                    <a:lstStyle/>
                    <a:p>
                      <a:pPr algn="l"/>
                      <a:r>
                        <a:rPr sz="1300" b="0" i="0">
                          <a:solidFill>
                            <a:srgbClr val="1F2A36"/>
                          </a:solidFill>
                          <a:latin typeface="Times New Roman"/>
                        </a:rPr>
                        <a:t>Groups work into crop, livestock, water and soil management</a:t>
                      </a:r>
                    </a:p>
                  </a:txBody>
                  <a:tcPr marL="54864" marR="54864" marT="27432" marB="27432" anchor="ctr">
                    <a:solidFill>
                      <a:srgbClr val="FFFFFF"/>
                    </a:solidFill>
                  </a:tcPr>
                </a:tc>
              </a:tr>
              <a:tr h="457200">
                <a:tc>
                  <a:txBody>
                    <a:bodyPr wrap="square"/>
                    <a:lstStyle/>
                    <a:p>
                      <a:pPr algn="ctr"/>
                      <a:r>
                        <a:rPr sz="1300" b="0" i="0">
                          <a:solidFill>
                            <a:srgbClr val="1F2A36"/>
                          </a:solidFill>
                          <a:latin typeface="Times New Roman"/>
                        </a:rPr>
                        <a:t>[2]</a:t>
                      </a:r>
                    </a:p>
                  </a:txBody>
                  <a:tcPr marL="54864" marR="54864" marT="27432" marB="27432" anchor="ctr">
                    <a:solidFill>
                      <a:srgbClr val="F1F5F8"/>
                    </a:solidFill>
                  </a:tcPr>
                </a:tc>
                <a:tc>
                  <a:txBody>
                    <a:bodyPr wrap="square"/>
                    <a:lstStyle/>
                    <a:p>
                      <a:pPr algn="l"/>
                      <a:r>
                        <a:rPr sz="1300" b="0" i="0">
                          <a:solidFill>
                            <a:srgbClr val="1F2A36"/>
                          </a:solidFill>
                          <a:latin typeface="Times New Roman"/>
                        </a:rPr>
                        <a:t>van Klompenburg et al. (2020)</a:t>
                      </a:r>
                    </a:p>
                  </a:txBody>
                  <a:tcPr marL="54864" marR="54864" marT="27432" marB="27432" anchor="ctr">
                    <a:solidFill>
                      <a:srgbClr val="F1F5F8"/>
                    </a:solidFill>
                  </a:tcPr>
                </a:tc>
                <a:tc>
                  <a:txBody>
                    <a:bodyPr wrap="square"/>
                    <a:lstStyle/>
                    <a:p>
                      <a:pPr algn="l"/>
                      <a:r>
                        <a:rPr sz="1300" b="0" i="0">
                          <a:solidFill>
                            <a:srgbClr val="1F2A36"/>
                          </a:solidFill>
                          <a:latin typeface="Times New Roman"/>
                        </a:rPr>
                        <a:t>Review: crop yield prediction</a:t>
                      </a:r>
                    </a:p>
                  </a:txBody>
                  <a:tcPr marL="54864" marR="54864" marT="27432" marB="27432" anchor="ctr">
                    <a:solidFill>
                      <a:srgbClr val="F1F5F8"/>
                    </a:solidFill>
                  </a:tcPr>
                </a:tc>
                <a:tc>
                  <a:txBody>
                    <a:bodyPr wrap="square"/>
                    <a:lstStyle/>
                    <a:p>
                      <a:pPr algn="l"/>
                      <a:r>
                        <a:rPr sz="1300" b="0" i="0">
                          <a:solidFill>
                            <a:srgbClr val="1F2A36"/>
                          </a:solidFill>
                          <a:latin typeface="Times New Roman"/>
                        </a:rPr>
                        <a:t>Temperature, rainfall and soil type among the most used features</a:t>
                      </a:r>
                    </a:p>
                  </a:txBody>
                  <a:tcPr marL="54864" marR="54864" marT="27432" marB="27432" anchor="ctr">
                    <a:solidFill>
                      <a:srgbClr val="F1F5F8"/>
                    </a:solidFill>
                  </a:tcPr>
                </a:tc>
              </a:tr>
              <a:tr h="457200">
                <a:tc>
                  <a:txBody>
                    <a:bodyPr wrap="square"/>
                    <a:lstStyle/>
                    <a:p>
                      <a:pPr algn="ctr"/>
                      <a:r>
                        <a:rPr sz="1300" b="0" i="0">
                          <a:solidFill>
                            <a:srgbClr val="1F2A36"/>
                          </a:solidFill>
                          <a:latin typeface="Times New Roman"/>
                        </a:rPr>
                        <a:t>[3]</a:t>
                      </a:r>
                    </a:p>
                  </a:txBody>
                  <a:tcPr marL="54864" marR="54864" marT="27432" marB="27432" anchor="ctr">
                    <a:solidFill>
                      <a:srgbClr val="FFFFFF"/>
                    </a:solidFill>
                  </a:tcPr>
                </a:tc>
                <a:tc>
                  <a:txBody>
                    <a:bodyPr wrap="square"/>
                    <a:lstStyle/>
                    <a:p>
                      <a:pPr algn="l"/>
                      <a:r>
                        <a:rPr sz="1300" b="0" i="0">
                          <a:solidFill>
                            <a:srgbClr val="1F2A36"/>
                          </a:solidFill>
                          <a:latin typeface="Times New Roman"/>
                        </a:rPr>
                        <a:t>Kumar et al. (2015)</a:t>
                      </a:r>
                    </a:p>
                  </a:txBody>
                  <a:tcPr marL="54864" marR="54864" marT="27432" marB="27432" anchor="ctr">
                    <a:solidFill>
                      <a:srgbClr val="FFFFFF"/>
                    </a:solidFill>
                  </a:tcPr>
                </a:tc>
                <a:tc>
                  <a:txBody>
                    <a:bodyPr wrap="square"/>
                    <a:lstStyle/>
                    <a:p>
                      <a:pPr algn="l"/>
                      <a:r>
                        <a:rPr sz="1300" b="0" i="0">
                          <a:solidFill>
                            <a:srgbClr val="1F2A36"/>
                          </a:solidFill>
                          <a:latin typeface="Times New Roman"/>
                        </a:rPr>
                        <a:t>Crop selection method</a:t>
                      </a:r>
                    </a:p>
                  </a:txBody>
                  <a:tcPr marL="54864" marR="54864" marT="27432" marB="27432" anchor="ctr">
                    <a:solidFill>
                      <a:srgbClr val="FFFFFF"/>
                    </a:solidFill>
                  </a:tcPr>
                </a:tc>
                <a:tc>
                  <a:txBody>
                    <a:bodyPr wrap="square"/>
                    <a:lstStyle/>
                    <a:p>
                      <a:pPr algn="l"/>
                      <a:r>
                        <a:rPr sz="1300" b="0" i="0">
                          <a:solidFill>
                            <a:srgbClr val="1F2A36"/>
                          </a:solidFill>
                          <a:latin typeface="Times New Roman"/>
                        </a:rPr>
                        <a:t>Chooses a crop sequence to improve the yield rate</a:t>
                      </a:r>
                    </a:p>
                  </a:txBody>
                  <a:tcPr marL="54864" marR="54864" marT="27432" marB="27432" anchor="ctr">
                    <a:solidFill>
                      <a:srgbClr val="FFFFFF"/>
                    </a:solidFill>
                  </a:tcPr>
                </a:tc>
              </a:tr>
              <a:tr h="457200">
                <a:tc>
                  <a:txBody>
                    <a:bodyPr wrap="square"/>
                    <a:lstStyle/>
                    <a:p>
                      <a:pPr algn="ctr"/>
                      <a:r>
                        <a:rPr sz="1300" b="0" i="0">
                          <a:solidFill>
                            <a:srgbClr val="1F2A36"/>
                          </a:solidFill>
                          <a:latin typeface="Times New Roman"/>
                        </a:rPr>
                        <a:t>[4]</a:t>
                      </a:r>
                    </a:p>
                  </a:txBody>
                  <a:tcPr marL="54864" marR="54864" marT="27432" marB="27432" anchor="ctr">
                    <a:solidFill>
                      <a:srgbClr val="F1F5F8"/>
                    </a:solidFill>
                  </a:tcPr>
                </a:tc>
                <a:tc>
                  <a:txBody>
                    <a:bodyPr wrap="square"/>
                    <a:lstStyle/>
                    <a:p>
                      <a:pPr algn="l"/>
                      <a:r>
                        <a:rPr sz="1300" b="0" i="0">
                          <a:solidFill>
                            <a:srgbClr val="1F2A36"/>
                          </a:solidFill>
                          <a:latin typeface="Times New Roman"/>
                        </a:rPr>
                        <a:t>Pudumalar et al. (2017)</a:t>
                      </a:r>
                    </a:p>
                  </a:txBody>
                  <a:tcPr marL="54864" marR="54864" marT="27432" marB="27432" anchor="ctr">
                    <a:solidFill>
                      <a:srgbClr val="F1F5F8"/>
                    </a:solidFill>
                  </a:tcPr>
                </a:tc>
                <a:tc>
                  <a:txBody>
                    <a:bodyPr wrap="square"/>
                    <a:lstStyle/>
                    <a:p>
                      <a:pPr algn="l"/>
                      <a:r>
                        <a:rPr sz="1300" b="0" i="0">
                          <a:solidFill>
                            <a:srgbClr val="1F2A36"/>
                          </a:solidFill>
                          <a:latin typeface="Times New Roman"/>
                        </a:rPr>
                        <a:t>Ensemble crop recommender</a:t>
                      </a:r>
                    </a:p>
                  </a:txBody>
                  <a:tcPr marL="54864" marR="54864" marT="27432" marB="27432" anchor="ctr">
                    <a:solidFill>
                      <a:srgbClr val="F1F5F8"/>
                    </a:solidFill>
                  </a:tcPr>
                </a:tc>
                <a:tc>
                  <a:txBody>
                    <a:bodyPr wrap="square"/>
                    <a:lstStyle/>
                    <a:p>
                      <a:pPr algn="l"/>
                      <a:r>
                        <a:rPr sz="1300" b="0" i="0">
                          <a:solidFill>
                            <a:srgbClr val="1F2A36"/>
                          </a:solidFill>
                          <a:latin typeface="Times New Roman"/>
                        </a:rPr>
                        <a:t>Combines several classifiers on soil data</a:t>
                      </a:r>
                    </a:p>
                  </a:txBody>
                  <a:tcPr marL="54864" marR="54864" marT="27432" marB="27432" anchor="ctr">
                    <a:solidFill>
                      <a:srgbClr val="F1F5F8"/>
                    </a:solidFill>
                  </a:tcPr>
                </a:tc>
              </a:tr>
              <a:tr h="457200">
                <a:tc>
                  <a:txBody>
                    <a:bodyPr wrap="square"/>
                    <a:lstStyle/>
                    <a:p>
                      <a:pPr algn="ctr"/>
                      <a:r>
                        <a:rPr sz="1300" b="0" i="0">
                          <a:solidFill>
                            <a:srgbClr val="1F2A36"/>
                          </a:solidFill>
                          <a:latin typeface="Times New Roman"/>
                        </a:rPr>
                        <a:t>[5]</a:t>
                      </a:r>
                    </a:p>
                  </a:txBody>
                  <a:tcPr marL="54864" marR="54864" marT="27432" marB="27432" anchor="ctr">
                    <a:solidFill>
                      <a:srgbClr val="FFFFFF"/>
                    </a:solidFill>
                  </a:tcPr>
                </a:tc>
                <a:tc>
                  <a:txBody>
                    <a:bodyPr wrap="square"/>
                    <a:lstStyle/>
                    <a:p>
                      <a:pPr algn="l"/>
                      <a:r>
                        <a:rPr sz="1300" b="0" i="0">
                          <a:solidFill>
                            <a:srgbClr val="1F2A36"/>
                          </a:solidFill>
                          <a:latin typeface="Times New Roman"/>
                        </a:rPr>
                        <a:t>Doshi et al. (2018)</a:t>
                      </a:r>
                    </a:p>
                  </a:txBody>
                  <a:tcPr marL="54864" marR="54864" marT="27432" marB="27432" anchor="ctr">
                    <a:solidFill>
                      <a:srgbClr val="FFFFFF"/>
                    </a:solidFill>
                  </a:tcPr>
                </a:tc>
                <a:tc>
                  <a:txBody>
                    <a:bodyPr wrap="square"/>
                    <a:lstStyle/>
                    <a:p>
                      <a:pPr algn="l"/>
                      <a:r>
                        <a:rPr sz="1300" b="0" i="0">
                          <a:solidFill>
                            <a:srgbClr val="1F2A36"/>
                          </a:solidFill>
                          <a:latin typeface="Times New Roman"/>
                        </a:rPr>
                        <a:t>AgroConsultant</a:t>
                      </a:r>
                    </a:p>
                  </a:txBody>
                  <a:tcPr marL="54864" marR="54864" marT="27432" marB="27432" anchor="ctr">
                    <a:solidFill>
                      <a:srgbClr val="FFFFFF"/>
                    </a:solidFill>
                  </a:tcPr>
                </a:tc>
                <a:tc>
                  <a:txBody>
                    <a:bodyPr wrap="square"/>
                    <a:lstStyle/>
                    <a:p>
                      <a:pPr algn="l"/>
                      <a:r>
                        <a:rPr sz="1300" b="0" i="0">
                          <a:solidFill>
                            <a:srgbClr val="1F2A36"/>
                          </a:solidFill>
                          <a:latin typeface="Times New Roman"/>
                        </a:rPr>
                        <a:t>Compares classifiers using soil and climate inputs</a:t>
                      </a:r>
                    </a:p>
                  </a:txBody>
                  <a:tcPr marL="54864" marR="54864" marT="27432" marB="27432" anchor="ctr">
                    <a:solidFill>
                      <a:srgbClr val="FFFFFF"/>
                    </a:solidFill>
                  </a:tcPr>
                </a:tc>
              </a:tr>
              <a:tr h="457200">
                <a:tc>
                  <a:txBody>
                    <a:bodyPr wrap="square"/>
                    <a:lstStyle/>
                    <a:p>
                      <a:pPr algn="ctr"/>
                      <a:r>
                        <a:rPr sz="1300" b="0" i="0">
                          <a:solidFill>
                            <a:srgbClr val="1F2A36"/>
                          </a:solidFill>
                          <a:latin typeface="Times New Roman"/>
                        </a:rPr>
                        <a:t>[6]</a:t>
                      </a:r>
                    </a:p>
                  </a:txBody>
                  <a:tcPr marL="54864" marR="54864" marT="27432" marB="27432" anchor="ctr">
                    <a:solidFill>
                      <a:srgbClr val="F1F5F8"/>
                    </a:solidFill>
                  </a:tcPr>
                </a:tc>
                <a:tc>
                  <a:txBody>
                    <a:bodyPr wrap="square"/>
                    <a:lstStyle/>
                    <a:p>
                      <a:pPr algn="l"/>
                      <a:r>
                        <a:rPr sz="1300" b="0" i="0">
                          <a:solidFill>
                            <a:srgbClr val="1F2A36"/>
                          </a:solidFill>
                          <a:latin typeface="Times New Roman"/>
                        </a:rPr>
                        <a:t>Harvestify (GitHub)</a:t>
                      </a:r>
                    </a:p>
                  </a:txBody>
                  <a:tcPr marL="54864" marR="54864" marT="27432" marB="27432" anchor="ctr">
                    <a:solidFill>
                      <a:srgbClr val="F1F5F8"/>
                    </a:solidFill>
                  </a:tcPr>
                </a:tc>
                <a:tc>
                  <a:txBody>
                    <a:bodyPr wrap="square"/>
                    <a:lstStyle/>
                    <a:p>
                      <a:pPr algn="l"/>
                      <a:r>
                        <a:rPr sz="1300" b="0" i="0">
                          <a:solidFill>
                            <a:srgbClr val="1F2A36"/>
                          </a:solidFill>
                          <a:latin typeface="Times New Roman"/>
                        </a:rPr>
                        <a:t>Crop and fertilizer web app</a:t>
                      </a:r>
                    </a:p>
                  </a:txBody>
                  <a:tcPr marL="54864" marR="54864" marT="27432" marB="27432" anchor="ctr">
                    <a:solidFill>
                      <a:srgbClr val="F1F5F8"/>
                    </a:solidFill>
                  </a:tcPr>
                </a:tc>
                <a:tc>
                  <a:txBody>
                    <a:bodyPr wrap="square"/>
                    <a:lstStyle/>
                    <a:p>
                      <a:pPr algn="l"/>
                      <a:r>
                        <a:rPr sz="1300" b="0" i="0">
                          <a:solidFill>
                            <a:srgbClr val="1F2A36"/>
                          </a:solidFill>
                          <a:latin typeface="Times New Roman"/>
                        </a:rPr>
                        <a:t>Source of our crop dataset and crop nutrient table</a:t>
                      </a:r>
                    </a:p>
                  </a:txBody>
                  <a:tcPr marL="54864" marR="54864" marT="27432" marB="27432" anchor="ctr">
                    <a:solidFill>
                      <a:srgbClr val="F1F5F8"/>
                    </a:solidFill>
                  </a:tcPr>
                </a:tc>
              </a:tr>
              <a:tr h="457200">
                <a:tc>
                  <a:txBody>
                    <a:bodyPr wrap="square"/>
                    <a:lstStyle/>
                    <a:p>
                      <a:pPr algn="ctr"/>
                      <a:r>
                        <a:rPr sz="1300" b="0" i="0">
                          <a:solidFill>
                            <a:srgbClr val="1F2A36"/>
                          </a:solidFill>
                          <a:latin typeface="Times New Roman"/>
                        </a:rPr>
                        <a:t>[7]</a:t>
                      </a:r>
                    </a:p>
                  </a:txBody>
                  <a:tcPr marL="54864" marR="54864" marT="27432" marB="27432" anchor="ctr">
                    <a:solidFill>
                      <a:srgbClr val="FFFFFF"/>
                    </a:solidFill>
                  </a:tcPr>
                </a:tc>
                <a:tc>
                  <a:txBody>
                    <a:bodyPr wrap="square"/>
                    <a:lstStyle/>
                    <a:p>
                      <a:pPr algn="l"/>
                      <a:r>
                        <a:rPr sz="1300" b="0" i="0">
                          <a:solidFill>
                            <a:srgbClr val="1F2A36"/>
                          </a:solidFill>
                          <a:latin typeface="Times New Roman"/>
                        </a:rPr>
                        <a:t>Lundberg and Lee (2017)</a:t>
                      </a:r>
                    </a:p>
                  </a:txBody>
                  <a:tcPr marL="54864" marR="54864" marT="27432" marB="27432" anchor="ctr">
                    <a:solidFill>
                      <a:srgbClr val="FFFFFF"/>
                    </a:solidFill>
                  </a:tcPr>
                </a:tc>
                <a:tc>
                  <a:txBody>
                    <a:bodyPr wrap="square"/>
                    <a:lstStyle/>
                    <a:p>
                      <a:pPr algn="l"/>
                      <a:r>
                        <a:rPr sz="1300" b="0" i="0">
                          <a:solidFill>
                            <a:srgbClr val="1F2A36"/>
                          </a:solidFill>
                          <a:latin typeface="Times New Roman"/>
                        </a:rPr>
                        <a:t>SHAP</a:t>
                      </a:r>
                    </a:p>
                  </a:txBody>
                  <a:tcPr marL="54864" marR="54864" marT="27432" marB="27432" anchor="ctr">
                    <a:solidFill>
                      <a:srgbClr val="FFFFFF"/>
                    </a:solidFill>
                  </a:tcPr>
                </a:tc>
                <a:tc>
                  <a:txBody>
                    <a:bodyPr wrap="square"/>
                    <a:lstStyle/>
                    <a:p>
                      <a:pPr algn="l"/>
                      <a:r>
                        <a:rPr sz="1300" b="0" i="0">
                          <a:solidFill>
                            <a:srgbClr val="1F2A36"/>
                          </a:solidFill>
                          <a:latin typeface="Times New Roman"/>
                        </a:rPr>
                        <a:t>Splits a prediction into feature contributions</a:t>
                      </a:r>
                    </a:p>
                  </a:txBody>
                  <a:tcPr marL="54864" marR="54864" marT="27432" marB="27432" anchor="ctr">
                    <a:solidFill>
                      <a:srgbClr val="FFFFFF"/>
                    </a:solidFill>
                  </a:tcPr>
                </a:tc>
              </a:tr>
              <a:tr h="457200">
                <a:tc>
                  <a:txBody>
                    <a:bodyPr wrap="square"/>
                    <a:lstStyle/>
                    <a:p>
                      <a:pPr algn="ctr"/>
                      <a:r>
                        <a:rPr sz="1300" b="0" i="0">
                          <a:solidFill>
                            <a:srgbClr val="1F2A36"/>
                          </a:solidFill>
                          <a:latin typeface="Times New Roman"/>
                        </a:rPr>
                        <a:t>[8]</a:t>
                      </a:r>
                    </a:p>
                  </a:txBody>
                  <a:tcPr marL="54864" marR="54864" marT="27432" marB="27432" anchor="ctr">
                    <a:solidFill>
                      <a:srgbClr val="F1F5F8"/>
                    </a:solidFill>
                  </a:tcPr>
                </a:tc>
                <a:tc>
                  <a:txBody>
                    <a:bodyPr wrap="square"/>
                    <a:lstStyle/>
                    <a:p>
                      <a:pPr algn="l"/>
                      <a:r>
                        <a:rPr sz="1300" b="0" i="0">
                          <a:solidFill>
                            <a:srgbClr val="1F2A36"/>
                          </a:solidFill>
                          <a:latin typeface="Times New Roman"/>
                        </a:rPr>
                        <a:t>Ribeiro et al. (2016)</a:t>
                      </a:r>
                    </a:p>
                  </a:txBody>
                  <a:tcPr marL="54864" marR="54864" marT="27432" marB="27432" anchor="ctr">
                    <a:solidFill>
                      <a:srgbClr val="F1F5F8"/>
                    </a:solidFill>
                  </a:tcPr>
                </a:tc>
                <a:tc>
                  <a:txBody>
                    <a:bodyPr wrap="square"/>
                    <a:lstStyle/>
                    <a:p>
                      <a:pPr algn="l"/>
                      <a:r>
                        <a:rPr sz="1300" b="0" i="0">
                          <a:solidFill>
                            <a:srgbClr val="1F2A36"/>
                          </a:solidFill>
                          <a:latin typeface="Times New Roman"/>
                        </a:rPr>
                        <a:t>LIME</a:t>
                      </a:r>
                    </a:p>
                  </a:txBody>
                  <a:tcPr marL="54864" marR="54864" marT="27432" marB="27432" anchor="ctr">
                    <a:solidFill>
                      <a:srgbClr val="F1F5F8"/>
                    </a:solidFill>
                  </a:tcPr>
                </a:tc>
                <a:tc>
                  <a:txBody>
                    <a:bodyPr wrap="square"/>
                    <a:lstStyle/>
                    <a:p>
                      <a:pPr algn="l"/>
                      <a:r>
                        <a:rPr sz="1300" b="0" i="0">
                          <a:solidFill>
                            <a:srgbClr val="1F2A36"/>
                          </a:solidFill>
                          <a:latin typeface="Times New Roman"/>
                        </a:rPr>
                        <a:t>Explains one prediction with a local linear model</a:t>
                      </a:r>
                    </a:p>
                  </a:txBody>
                  <a:tcPr marL="54864" marR="54864" marT="27432" marB="27432" anchor="ctr">
                    <a:solidFill>
                      <a:srgbClr val="F1F5F8"/>
                    </a:solidFill>
                  </a:tcPr>
                </a:tc>
              </a:tr>
              <a:tr h="457200">
                <a:tc>
                  <a:txBody>
                    <a:bodyPr wrap="square"/>
                    <a:lstStyle/>
                    <a:p>
                      <a:pPr algn="ctr"/>
                      <a:r>
                        <a:rPr sz="1300" b="0" i="0">
                          <a:solidFill>
                            <a:srgbClr val="1F2A36"/>
                          </a:solidFill>
                          <a:latin typeface="Times New Roman"/>
                        </a:rPr>
                        <a:t>[9]</a:t>
                      </a:r>
                    </a:p>
                  </a:txBody>
                  <a:tcPr marL="54864" marR="54864" marT="27432" marB="27432" anchor="ctr">
                    <a:solidFill>
                      <a:srgbClr val="FFFFFF"/>
                    </a:solidFill>
                  </a:tcPr>
                </a:tc>
                <a:tc>
                  <a:txBody>
                    <a:bodyPr wrap="square"/>
                    <a:lstStyle/>
                    <a:p>
                      <a:pPr algn="l"/>
                      <a:r>
                        <a:rPr sz="1300" b="0" i="0">
                          <a:solidFill>
                            <a:srgbClr val="1F2A36"/>
                          </a:solidFill>
                          <a:latin typeface="Times New Roman"/>
                        </a:rPr>
                        <a:t>Ryo (2022)</a:t>
                      </a:r>
                    </a:p>
                  </a:txBody>
                  <a:tcPr marL="54864" marR="54864" marT="27432" marB="27432" anchor="ctr">
                    <a:solidFill>
                      <a:srgbClr val="FFFFFF"/>
                    </a:solidFill>
                  </a:tcPr>
                </a:tc>
                <a:tc>
                  <a:txBody>
                    <a:bodyPr wrap="square"/>
                    <a:lstStyle/>
                    <a:p>
                      <a:pPr algn="l"/>
                      <a:r>
                        <a:rPr sz="1300" b="0" i="0">
                          <a:solidFill>
                            <a:srgbClr val="1F2A36"/>
                          </a:solidFill>
                          <a:latin typeface="Times New Roman"/>
                        </a:rPr>
                        <a:t>Explainable AI in agriculture</a:t>
                      </a:r>
                    </a:p>
                  </a:txBody>
                  <a:tcPr marL="54864" marR="54864" marT="27432" marB="27432" anchor="ctr">
                    <a:solidFill>
                      <a:srgbClr val="FFFFFF"/>
                    </a:solidFill>
                  </a:tcPr>
                </a:tc>
                <a:tc>
                  <a:txBody>
                    <a:bodyPr wrap="square"/>
                    <a:lstStyle/>
                    <a:p>
                      <a:pPr algn="l"/>
                      <a:r>
                        <a:rPr sz="1300" b="0" i="0">
                          <a:solidFill>
                            <a:srgbClr val="1F2A36"/>
                          </a:solidFill>
                          <a:latin typeface="Times New Roman"/>
                        </a:rPr>
                        <a:t>Explainable ML for agricultural data analysis</a:t>
                      </a:r>
                    </a:p>
                  </a:txBody>
                  <a:tcPr marL="54864" marR="54864" marT="27432" marB="27432" anchor="ctr">
                    <a:solidFill>
                      <a:srgbClr val="FFFFFF"/>
                    </a:solidFill>
                  </a:tcPr>
                </a:tc>
              </a:tr>
            </a:tbl>
          </a:graphicData>
        </a:graphic>
      </p:graphicFrame>
      <p:sp>
        <p:nvSpPr>
          <p:cNvPr id="4"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Research Gap</a:t>
            </a:r>
          </a:p>
        </p:txBody>
      </p:sp>
      <p:sp>
        <p:nvSpPr>
          <p:cNvPr id="3" name="TextBox 2"/>
          <p:cNvSpPr txBox="1"/>
          <p:nvPr/>
        </p:nvSpPr>
        <p:spPr>
          <a:xfrm>
            <a:off x="448056" y="1188720"/>
            <a:ext cx="3657600" cy="365760"/>
          </a:xfrm>
          <a:prstGeom prst="rect">
            <a:avLst/>
          </a:prstGeom>
          <a:noFill/>
        </p:spPr>
        <p:txBody>
          <a:bodyPr wrap="square" lIns="45720" rIns="45720" tIns="27432" bIns="27432" anchor="t">
            <a:spAutoFit/>
          </a:bodyPr>
          <a:lstStyle/>
          <a:p>
            <a:pPr algn="ctr">
              <a:spcAft>
                <a:spcPts val="400"/>
              </a:spcAft>
            </a:pPr>
            <a:r>
              <a:rPr sz="1700" b="1" i="0">
                <a:solidFill>
                  <a:srgbClr val="1F2A36"/>
                </a:solidFill>
                <a:latin typeface="Bookman Old Style"/>
              </a:rPr>
              <a:t>What earlier work does</a:t>
            </a:r>
          </a:p>
        </p:txBody>
      </p:sp>
      <p:sp>
        <p:nvSpPr>
          <p:cNvPr id="4" name="TextBox 3"/>
          <p:cNvSpPr txBox="1"/>
          <p:nvPr/>
        </p:nvSpPr>
        <p:spPr>
          <a:xfrm>
            <a:off x="5020056" y="1188720"/>
            <a:ext cx="3657600" cy="365760"/>
          </a:xfrm>
          <a:prstGeom prst="rect">
            <a:avLst/>
          </a:prstGeom>
          <a:noFill/>
        </p:spPr>
        <p:txBody>
          <a:bodyPr wrap="square" lIns="45720" rIns="45720" tIns="27432" bIns="27432" anchor="t">
            <a:spAutoFit/>
          </a:bodyPr>
          <a:lstStyle/>
          <a:p>
            <a:pPr algn="ctr">
              <a:spcAft>
                <a:spcPts val="400"/>
              </a:spcAft>
            </a:pPr>
            <a:r>
              <a:rPr sz="1700" b="1" i="0">
                <a:solidFill>
                  <a:srgbClr val="1F2A36"/>
                </a:solidFill>
                <a:latin typeface="Bookman Old Style"/>
              </a:rPr>
              <a:t>What our project does</a:t>
            </a:r>
          </a:p>
        </p:txBody>
      </p:sp>
      <p:sp>
        <p:nvSpPr>
          <p:cNvPr id="5" name="Rounded Rectangle 4"/>
          <p:cNvSpPr/>
          <p:nvPr/>
        </p:nvSpPr>
        <p:spPr>
          <a:xfrm>
            <a:off x="448056" y="1691640"/>
            <a:ext cx="3657600" cy="1234440"/>
          </a:xfrm>
          <a:prstGeom prst="roundRect">
            <a:avLst>
              <a:gd name="adj" fmla="val 12000"/>
            </a:avLst>
          </a:prstGeom>
          <a:gradFill rotWithShape="1">
            <a:gsLst>
              <a:gs pos="0">
                <a:srgbClr val="EDEBF6"/>
              </a:gs>
              <a:gs pos="100000">
                <a:srgbClr val="D1CCE3"/>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600" b="0" i="0">
                <a:solidFill>
                  <a:srgbClr val="1F2A36"/>
                </a:solidFill>
                <a:latin typeface="Times New Roman"/>
              </a:rPr>
              <a:t>Models compared on different splits, usually by accuracy only</a:t>
            </a:r>
          </a:p>
        </p:txBody>
      </p:sp>
      <p:sp>
        <p:nvSpPr>
          <p:cNvPr id="6" name="Right Arrow 5"/>
          <p:cNvSpPr/>
          <p:nvPr/>
        </p:nvSpPr>
        <p:spPr>
          <a:xfrm>
            <a:off x="4288536" y="2103120"/>
            <a:ext cx="548640" cy="411480"/>
          </a:xfrm>
          <a:prstGeom prst="rightArrow">
            <a:avLst/>
          </a:prstGeom>
          <a:solidFill>
            <a:srgbClr val="7A93A8"/>
          </a:solidFill>
          <a:ln>
            <a:noFill/>
          </a:ln>
        </p:spPr>
        <p:txBody>
          <a:bodyPr rtlCol="0" anchor="ctr"/>
          <a:lstStyle/>
          <a:p>
            <a:pPr algn="ctr"/>
          </a:p>
        </p:txBody>
      </p:sp>
      <p:sp>
        <p:nvSpPr>
          <p:cNvPr id="7" name="Rounded Rectangle 6"/>
          <p:cNvSpPr/>
          <p:nvPr/>
        </p:nvSpPr>
        <p:spPr>
          <a:xfrm>
            <a:off x="5020056" y="1691640"/>
            <a:ext cx="3657600" cy="1234440"/>
          </a:xfrm>
          <a:prstGeom prst="roundRect">
            <a:avLst>
              <a:gd name="adj" fmla="val 12000"/>
            </a:avLst>
          </a:prstGeom>
          <a:gradFill rotWithShape="1">
            <a:gsLst>
              <a:gs pos="0">
                <a:srgbClr val="E7F1E6"/>
              </a:gs>
              <a:gs pos="100000">
                <a:srgbClr val="CCE0CC"/>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600" b="0" i="0">
                <a:solidFill>
                  <a:srgbClr val="1F2A36"/>
                </a:solidFill>
                <a:latin typeface="Times New Roman"/>
              </a:rPr>
              <a:t>10 algorithms on the same split: accuracy, precision, recall, F1, cross-validation, time and an overfitting check</a:t>
            </a:r>
          </a:p>
        </p:txBody>
      </p:sp>
      <p:sp>
        <p:nvSpPr>
          <p:cNvPr id="8" name="Rounded Rectangle 7"/>
          <p:cNvSpPr/>
          <p:nvPr/>
        </p:nvSpPr>
        <p:spPr>
          <a:xfrm>
            <a:off x="448056" y="3154680"/>
            <a:ext cx="3657600" cy="1234440"/>
          </a:xfrm>
          <a:prstGeom prst="roundRect">
            <a:avLst>
              <a:gd name="adj" fmla="val 12000"/>
            </a:avLst>
          </a:prstGeom>
          <a:gradFill rotWithShape="1">
            <a:gsLst>
              <a:gs pos="0">
                <a:srgbClr val="EDEBF6"/>
              </a:gs>
              <a:gs pos="100000">
                <a:srgbClr val="D1CCE3"/>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600" b="0" i="0">
                <a:solidFill>
                  <a:srgbClr val="1F2A36"/>
                </a:solidFill>
                <a:latin typeface="Times New Roman"/>
              </a:rPr>
              <a:t>A crop name is given with no reason</a:t>
            </a:r>
          </a:p>
        </p:txBody>
      </p:sp>
      <p:sp>
        <p:nvSpPr>
          <p:cNvPr id="9" name="Right Arrow 8"/>
          <p:cNvSpPr/>
          <p:nvPr/>
        </p:nvSpPr>
        <p:spPr>
          <a:xfrm>
            <a:off x="4288536" y="3566160"/>
            <a:ext cx="548640" cy="411480"/>
          </a:xfrm>
          <a:prstGeom prst="rightArrow">
            <a:avLst/>
          </a:prstGeom>
          <a:solidFill>
            <a:srgbClr val="7A93A8"/>
          </a:solidFill>
          <a:ln>
            <a:noFill/>
          </a:ln>
        </p:spPr>
        <p:txBody>
          <a:bodyPr rtlCol="0" anchor="ctr"/>
          <a:lstStyle/>
          <a:p>
            <a:pPr algn="ctr"/>
          </a:p>
        </p:txBody>
      </p:sp>
      <p:sp>
        <p:nvSpPr>
          <p:cNvPr id="10" name="Rounded Rectangle 9"/>
          <p:cNvSpPr/>
          <p:nvPr/>
        </p:nvSpPr>
        <p:spPr>
          <a:xfrm>
            <a:off x="5020056" y="3154680"/>
            <a:ext cx="3657600" cy="1234440"/>
          </a:xfrm>
          <a:prstGeom prst="roundRect">
            <a:avLst>
              <a:gd name="adj" fmla="val 12000"/>
            </a:avLst>
          </a:prstGeom>
          <a:gradFill rotWithShape="1">
            <a:gsLst>
              <a:gs pos="0">
                <a:srgbClr val="E7F1E6"/>
              </a:gs>
              <a:gs pos="100000">
                <a:srgbClr val="CCE0CC"/>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600" b="0" i="0">
                <a:solidFill>
                  <a:srgbClr val="1F2A36"/>
                </a:solidFill>
                <a:latin typeface="Times New Roman"/>
              </a:rPr>
              <a:t>SHAP and LIME explain every recommendation: overall, per crop and per farmer</a:t>
            </a:r>
          </a:p>
        </p:txBody>
      </p:sp>
      <p:sp>
        <p:nvSpPr>
          <p:cNvPr id="11" name="Rounded Rectangle 10"/>
          <p:cNvSpPr/>
          <p:nvPr/>
        </p:nvSpPr>
        <p:spPr>
          <a:xfrm>
            <a:off x="448056" y="4617720"/>
            <a:ext cx="3657600" cy="1234440"/>
          </a:xfrm>
          <a:prstGeom prst="roundRect">
            <a:avLst>
              <a:gd name="adj" fmla="val 12000"/>
            </a:avLst>
          </a:prstGeom>
          <a:gradFill rotWithShape="1">
            <a:gsLst>
              <a:gs pos="0">
                <a:srgbClr val="EDEBF6"/>
              </a:gs>
              <a:gs pos="100000">
                <a:srgbClr val="D1CCE3"/>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600" b="0" i="0">
                <a:solidFill>
                  <a:srgbClr val="1F2A36"/>
                </a:solidFill>
                <a:latin typeface="Times New Roman"/>
              </a:rPr>
              <a:t>Fertilizer advice built as a separate project</a:t>
            </a:r>
          </a:p>
        </p:txBody>
      </p:sp>
      <p:sp>
        <p:nvSpPr>
          <p:cNvPr id="12" name="Right Arrow 11"/>
          <p:cNvSpPr/>
          <p:nvPr/>
        </p:nvSpPr>
        <p:spPr>
          <a:xfrm>
            <a:off x="4288536" y="5029200"/>
            <a:ext cx="548640" cy="411480"/>
          </a:xfrm>
          <a:prstGeom prst="rightArrow">
            <a:avLst/>
          </a:prstGeom>
          <a:solidFill>
            <a:srgbClr val="7A93A8"/>
          </a:solidFill>
          <a:ln>
            <a:noFill/>
          </a:ln>
        </p:spPr>
        <p:txBody>
          <a:bodyPr rtlCol="0" anchor="ctr"/>
          <a:lstStyle/>
          <a:p>
            <a:pPr algn="ctr"/>
          </a:p>
        </p:txBody>
      </p:sp>
      <p:sp>
        <p:nvSpPr>
          <p:cNvPr id="13" name="Rounded Rectangle 12"/>
          <p:cNvSpPr/>
          <p:nvPr/>
        </p:nvSpPr>
        <p:spPr>
          <a:xfrm>
            <a:off x="5020056" y="4617720"/>
            <a:ext cx="3657600" cy="1234440"/>
          </a:xfrm>
          <a:prstGeom prst="roundRect">
            <a:avLst>
              <a:gd name="adj" fmla="val 12000"/>
            </a:avLst>
          </a:prstGeom>
          <a:gradFill rotWithShape="1">
            <a:gsLst>
              <a:gs pos="0">
                <a:srgbClr val="E7F1E6"/>
              </a:gs>
              <a:gs pos="100000">
                <a:srgbClr val="CCE0CC"/>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600" b="0" i="0">
                <a:solidFill>
                  <a:srgbClr val="1F2A36"/>
                </a:solidFill>
                <a:latin typeface="Times New Roman"/>
              </a:rPr>
              <a:t>A fertilizer module linked to the recommended crop: ML model plus nutrient-gap rule</a:t>
            </a:r>
          </a:p>
        </p:txBody>
      </p:sp>
      <p:sp>
        <p:nvSpPr>
          <p:cNvPr id="14"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Problem Statement</a:t>
            </a:r>
          </a:p>
        </p:txBody>
      </p:sp>
      <p:sp>
        <p:nvSpPr>
          <p:cNvPr id="3" name="Rounded Rectangle 2"/>
          <p:cNvSpPr/>
          <p:nvPr/>
        </p:nvSpPr>
        <p:spPr>
          <a:xfrm>
            <a:off x="448056" y="1234440"/>
            <a:ext cx="8229600" cy="2011680"/>
          </a:xfrm>
          <a:prstGeom prst="roundRect">
            <a:avLst>
              <a:gd name="adj" fmla="val 12000"/>
            </a:avLst>
          </a:prstGeom>
          <a:gradFill rotWithShape="1">
            <a:gsLst>
              <a:gs pos="0">
                <a:srgbClr val="E8EEF4"/>
              </a:gs>
              <a:gs pos="100000">
                <a:srgbClr val="CDD9E6"/>
              </a:gs>
            </a:gsLst>
            <a:lin ang="5400000" scaled="0"/>
          </a:gradFill>
          <a:ln>
            <a:noFill/>
          </a:ln>
          <a:effectLst>
            <a:outerShdw blurRad="40000" dist="20000" dir="5400000" rotWithShape="0">
              <a:srgbClr val="000000">
                <a:alpha val="38000"/>
              </a:srgbClr>
            </a:outerShdw>
          </a:effectLst>
        </p:spPr>
        <p:txBody>
          <a:bodyPr rtlCol="0" anchor="ctr" wrap="square" lIns="274320" rIns="274320" tIns="91440" bIns="91440"/>
          <a:lstStyle/>
          <a:p>
            <a:pPr algn="l">
              <a:spcAft>
                <a:spcPts val="400"/>
              </a:spcAft>
            </a:pPr>
            <a:r>
              <a:rPr sz="2000" b="0" i="0">
                <a:solidFill>
                  <a:srgbClr val="1F2A36"/>
                </a:solidFill>
                <a:latin typeface="Times New Roman"/>
              </a:rPr>
              <a:t>Given the N, P, K and pH of a soil sample and the temperature, humidity and rainfall of the area, recommend the crops that best suit these conditions, explain which inputs led to the recommendation, and suggest how to correct the soil with fertilizer.</a:t>
            </a:r>
          </a:p>
        </p:txBody>
      </p:sp>
      <p:sp>
        <p:nvSpPr>
          <p:cNvPr id="4" name="Rounded Rectangle 3"/>
          <p:cNvSpPr/>
          <p:nvPr/>
        </p:nvSpPr>
        <p:spPr>
          <a:xfrm>
            <a:off x="448056" y="3703320"/>
            <a:ext cx="2377440" cy="2377440"/>
          </a:xfrm>
          <a:prstGeom prst="roundRect">
            <a:avLst>
              <a:gd name="adj" fmla="val 12000"/>
            </a:avLst>
          </a:prstGeom>
          <a:gradFill rotWithShape="1">
            <a:gsLst>
              <a:gs pos="0">
                <a:srgbClr val="EDEBF6"/>
              </a:gs>
              <a:gs pos="100000">
                <a:srgbClr val="D1CCE3"/>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ctr">
              <a:spcAft>
                <a:spcPts val="400"/>
              </a:spcAft>
            </a:pPr>
            <a:r>
              <a:rPr sz="1800" b="1" i="0">
                <a:solidFill>
                  <a:srgbClr val="1F2A36"/>
                </a:solidFill>
                <a:latin typeface="Bookman Old Style"/>
              </a:rPr>
              <a:t>Inputs</a:t>
            </a:r>
          </a:p>
          <a:p>
            <a:pPr algn="l" marL="201168" indent="-201168">
              <a:spcAft>
                <a:spcPts val="400"/>
              </a:spcAft>
              <a:buFont typeface="Arial"/>
              <a:buChar char="•"/>
            </a:pPr>
            <a:r>
              <a:rPr sz="1500" b="0" i="0">
                <a:solidFill>
                  <a:srgbClr val="1F2A36"/>
                </a:solidFill>
                <a:latin typeface="Times New Roman"/>
              </a:rPr>
              <a:t>Soil test: N, P, K, pH</a:t>
            </a:r>
          </a:p>
          <a:p>
            <a:pPr algn="l" marL="201168" indent="-201168">
              <a:spcAft>
                <a:spcPts val="400"/>
              </a:spcAft>
              <a:buFont typeface="Arial"/>
              <a:buChar char="•"/>
            </a:pPr>
            <a:r>
              <a:rPr sz="1500" b="0" i="0">
                <a:solidFill>
                  <a:srgbClr val="1F2A36"/>
                </a:solidFill>
                <a:latin typeface="Times New Roman"/>
              </a:rPr>
              <a:t>Weather: temperature, humidity, rainfall</a:t>
            </a:r>
          </a:p>
        </p:txBody>
      </p:sp>
      <p:sp>
        <p:nvSpPr>
          <p:cNvPr id="5" name="Right Arrow 4"/>
          <p:cNvSpPr/>
          <p:nvPr/>
        </p:nvSpPr>
        <p:spPr>
          <a:xfrm>
            <a:off x="2916936" y="4663440"/>
            <a:ext cx="411480" cy="457200"/>
          </a:xfrm>
          <a:prstGeom prst="rightArrow">
            <a:avLst/>
          </a:prstGeom>
          <a:solidFill>
            <a:srgbClr val="7A93A8"/>
          </a:solidFill>
          <a:ln>
            <a:noFill/>
          </a:ln>
        </p:spPr>
        <p:txBody>
          <a:bodyPr rtlCol="0" anchor="ctr"/>
          <a:lstStyle/>
          <a:p>
            <a:pPr algn="ctr"/>
          </a:p>
        </p:txBody>
      </p:sp>
      <p:sp>
        <p:nvSpPr>
          <p:cNvPr id="6" name="Rounded Rectangle 5"/>
          <p:cNvSpPr/>
          <p:nvPr/>
        </p:nvSpPr>
        <p:spPr>
          <a:xfrm>
            <a:off x="3419856" y="3703320"/>
            <a:ext cx="2286000" cy="2377440"/>
          </a:xfrm>
          <a:prstGeom prst="roundRect">
            <a:avLst>
              <a:gd name="adj" fmla="val 12000"/>
            </a:avLst>
          </a:prstGeom>
          <a:gradFill rotWithShape="1">
            <a:gsLst>
              <a:gs pos="0">
                <a:srgbClr val="E8F0F3"/>
              </a:gs>
              <a:gs pos="100000">
                <a:srgbClr val="CBDCE4"/>
              </a:gs>
            </a:gsLst>
            <a:lin ang="5400000" scaled="0"/>
          </a:gradFill>
          <a:ln w="19050">
            <a:solidFill>
              <a:srgbClr val="FFFFFF"/>
            </a:solidFill>
          </a:ln>
          <a:effectLst>
            <a:outerShdw blurRad="40000" dist="20000" dir="5400000" rotWithShape="0">
              <a:srgbClr val="000000">
                <a:alpha val="38000"/>
              </a:srgbClr>
            </a:outerShdw>
          </a:effectLst>
        </p:spPr>
        <p:txBody>
          <a:bodyPr rtlCol="0" anchor="ctr" wrap="square" lIns="109728" rIns="109728" tIns="54864" bIns="54864"/>
          <a:lstStyle/>
          <a:p>
            <a:pPr algn="ctr">
              <a:spcAft>
                <a:spcPts val="400"/>
              </a:spcAft>
            </a:pPr>
            <a:r>
              <a:rPr sz="1600" b="1" i="0">
                <a:solidFill>
                  <a:srgbClr val="1F2A36"/>
                </a:solidFill>
                <a:latin typeface="Bookman Old Style"/>
              </a:rPr>
              <a:t>Crop Recommendation System</a:t>
            </a:r>
          </a:p>
          <a:p>
            <a:pPr algn="ctr">
              <a:spcAft>
                <a:spcPts val="400"/>
              </a:spcAft>
            </a:pPr>
            <a:r>
              <a:rPr sz="1400" b="0" i="0">
                <a:solidFill>
                  <a:srgbClr val="1F2A36"/>
                </a:solidFill>
                <a:latin typeface="Times New Roman"/>
              </a:rPr>
              <a:t>ML model, XAI and fertilizer module</a:t>
            </a:r>
          </a:p>
        </p:txBody>
      </p:sp>
      <p:sp>
        <p:nvSpPr>
          <p:cNvPr id="7" name="Right Arrow 6"/>
          <p:cNvSpPr/>
          <p:nvPr/>
        </p:nvSpPr>
        <p:spPr>
          <a:xfrm>
            <a:off x="5797296" y="4663440"/>
            <a:ext cx="411480" cy="457200"/>
          </a:xfrm>
          <a:prstGeom prst="rightArrow">
            <a:avLst/>
          </a:prstGeom>
          <a:solidFill>
            <a:srgbClr val="7A93A8"/>
          </a:solidFill>
          <a:ln>
            <a:noFill/>
          </a:ln>
        </p:spPr>
        <p:txBody>
          <a:bodyPr rtlCol="0" anchor="ctr"/>
          <a:lstStyle/>
          <a:p>
            <a:pPr algn="ctr"/>
          </a:p>
        </p:txBody>
      </p:sp>
      <p:sp>
        <p:nvSpPr>
          <p:cNvPr id="8" name="Rounded Rectangle 7"/>
          <p:cNvSpPr/>
          <p:nvPr/>
        </p:nvSpPr>
        <p:spPr>
          <a:xfrm>
            <a:off x="6300216" y="3703320"/>
            <a:ext cx="2377440" cy="2377440"/>
          </a:xfrm>
          <a:prstGeom prst="roundRect">
            <a:avLst>
              <a:gd name="adj" fmla="val 12000"/>
            </a:avLst>
          </a:prstGeom>
          <a:gradFill rotWithShape="1">
            <a:gsLst>
              <a:gs pos="0">
                <a:srgbClr val="E7F1E6"/>
              </a:gs>
              <a:gs pos="100000">
                <a:srgbClr val="CCE0CC"/>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ctr">
              <a:spcAft>
                <a:spcPts val="400"/>
              </a:spcAft>
            </a:pPr>
            <a:r>
              <a:rPr sz="1800" b="1" i="0">
                <a:solidFill>
                  <a:srgbClr val="1F2A36"/>
                </a:solidFill>
                <a:latin typeface="Bookman Old Style"/>
              </a:rPr>
              <a:t>Outputs</a:t>
            </a:r>
          </a:p>
          <a:p>
            <a:pPr algn="l" marL="201168" indent="-201168">
              <a:spcAft>
                <a:spcPts val="400"/>
              </a:spcAft>
              <a:buFont typeface="Arial"/>
              <a:buChar char="•"/>
            </a:pPr>
            <a:r>
              <a:rPr sz="1500" b="0" i="0">
                <a:solidFill>
                  <a:srgbClr val="1F2A36"/>
                </a:solidFill>
                <a:latin typeface="Times New Roman"/>
              </a:rPr>
              <a:t>Top 3 crops with probabilities</a:t>
            </a:r>
          </a:p>
          <a:p>
            <a:pPr algn="l" marL="201168" indent="-201168">
              <a:spcAft>
                <a:spcPts val="400"/>
              </a:spcAft>
              <a:buFont typeface="Arial"/>
              <a:buChar char="•"/>
            </a:pPr>
            <a:r>
              <a:rPr sz="1500" b="0" i="0">
                <a:solidFill>
                  <a:srgbClr val="1F2A36"/>
                </a:solidFill>
                <a:latin typeface="Times New Roman"/>
              </a:rPr>
              <a:t>Reasons (SHAP, LIME)</a:t>
            </a:r>
          </a:p>
          <a:p>
            <a:pPr algn="l" marL="201168" indent="-201168">
              <a:spcAft>
                <a:spcPts val="400"/>
              </a:spcAft>
              <a:buFont typeface="Arial"/>
              <a:buChar char="•"/>
            </a:pPr>
            <a:r>
              <a:rPr sz="1500" b="0" i="0">
                <a:solidFill>
                  <a:srgbClr val="1F2A36"/>
                </a:solidFill>
                <a:latin typeface="Times New Roman"/>
              </a:rPr>
              <a:t>Fertilizer advice</a:t>
            </a:r>
          </a:p>
        </p:txBody>
      </p:sp>
      <p:sp>
        <p:nvSpPr>
          <p:cNvPr id="9"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Proposed Methodology</a:t>
            </a:r>
          </a:p>
        </p:txBody>
      </p:sp>
      <p:sp>
        <p:nvSpPr>
          <p:cNvPr id="3" name="Rounded Rectangle 2"/>
          <p:cNvSpPr/>
          <p:nvPr/>
        </p:nvSpPr>
        <p:spPr>
          <a:xfrm>
            <a:off x="448056" y="1234440"/>
            <a:ext cx="2468880" cy="2148840"/>
          </a:xfrm>
          <a:prstGeom prst="roundRect">
            <a:avLst>
              <a:gd name="adj" fmla="val 12000"/>
            </a:avLst>
          </a:prstGeom>
          <a:gradFill rotWithShape="1">
            <a:gsLst>
              <a:gs pos="0">
                <a:srgbClr val="EDEBF6"/>
              </a:gs>
              <a:gs pos="100000">
                <a:srgbClr val="D1CCE3"/>
              </a:gs>
            </a:gsLst>
            <a:lin ang="5400000" scaled="0"/>
          </a:gradFill>
          <a:ln>
            <a:noFill/>
          </a:ln>
          <a:effectLst>
            <a:outerShdw blurRad="40000" dist="20000" dir="5400000" rotWithShape="0">
              <a:srgbClr val="000000">
                <a:alpha val="38000"/>
              </a:srgbClr>
            </a:outerShdw>
          </a:effectLst>
        </p:spPr>
        <p:txBody>
          <a:bodyPr rtlCol="0" anchor="ctr"/>
          <a:lstStyle/>
          <a:p>
            <a:pPr algn="ctr"/>
          </a:p>
        </p:txBody>
      </p:sp>
      <p:sp>
        <p:nvSpPr>
          <p:cNvPr id="4" name="Oval 3"/>
          <p:cNvSpPr/>
          <p:nvPr/>
        </p:nvSpPr>
        <p:spPr>
          <a:xfrm>
            <a:off x="585216" y="1371600"/>
            <a:ext cx="457200" cy="457200"/>
          </a:xfrm>
          <a:prstGeom prst="ellipse">
            <a:avLst/>
          </a:prstGeom>
          <a:solidFill>
            <a:srgbClr val="3B5A78"/>
          </a:solidFill>
          <a:ln>
            <a:noFill/>
          </a:ln>
        </p:spPr>
        <p:txBody>
          <a:bodyPr rtlCol="0" anchor="ctr" wrap="square" lIns="0" rIns="0" tIns="0" bIns="0"/>
          <a:lstStyle/>
          <a:p>
            <a:pPr algn="ctr">
              <a:spcAft>
                <a:spcPts val="400"/>
              </a:spcAft>
            </a:pPr>
            <a:r>
              <a:rPr sz="1600" b="1" i="0">
                <a:solidFill>
                  <a:srgbClr val="FFFFFF"/>
                </a:solidFill>
                <a:latin typeface="Bookman Old Style"/>
              </a:rPr>
              <a:t>1</a:t>
            </a:r>
          </a:p>
        </p:txBody>
      </p:sp>
      <p:sp>
        <p:nvSpPr>
          <p:cNvPr id="5" name="TextBox 4"/>
          <p:cNvSpPr txBox="1"/>
          <p:nvPr/>
        </p:nvSpPr>
        <p:spPr>
          <a:xfrm>
            <a:off x="1133856" y="1417320"/>
            <a:ext cx="1691640" cy="411480"/>
          </a:xfrm>
          <a:prstGeom prst="rect">
            <a:avLst/>
          </a:prstGeom>
          <a:noFill/>
        </p:spPr>
        <p:txBody>
          <a:bodyPr wrap="square" lIns="45720" rIns="45720" tIns="27432" bIns="27432" anchor="t">
            <a:spAutoFit/>
          </a:bodyPr>
          <a:lstStyle/>
          <a:p>
            <a:pPr algn="l">
              <a:spcAft>
                <a:spcPts val="400"/>
              </a:spcAft>
            </a:pPr>
            <a:r>
              <a:rPr sz="1600" b="1" i="0">
                <a:solidFill>
                  <a:srgbClr val="1F2A36"/>
                </a:solidFill>
                <a:latin typeface="Bookman Old Style"/>
              </a:rPr>
              <a:t>Data collection</a:t>
            </a:r>
          </a:p>
        </p:txBody>
      </p:sp>
      <p:sp>
        <p:nvSpPr>
          <p:cNvPr id="6" name="TextBox 5"/>
          <p:cNvSpPr txBox="1"/>
          <p:nvPr/>
        </p:nvSpPr>
        <p:spPr>
          <a:xfrm>
            <a:off x="585216" y="1965960"/>
            <a:ext cx="2194560" cy="1371600"/>
          </a:xfrm>
          <a:prstGeom prst="rect">
            <a:avLst/>
          </a:prstGeom>
          <a:noFill/>
        </p:spPr>
        <p:txBody>
          <a:bodyPr wrap="square" lIns="45720" rIns="45720" tIns="27432" bIns="27432" anchor="t">
            <a:spAutoFit/>
          </a:bodyPr>
          <a:lstStyle/>
          <a:p>
            <a:pPr algn="l">
              <a:spcAft>
                <a:spcPts val="400"/>
              </a:spcAft>
            </a:pPr>
            <a:r>
              <a:rPr sz="1400" b="0" i="0">
                <a:solidFill>
                  <a:srgbClr val="1F2A36"/>
                </a:solidFill>
                <a:latin typeface="Times New Roman"/>
              </a:rPr>
              <a:t>3 public datasets: crops (2,200 rows), fertilizer (99 rows), crop nutrient needs (22 crops)</a:t>
            </a:r>
          </a:p>
        </p:txBody>
      </p:sp>
      <p:sp>
        <p:nvSpPr>
          <p:cNvPr id="7" name="Rounded Rectangle 6"/>
          <p:cNvSpPr/>
          <p:nvPr/>
        </p:nvSpPr>
        <p:spPr>
          <a:xfrm>
            <a:off x="3328415" y="1234440"/>
            <a:ext cx="2468880" cy="2148840"/>
          </a:xfrm>
          <a:prstGeom prst="roundRect">
            <a:avLst>
              <a:gd name="adj" fmla="val 12000"/>
            </a:avLst>
          </a:prstGeom>
          <a:gradFill rotWithShape="1">
            <a:gsLst>
              <a:gs pos="0">
                <a:srgbClr val="E9EAF4"/>
              </a:gs>
              <a:gs pos="100000">
                <a:srgbClr val="D2D5E8"/>
              </a:gs>
            </a:gsLst>
            <a:lin ang="5400000" scaled="0"/>
          </a:gradFill>
          <a:ln>
            <a:noFill/>
          </a:ln>
          <a:effectLst>
            <a:outerShdw blurRad="40000" dist="20000" dir="5400000" rotWithShape="0">
              <a:srgbClr val="000000">
                <a:alpha val="38000"/>
              </a:srgbClr>
            </a:outerShdw>
          </a:effectLst>
        </p:spPr>
        <p:txBody>
          <a:bodyPr rtlCol="0" anchor="ctr"/>
          <a:lstStyle/>
          <a:p>
            <a:pPr algn="ctr"/>
          </a:p>
        </p:txBody>
      </p:sp>
      <p:sp>
        <p:nvSpPr>
          <p:cNvPr id="8" name="Oval 7"/>
          <p:cNvSpPr/>
          <p:nvPr/>
        </p:nvSpPr>
        <p:spPr>
          <a:xfrm>
            <a:off x="3465575" y="1371600"/>
            <a:ext cx="457200" cy="457200"/>
          </a:xfrm>
          <a:prstGeom prst="ellipse">
            <a:avLst/>
          </a:prstGeom>
          <a:solidFill>
            <a:srgbClr val="3B5A78"/>
          </a:solidFill>
          <a:ln>
            <a:noFill/>
          </a:ln>
        </p:spPr>
        <p:txBody>
          <a:bodyPr rtlCol="0" anchor="ctr" wrap="square" lIns="0" rIns="0" tIns="0" bIns="0"/>
          <a:lstStyle/>
          <a:p>
            <a:pPr algn="ctr">
              <a:spcAft>
                <a:spcPts val="400"/>
              </a:spcAft>
            </a:pPr>
            <a:r>
              <a:rPr sz="1600" b="1" i="0">
                <a:solidFill>
                  <a:srgbClr val="FFFFFF"/>
                </a:solidFill>
                <a:latin typeface="Bookman Old Style"/>
              </a:rPr>
              <a:t>2</a:t>
            </a:r>
          </a:p>
        </p:txBody>
      </p:sp>
      <p:sp>
        <p:nvSpPr>
          <p:cNvPr id="9" name="TextBox 8"/>
          <p:cNvSpPr txBox="1"/>
          <p:nvPr/>
        </p:nvSpPr>
        <p:spPr>
          <a:xfrm>
            <a:off x="4014215" y="1417320"/>
            <a:ext cx="1691640" cy="411480"/>
          </a:xfrm>
          <a:prstGeom prst="rect">
            <a:avLst/>
          </a:prstGeom>
          <a:noFill/>
        </p:spPr>
        <p:txBody>
          <a:bodyPr wrap="square" lIns="45720" rIns="45720" tIns="27432" bIns="27432" anchor="t">
            <a:spAutoFit/>
          </a:bodyPr>
          <a:lstStyle/>
          <a:p>
            <a:pPr algn="l">
              <a:spcAft>
                <a:spcPts val="400"/>
              </a:spcAft>
            </a:pPr>
            <a:r>
              <a:rPr sz="1600" b="1" i="0">
                <a:solidFill>
                  <a:srgbClr val="1F2A36"/>
                </a:solidFill>
                <a:latin typeface="Bookman Old Style"/>
              </a:rPr>
              <a:t>Pre-processing</a:t>
            </a:r>
          </a:p>
        </p:txBody>
      </p:sp>
      <p:sp>
        <p:nvSpPr>
          <p:cNvPr id="10" name="TextBox 9"/>
          <p:cNvSpPr txBox="1"/>
          <p:nvPr/>
        </p:nvSpPr>
        <p:spPr>
          <a:xfrm>
            <a:off x="3465575" y="1965960"/>
            <a:ext cx="2194560" cy="1371600"/>
          </a:xfrm>
          <a:prstGeom prst="rect">
            <a:avLst/>
          </a:prstGeom>
          <a:noFill/>
        </p:spPr>
        <p:txBody>
          <a:bodyPr wrap="square" lIns="45720" rIns="45720" tIns="27432" bIns="27432" anchor="t">
            <a:spAutoFit/>
          </a:bodyPr>
          <a:lstStyle/>
          <a:p>
            <a:pPr algn="l">
              <a:spcAft>
                <a:spcPts val="400"/>
              </a:spcAft>
            </a:pPr>
            <a:r>
              <a:rPr sz="1400" b="0" i="0">
                <a:solidFill>
                  <a:srgbClr val="1F2A36"/>
                </a:solidFill>
                <a:latin typeface="Times New Roman"/>
              </a:rPr>
              <a:t>Label encoding, stratified 80/20 split (1,760 / 440), scaling for KNN, SVM, LR</a:t>
            </a:r>
          </a:p>
        </p:txBody>
      </p:sp>
      <p:sp>
        <p:nvSpPr>
          <p:cNvPr id="11" name="Rounded Rectangle 10"/>
          <p:cNvSpPr/>
          <p:nvPr/>
        </p:nvSpPr>
        <p:spPr>
          <a:xfrm>
            <a:off x="6208776" y="1234440"/>
            <a:ext cx="2468880" cy="2148840"/>
          </a:xfrm>
          <a:prstGeom prst="roundRect">
            <a:avLst>
              <a:gd name="adj" fmla="val 12000"/>
            </a:avLst>
          </a:prstGeom>
          <a:gradFill rotWithShape="1">
            <a:gsLst>
              <a:gs pos="0">
                <a:srgbClr val="E8EEF4"/>
              </a:gs>
              <a:gs pos="100000">
                <a:srgbClr val="CDD9E6"/>
              </a:gs>
            </a:gsLst>
            <a:lin ang="5400000" scaled="0"/>
          </a:gradFill>
          <a:ln>
            <a:noFill/>
          </a:ln>
          <a:effectLst>
            <a:outerShdw blurRad="40000" dist="20000" dir="5400000" rotWithShape="0">
              <a:srgbClr val="000000">
                <a:alpha val="38000"/>
              </a:srgbClr>
            </a:outerShdw>
          </a:effectLst>
        </p:spPr>
        <p:txBody>
          <a:bodyPr rtlCol="0" anchor="ctr"/>
          <a:lstStyle/>
          <a:p>
            <a:pPr algn="ctr"/>
          </a:p>
        </p:txBody>
      </p:sp>
      <p:sp>
        <p:nvSpPr>
          <p:cNvPr id="12" name="Oval 11"/>
          <p:cNvSpPr/>
          <p:nvPr/>
        </p:nvSpPr>
        <p:spPr>
          <a:xfrm>
            <a:off x="6345936" y="1371600"/>
            <a:ext cx="457200" cy="457200"/>
          </a:xfrm>
          <a:prstGeom prst="ellipse">
            <a:avLst/>
          </a:prstGeom>
          <a:solidFill>
            <a:srgbClr val="3B5A78"/>
          </a:solidFill>
          <a:ln>
            <a:noFill/>
          </a:ln>
        </p:spPr>
        <p:txBody>
          <a:bodyPr rtlCol="0" anchor="ctr" wrap="square" lIns="0" rIns="0" tIns="0" bIns="0"/>
          <a:lstStyle/>
          <a:p>
            <a:pPr algn="ctr">
              <a:spcAft>
                <a:spcPts val="400"/>
              </a:spcAft>
            </a:pPr>
            <a:r>
              <a:rPr sz="1600" b="1" i="0">
                <a:solidFill>
                  <a:srgbClr val="FFFFFF"/>
                </a:solidFill>
                <a:latin typeface="Bookman Old Style"/>
              </a:rPr>
              <a:t>3</a:t>
            </a:r>
          </a:p>
        </p:txBody>
      </p:sp>
      <p:sp>
        <p:nvSpPr>
          <p:cNvPr id="13" name="TextBox 12"/>
          <p:cNvSpPr txBox="1"/>
          <p:nvPr/>
        </p:nvSpPr>
        <p:spPr>
          <a:xfrm>
            <a:off x="6894576" y="1417320"/>
            <a:ext cx="1691640" cy="411480"/>
          </a:xfrm>
          <a:prstGeom prst="rect">
            <a:avLst/>
          </a:prstGeom>
          <a:noFill/>
        </p:spPr>
        <p:txBody>
          <a:bodyPr wrap="square" lIns="45720" rIns="45720" tIns="27432" bIns="27432" anchor="t">
            <a:spAutoFit/>
          </a:bodyPr>
          <a:lstStyle/>
          <a:p>
            <a:pPr algn="l">
              <a:spcAft>
                <a:spcPts val="400"/>
              </a:spcAft>
            </a:pPr>
            <a:r>
              <a:rPr sz="1600" b="1" i="0">
                <a:solidFill>
                  <a:srgbClr val="1F2A36"/>
                </a:solidFill>
                <a:latin typeface="Bookman Old Style"/>
              </a:rPr>
              <a:t>Training</a:t>
            </a:r>
          </a:p>
        </p:txBody>
      </p:sp>
      <p:sp>
        <p:nvSpPr>
          <p:cNvPr id="14" name="TextBox 13"/>
          <p:cNvSpPr txBox="1"/>
          <p:nvPr/>
        </p:nvSpPr>
        <p:spPr>
          <a:xfrm>
            <a:off x="6345936" y="1965960"/>
            <a:ext cx="2194560" cy="1371600"/>
          </a:xfrm>
          <a:prstGeom prst="rect">
            <a:avLst/>
          </a:prstGeom>
          <a:noFill/>
        </p:spPr>
        <p:txBody>
          <a:bodyPr wrap="square" lIns="45720" rIns="45720" tIns="27432" bIns="27432" anchor="t">
            <a:spAutoFit/>
          </a:bodyPr>
          <a:lstStyle/>
          <a:p>
            <a:pPr algn="l">
              <a:spcAft>
                <a:spcPts val="400"/>
              </a:spcAft>
            </a:pPr>
            <a:r>
              <a:rPr sz="1400" b="0" i="0">
                <a:solidFill>
                  <a:srgbClr val="1F2A36"/>
                </a:solidFill>
                <a:latin typeface="Times New Roman"/>
              </a:rPr>
              <a:t>10 algorithms, default settings, 5-fold cross-validation on the training data</a:t>
            </a:r>
          </a:p>
        </p:txBody>
      </p:sp>
      <p:sp>
        <p:nvSpPr>
          <p:cNvPr id="15" name="Rounded Rectangle 14"/>
          <p:cNvSpPr/>
          <p:nvPr/>
        </p:nvSpPr>
        <p:spPr>
          <a:xfrm>
            <a:off x="6208776" y="3840480"/>
            <a:ext cx="2468880" cy="2148840"/>
          </a:xfrm>
          <a:prstGeom prst="roundRect">
            <a:avLst>
              <a:gd name="adj" fmla="val 12000"/>
            </a:avLst>
          </a:prstGeom>
          <a:gradFill rotWithShape="1">
            <a:gsLst>
              <a:gs pos="0">
                <a:srgbClr val="E7F3F1"/>
              </a:gs>
              <a:gs pos="100000">
                <a:srgbClr val="CDE3DF"/>
              </a:gs>
            </a:gsLst>
            <a:lin ang="5400000" scaled="0"/>
          </a:gradFill>
          <a:ln>
            <a:noFill/>
          </a:ln>
          <a:effectLst>
            <a:outerShdw blurRad="40000" dist="20000" dir="5400000" rotWithShape="0">
              <a:srgbClr val="000000">
                <a:alpha val="38000"/>
              </a:srgbClr>
            </a:outerShdw>
          </a:effectLst>
        </p:spPr>
        <p:txBody>
          <a:bodyPr rtlCol="0" anchor="ctr"/>
          <a:lstStyle/>
          <a:p>
            <a:pPr algn="ctr"/>
          </a:p>
        </p:txBody>
      </p:sp>
      <p:sp>
        <p:nvSpPr>
          <p:cNvPr id="16" name="Oval 15"/>
          <p:cNvSpPr/>
          <p:nvPr/>
        </p:nvSpPr>
        <p:spPr>
          <a:xfrm>
            <a:off x="6345936" y="3977640"/>
            <a:ext cx="457200" cy="457200"/>
          </a:xfrm>
          <a:prstGeom prst="ellipse">
            <a:avLst/>
          </a:prstGeom>
          <a:solidFill>
            <a:srgbClr val="3B5A78"/>
          </a:solidFill>
          <a:ln>
            <a:noFill/>
          </a:ln>
        </p:spPr>
        <p:txBody>
          <a:bodyPr rtlCol="0" anchor="ctr" wrap="square" lIns="0" rIns="0" tIns="0" bIns="0"/>
          <a:lstStyle/>
          <a:p>
            <a:pPr algn="ctr">
              <a:spcAft>
                <a:spcPts val="400"/>
              </a:spcAft>
            </a:pPr>
            <a:r>
              <a:rPr sz="1600" b="1" i="0">
                <a:solidFill>
                  <a:srgbClr val="FFFFFF"/>
                </a:solidFill>
                <a:latin typeface="Bookman Old Style"/>
              </a:rPr>
              <a:t>4</a:t>
            </a:r>
          </a:p>
        </p:txBody>
      </p:sp>
      <p:sp>
        <p:nvSpPr>
          <p:cNvPr id="17" name="TextBox 16"/>
          <p:cNvSpPr txBox="1"/>
          <p:nvPr/>
        </p:nvSpPr>
        <p:spPr>
          <a:xfrm>
            <a:off x="6894576" y="4023360"/>
            <a:ext cx="1691640" cy="411480"/>
          </a:xfrm>
          <a:prstGeom prst="rect">
            <a:avLst/>
          </a:prstGeom>
          <a:noFill/>
        </p:spPr>
        <p:txBody>
          <a:bodyPr wrap="square" lIns="45720" rIns="45720" tIns="27432" bIns="27432" anchor="t">
            <a:spAutoFit/>
          </a:bodyPr>
          <a:lstStyle/>
          <a:p>
            <a:pPr algn="l">
              <a:spcAft>
                <a:spcPts val="400"/>
              </a:spcAft>
            </a:pPr>
            <a:r>
              <a:rPr sz="1600" b="1" i="0">
                <a:solidFill>
                  <a:srgbClr val="1F2A36"/>
                </a:solidFill>
                <a:latin typeface="Bookman Old Style"/>
              </a:rPr>
              <a:t>Testing</a:t>
            </a:r>
          </a:p>
        </p:txBody>
      </p:sp>
      <p:sp>
        <p:nvSpPr>
          <p:cNvPr id="18" name="TextBox 17"/>
          <p:cNvSpPr txBox="1"/>
          <p:nvPr/>
        </p:nvSpPr>
        <p:spPr>
          <a:xfrm>
            <a:off x="6345936" y="4572000"/>
            <a:ext cx="2194560" cy="1371600"/>
          </a:xfrm>
          <a:prstGeom prst="rect">
            <a:avLst/>
          </a:prstGeom>
          <a:noFill/>
        </p:spPr>
        <p:txBody>
          <a:bodyPr wrap="square" lIns="45720" rIns="45720" tIns="27432" bIns="27432" anchor="t">
            <a:spAutoFit/>
          </a:bodyPr>
          <a:lstStyle/>
          <a:p>
            <a:pPr algn="l">
              <a:spcAft>
                <a:spcPts val="400"/>
              </a:spcAft>
            </a:pPr>
            <a:r>
              <a:rPr sz="1400" b="0" i="0">
                <a:solidFill>
                  <a:srgbClr val="1F2A36"/>
                </a:solidFill>
                <a:latin typeface="Times New Roman"/>
              </a:rPr>
              <a:t>Accuracy, precision, recall, F1 on 440 unseen samples; overfitting check</a:t>
            </a:r>
          </a:p>
        </p:txBody>
      </p:sp>
      <p:sp>
        <p:nvSpPr>
          <p:cNvPr id="19" name="Rounded Rectangle 18"/>
          <p:cNvSpPr/>
          <p:nvPr/>
        </p:nvSpPr>
        <p:spPr>
          <a:xfrm>
            <a:off x="3328415" y="3840480"/>
            <a:ext cx="2468880" cy="2148840"/>
          </a:xfrm>
          <a:prstGeom prst="roundRect">
            <a:avLst>
              <a:gd name="adj" fmla="val 12000"/>
            </a:avLst>
          </a:prstGeom>
          <a:gradFill rotWithShape="1">
            <a:gsLst>
              <a:gs pos="0">
                <a:srgbClr val="E6F3EC"/>
              </a:gs>
              <a:gs pos="100000">
                <a:srgbClr val="CBE3D6"/>
              </a:gs>
            </a:gsLst>
            <a:lin ang="5400000" scaled="0"/>
          </a:gradFill>
          <a:ln>
            <a:noFill/>
          </a:ln>
          <a:effectLst>
            <a:outerShdw blurRad="40000" dist="20000" dir="5400000" rotWithShape="0">
              <a:srgbClr val="000000">
                <a:alpha val="38000"/>
              </a:srgbClr>
            </a:outerShdw>
          </a:effectLst>
        </p:spPr>
        <p:txBody>
          <a:bodyPr rtlCol="0" anchor="ctr"/>
          <a:lstStyle/>
          <a:p>
            <a:pPr algn="ctr"/>
          </a:p>
        </p:txBody>
      </p:sp>
      <p:sp>
        <p:nvSpPr>
          <p:cNvPr id="20" name="Oval 19"/>
          <p:cNvSpPr/>
          <p:nvPr/>
        </p:nvSpPr>
        <p:spPr>
          <a:xfrm>
            <a:off x="3465575" y="3977640"/>
            <a:ext cx="457200" cy="457200"/>
          </a:xfrm>
          <a:prstGeom prst="ellipse">
            <a:avLst/>
          </a:prstGeom>
          <a:solidFill>
            <a:srgbClr val="3B5A78"/>
          </a:solidFill>
          <a:ln>
            <a:noFill/>
          </a:ln>
        </p:spPr>
        <p:txBody>
          <a:bodyPr rtlCol="0" anchor="ctr" wrap="square" lIns="0" rIns="0" tIns="0" bIns="0"/>
          <a:lstStyle/>
          <a:p>
            <a:pPr algn="ctr">
              <a:spcAft>
                <a:spcPts val="400"/>
              </a:spcAft>
            </a:pPr>
            <a:r>
              <a:rPr sz="1600" b="1" i="0">
                <a:solidFill>
                  <a:srgbClr val="FFFFFF"/>
                </a:solidFill>
                <a:latin typeface="Bookman Old Style"/>
              </a:rPr>
              <a:t>5</a:t>
            </a:r>
          </a:p>
        </p:txBody>
      </p:sp>
      <p:sp>
        <p:nvSpPr>
          <p:cNvPr id="21" name="TextBox 20"/>
          <p:cNvSpPr txBox="1"/>
          <p:nvPr/>
        </p:nvSpPr>
        <p:spPr>
          <a:xfrm>
            <a:off x="4014215" y="4023360"/>
            <a:ext cx="1691640" cy="411480"/>
          </a:xfrm>
          <a:prstGeom prst="rect">
            <a:avLst/>
          </a:prstGeom>
          <a:noFill/>
        </p:spPr>
        <p:txBody>
          <a:bodyPr wrap="square" lIns="45720" rIns="45720" tIns="27432" bIns="27432" anchor="t">
            <a:spAutoFit/>
          </a:bodyPr>
          <a:lstStyle/>
          <a:p>
            <a:pPr algn="l">
              <a:spcAft>
                <a:spcPts val="400"/>
              </a:spcAft>
            </a:pPr>
            <a:r>
              <a:rPr sz="1600" b="1" i="0">
                <a:solidFill>
                  <a:srgbClr val="1F2A36"/>
                </a:solidFill>
                <a:latin typeface="Bookman Old Style"/>
              </a:rPr>
              <a:t>Explanation</a:t>
            </a:r>
          </a:p>
        </p:txBody>
      </p:sp>
      <p:sp>
        <p:nvSpPr>
          <p:cNvPr id="22" name="TextBox 21"/>
          <p:cNvSpPr txBox="1"/>
          <p:nvPr/>
        </p:nvSpPr>
        <p:spPr>
          <a:xfrm>
            <a:off x="3465575" y="4572000"/>
            <a:ext cx="2194560" cy="1371600"/>
          </a:xfrm>
          <a:prstGeom prst="rect">
            <a:avLst/>
          </a:prstGeom>
          <a:noFill/>
        </p:spPr>
        <p:txBody>
          <a:bodyPr wrap="square" lIns="45720" rIns="45720" tIns="27432" bIns="27432" anchor="t">
            <a:spAutoFit/>
          </a:bodyPr>
          <a:lstStyle/>
          <a:p>
            <a:pPr algn="l">
              <a:spcAft>
                <a:spcPts val="400"/>
              </a:spcAft>
            </a:pPr>
            <a:r>
              <a:rPr sz="1400" b="0" i="0">
                <a:solidFill>
                  <a:srgbClr val="1F2A36"/>
                </a:solidFill>
                <a:latin typeface="Times New Roman"/>
              </a:rPr>
              <a:t>SHAP (TreeSHAP) and LIME on the Random Forest</a:t>
            </a:r>
          </a:p>
        </p:txBody>
      </p:sp>
      <p:sp>
        <p:nvSpPr>
          <p:cNvPr id="23" name="Rounded Rectangle 22"/>
          <p:cNvSpPr/>
          <p:nvPr/>
        </p:nvSpPr>
        <p:spPr>
          <a:xfrm>
            <a:off x="448056" y="3840480"/>
            <a:ext cx="2468880" cy="2148840"/>
          </a:xfrm>
          <a:prstGeom prst="roundRect">
            <a:avLst>
              <a:gd name="adj" fmla="val 12000"/>
            </a:avLst>
          </a:prstGeom>
          <a:gradFill rotWithShape="1">
            <a:gsLst>
              <a:gs pos="0">
                <a:srgbClr val="E7F1E6"/>
              </a:gs>
              <a:gs pos="100000">
                <a:srgbClr val="CCE0CC"/>
              </a:gs>
            </a:gsLst>
            <a:lin ang="5400000" scaled="0"/>
          </a:gradFill>
          <a:ln>
            <a:noFill/>
          </a:ln>
          <a:effectLst>
            <a:outerShdw blurRad="40000" dist="20000" dir="5400000" rotWithShape="0">
              <a:srgbClr val="000000">
                <a:alpha val="38000"/>
              </a:srgbClr>
            </a:outerShdw>
          </a:effectLst>
        </p:spPr>
        <p:txBody>
          <a:bodyPr rtlCol="0" anchor="ctr"/>
          <a:lstStyle/>
          <a:p>
            <a:pPr algn="ctr"/>
          </a:p>
        </p:txBody>
      </p:sp>
      <p:sp>
        <p:nvSpPr>
          <p:cNvPr id="24" name="Oval 23"/>
          <p:cNvSpPr/>
          <p:nvPr/>
        </p:nvSpPr>
        <p:spPr>
          <a:xfrm>
            <a:off x="585216" y="3977640"/>
            <a:ext cx="457200" cy="457200"/>
          </a:xfrm>
          <a:prstGeom prst="ellipse">
            <a:avLst/>
          </a:prstGeom>
          <a:solidFill>
            <a:srgbClr val="3B5A78"/>
          </a:solidFill>
          <a:ln>
            <a:noFill/>
          </a:ln>
        </p:spPr>
        <p:txBody>
          <a:bodyPr rtlCol="0" anchor="ctr" wrap="square" lIns="0" rIns="0" tIns="0" bIns="0"/>
          <a:lstStyle/>
          <a:p>
            <a:pPr algn="ctr">
              <a:spcAft>
                <a:spcPts val="400"/>
              </a:spcAft>
            </a:pPr>
            <a:r>
              <a:rPr sz="1600" b="1" i="0">
                <a:solidFill>
                  <a:srgbClr val="FFFFFF"/>
                </a:solidFill>
                <a:latin typeface="Bookman Old Style"/>
              </a:rPr>
              <a:t>6</a:t>
            </a:r>
          </a:p>
        </p:txBody>
      </p:sp>
      <p:sp>
        <p:nvSpPr>
          <p:cNvPr id="25" name="TextBox 24"/>
          <p:cNvSpPr txBox="1"/>
          <p:nvPr/>
        </p:nvSpPr>
        <p:spPr>
          <a:xfrm>
            <a:off x="1133856" y="4023360"/>
            <a:ext cx="1691640" cy="411480"/>
          </a:xfrm>
          <a:prstGeom prst="rect">
            <a:avLst/>
          </a:prstGeom>
          <a:noFill/>
        </p:spPr>
        <p:txBody>
          <a:bodyPr wrap="square" lIns="45720" rIns="45720" tIns="27432" bIns="27432" anchor="t">
            <a:spAutoFit/>
          </a:bodyPr>
          <a:lstStyle/>
          <a:p>
            <a:pPr algn="l">
              <a:spcAft>
                <a:spcPts val="400"/>
              </a:spcAft>
            </a:pPr>
            <a:r>
              <a:rPr sz="1600" b="1" i="0">
                <a:solidFill>
                  <a:srgbClr val="1F2A36"/>
                </a:solidFill>
                <a:latin typeface="Bookman Old Style"/>
              </a:rPr>
              <a:t>Fertilizer advice</a:t>
            </a:r>
          </a:p>
        </p:txBody>
      </p:sp>
      <p:sp>
        <p:nvSpPr>
          <p:cNvPr id="26" name="TextBox 25"/>
          <p:cNvSpPr txBox="1"/>
          <p:nvPr/>
        </p:nvSpPr>
        <p:spPr>
          <a:xfrm>
            <a:off x="585216" y="4572000"/>
            <a:ext cx="2194560" cy="1371600"/>
          </a:xfrm>
          <a:prstGeom prst="rect">
            <a:avLst/>
          </a:prstGeom>
          <a:noFill/>
        </p:spPr>
        <p:txBody>
          <a:bodyPr wrap="square" lIns="45720" rIns="45720" tIns="27432" bIns="27432" anchor="t">
            <a:spAutoFit/>
          </a:bodyPr>
          <a:lstStyle/>
          <a:p>
            <a:pPr algn="l">
              <a:spcAft>
                <a:spcPts val="400"/>
              </a:spcAft>
            </a:pPr>
            <a:r>
              <a:rPr sz="1400" b="0" i="0">
                <a:solidFill>
                  <a:srgbClr val="1F2A36"/>
                </a:solidFill>
                <a:latin typeface="Times New Roman"/>
              </a:rPr>
              <a:t>XGBoost classifier plus nutrient-gap rule for the chosen crop</a:t>
            </a:r>
          </a:p>
        </p:txBody>
      </p:sp>
      <p:sp>
        <p:nvSpPr>
          <p:cNvPr id="27" name="Right Arrow 26"/>
          <p:cNvSpPr/>
          <p:nvPr/>
        </p:nvSpPr>
        <p:spPr>
          <a:xfrm>
            <a:off x="2962656" y="2103120"/>
            <a:ext cx="320040" cy="365760"/>
          </a:xfrm>
          <a:prstGeom prst="rightArrow">
            <a:avLst/>
          </a:prstGeom>
          <a:solidFill>
            <a:srgbClr val="7A93A8"/>
          </a:solidFill>
          <a:ln>
            <a:noFill/>
          </a:ln>
        </p:spPr>
        <p:txBody>
          <a:bodyPr rtlCol="0" anchor="ctr"/>
          <a:lstStyle/>
          <a:p>
            <a:pPr algn="ctr"/>
          </a:p>
        </p:txBody>
      </p:sp>
      <p:sp>
        <p:nvSpPr>
          <p:cNvPr id="28" name="Right Arrow 27"/>
          <p:cNvSpPr/>
          <p:nvPr/>
        </p:nvSpPr>
        <p:spPr>
          <a:xfrm>
            <a:off x="5843016" y="2103120"/>
            <a:ext cx="320040" cy="365760"/>
          </a:xfrm>
          <a:prstGeom prst="rightArrow">
            <a:avLst/>
          </a:prstGeom>
          <a:solidFill>
            <a:srgbClr val="7A93A8"/>
          </a:solidFill>
          <a:ln>
            <a:noFill/>
          </a:ln>
        </p:spPr>
        <p:txBody>
          <a:bodyPr rtlCol="0" anchor="ctr"/>
          <a:lstStyle/>
          <a:p>
            <a:pPr algn="ctr"/>
          </a:p>
        </p:txBody>
      </p:sp>
      <p:sp>
        <p:nvSpPr>
          <p:cNvPr id="29" name="Down Arrow 28"/>
          <p:cNvSpPr/>
          <p:nvPr/>
        </p:nvSpPr>
        <p:spPr>
          <a:xfrm>
            <a:off x="7580375" y="3429000"/>
            <a:ext cx="365760" cy="384048"/>
          </a:xfrm>
          <a:prstGeom prst="downArrow">
            <a:avLst/>
          </a:prstGeom>
          <a:solidFill>
            <a:srgbClr val="7A93A8"/>
          </a:solidFill>
          <a:ln>
            <a:noFill/>
          </a:ln>
        </p:spPr>
        <p:txBody>
          <a:bodyPr rtlCol="0" anchor="ctr"/>
          <a:lstStyle/>
          <a:p>
            <a:pPr algn="ctr"/>
          </a:p>
        </p:txBody>
      </p:sp>
      <p:sp>
        <p:nvSpPr>
          <p:cNvPr id="30" name="Left Arrow 29"/>
          <p:cNvSpPr/>
          <p:nvPr/>
        </p:nvSpPr>
        <p:spPr>
          <a:xfrm>
            <a:off x="5843016" y="4709160"/>
            <a:ext cx="320040" cy="365760"/>
          </a:xfrm>
          <a:prstGeom prst="leftArrow">
            <a:avLst/>
          </a:prstGeom>
          <a:solidFill>
            <a:srgbClr val="7A93A8"/>
          </a:solidFill>
          <a:ln>
            <a:noFill/>
          </a:ln>
        </p:spPr>
        <p:txBody>
          <a:bodyPr rtlCol="0" anchor="ctr"/>
          <a:lstStyle/>
          <a:p>
            <a:pPr algn="ctr"/>
          </a:p>
        </p:txBody>
      </p:sp>
      <p:sp>
        <p:nvSpPr>
          <p:cNvPr id="31" name="Left Arrow 30"/>
          <p:cNvSpPr/>
          <p:nvPr/>
        </p:nvSpPr>
        <p:spPr>
          <a:xfrm>
            <a:off x="2962656" y="4709160"/>
            <a:ext cx="320040" cy="365760"/>
          </a:xfrm>
          <a:prstGeom prst="leftArrow">
            <a:avLst/>
          </a:prstGeom>
          <a:solidFill>
            <a:srgbClr val="7A93A8"/>
          </a:solidFill>
          <a:ln>
            <a:noFill/>
          </a:ln>
        </p:spPr>
        <p:txBody>
          <a:bodyPr rtlCol="0" anchor="ctr"/>
          <a:lstStyle/>
          <a:p>
            <a:pPr algn="ctr"/>
          </a:p>
        </p:txBody>
      </p:sp>
      <p:sp>
        <p:nvSpPr>
          <p:cNvPr id="32"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Methodology: Datasets</a:t>
            </a:r>
          </a:p>
        </p:txBody>
      </p:sp>
      <p:graphicFrame>
        <p:nvGraphicFramePr>
          <p:cNvPr id="3" name="Table 2"/>
          <p:cNvGraphicFramePr>
            <a:graphicFrameLocks noGrp="1"/>
          </p:cNvGraphicFramePr>
          <p:nvPr/>
        </p:nvGraphicFramePr>
        <p:xfrm>
          <a:off x="448056" y="1234440"/>
          <a:ext cx="8229600" cy="2011680"/>
        </p:xfrm>
        <a:graphic>
          <a:graphicData uri="http://schemas.openxmlformats.org/drawingml/2006/table">
            <a:tbl>
              <a:tblPr firstRow="1">
                <a:tableStyleId>{5C22544A-7EE6-4342-B048-85BDC9FD1C3A}</a:tableStyleId>
              </a:tblPr>
              <a:tblGrid>
                <a:gridCol w="1920240"/>
                <a:gridCol w="1325880"/>
                <a:gridCol w="685800"/>
                <a:gridCol w="1554480"/>
                <a:gridCol w="2743200"/>
              </a:tblGrid>
              <a:tr h="502920">
                <a:tc>
                  <a:txBody>
                    <a:bodyPr wrap="square"/>
                    <a:lstStyle/>
                    <a:p>
                      <a:pPr algn="ctr"/>
                      <a:r>
                        <a:rPr sz="1400" b="1" i="0">
                          <a:solidFill>
                            <a:srgbClr val="1F2A36"/>
                          </a:solidFill>
                          <a:latin typeface="Times New Roman"/>
                        </a:rPr>
                        <a:t>Dataset</a:t>
                      </a:r>
                    </a:p>
                  </a:txBody>
                  <a:tcPr marL="54864" marR="54864" marT="27432" marB="27432" anchor="ctr">
                    <a:solidFill>
                      <a:srgbClr val="CBDCE4"/>
                    </a:solidFill>
                  </a:tcPr>
                </a:tc>
                <a:tc>
                  <a:txBody>
                    <a:bodyPr wrap="square"/>
                    <a:lstStyle/>
                    <a:p>
                      <a:pPr algn="ctr"/>
                      <a:r>
                        <a:rPr sz="1400" b="1" i="0">
                          <a:solidFill>
                            <a:srgbClr val="1F2A36"/>
                          </a:solidFill>
                          <a:latin typeface="Times New Roman"/>
                        </a:rPr>
                        <a:t>Source</a:t>
                      </a:r>
                    </a:p>
                  </a:txBody>
                  <a:tcPr marL="54864" marR="54864" marT="27432" marB="27432" anchor="ctr">
                    <a:solidFill>
                      <a:srgbClr val="CBDCE4"/>
                    </a:solidFill>
                  </a:tcPr>
                </a:tc>
                <a:tc>
                  <a:txBody>
                    <a:bodyPr wrap="square"/>
                    <a:lstStyle/>
                    <a:p>
                      <a:pPr algn="ctr"/>
                      <a:r>
                        <a:rPr sz="1400" b="1" i="0">
                          <a:solidFill>
                            <a:srgbClr val="1F2A36"/>
                          </a:solidFill>
                          <a:latin typeface="Times New Roman"/>
                        </a:rPr>
                        <a:t>Rows</a:t>
                      </a:r>
                    </a:p>
                  </a:txBody>
                  <a:tcPr marL="54864" marR="54864" marT="27432" marB="27432" anchor="ctr">
                    <a:solidFill>
                      <a:srgbClr val="CBDCE4"/>
                    </a:solidFill>
                  </a:tcPr>
                </a:tc>
                <a:tc>
                  <a:txBody>
                    <a:bodyPr wrap="square"/>
                    <a:lstStyle/>
                    <a:p>
                      <a:pPr algn="ctr"/>
                      <a:r>
                        <a:rPr sz="1400" b="1" i="0">
                          <a:solidFill>
                            <a:srgbClr val="1F2A36"/>
                          </a:solidFill>
                          <a:latin typeface="Times New Roman"/>
                        </a:rPr>
                        <a:t>Classes</a:t>
                      </a:r>
                    </a:p>
                  </a:txBody>
                  <a:tcPr marL="54864" marR="54864" marT="27432" marB="27432" anchor="ctr">
                    <a:solidFill>
                      <a:srgbClr val="CBDCE4"/>
                    </a:solidFill>
                  </a:tcPr>
                </a:tc>
                <a:tc>
                  <a:txBody>
                    <a:bodyPr wrap="square"/>
                    <a:lstStyle/>
                    <a:p>
                      <a:pPr algn="ctr"/>
                      <a:r>
                        <a:rPr sz="1400" b="1" i="0">
                          <a:solidFill>
                            <a:srgbClr val="1F2A36"/>
                          </a:solidFill>
                          <a:latin typeface="Times New Roman"/>
                        </a:rPr>
                        <a:t>Inputs</a:t>
                      </a:r>
                    </a:p>
                  </a:txBody>
                  <a:tcPr marL="54864" marR="54864" marT="27432" marB="27432" anchor="ctr">
                    <a:solidFill>
                      <a:srgbClr val="CBDCE4"/>
                    </a:solidFill>
                  </a:tcPr>
                </a:tc>
              </a:tr>
              <a:tr h="502920">
                <a:tc>
                  <a:txBody>
                    <a:bodyPr wrap="square"/>
                    <a:lstStyle/>
                    <a:p>
                      <a:pPr algn="l"/>
                      <a:r>
                        <a:rPr sz="1400" b="1" i="0">
                          <a:solidFill>
                            <a:srgbClr val="1F2A36"/>
                          </a:solidFill>
                          <a:latin typeface="Times New Roman"/>
                        </a:rPr>
                        <a:t>Crop Recommendation</a:t>
                      </a:r>
                    </a:p>
                  </a:txBody>
                  <a:tcPr marL="54864" marR="54864" marT="27432" marB="27432" anchor="ctr">
                    <a:solidFill>
                      <a:srgbClr val="FFFFFF"/>
                    </a:solidFill>
                  </a:tcPr>
                </a:tc>
                <a:tc>
                  <a:txBody>
                    <a:bodyPr wrap="square"/>
                    <a:lstStyle/>
                    <a:p>
                      <a:pPr algn="ctr"/>
                      <a:r>
                        <a:rPr sz="1400" b="0" i="0">
                          <a:solidFill>
                            <a:srgbClr val="1F2A36"/>
                          </a:solidFill>
                          <a:latin typeface="Times New Roman"/>
                        </a:rPr>
                        <a:t>Kaggle [10]</a:t>
                      </a:r>
                    </a:p>
                  </a:txBody>
                  <a:tcPr marL="54864" marR="54864" marT="27432" marB="27432" anchor="ctr">
                    <a:solidFill>
                      <a:srgbClr val="FFFFFF"/>
                    </a:solidFill>
                  </a:tcPr>
                </a:tc>
                <a:tc>
                  <a:txBody>
                    <a:bodyPr wrap="square"/>
                    <a:lstStyle/>
                    <a:p>
                      <a:pPr algn="ctr"/>
                      <a:r>
                        <a:rPr sz="1400" b="0" i="0">
                          <a:solidFill>
                            <a:srgbClr val="1F2A36"/>
                          </a:solidFill>
                          <a:latin typeface="Times New Roman"/>
                        </a:rPr>
                        <a:t>2,200</a:t>
                      </a:r>
                    </a:p>
                  </a:txBody>
                  <a:tcPr marL="54864" marR="54864" marT="27432" marB="27432" anchor="ctr">
                    <a:solidFill>
                      <a:srgbClr val="FFFFFF"/>
                    </a:solidFill>
                  </a:tcPr>
                </a:tc>
                <a:tc>
                  <a:txBody>
                    <a:bodyPr wrap="square"/>
                    <a:lstStyle/>
                    <a:p>
                      <a:pPr algn="ctr"/>
                      <a:r>
                        <a:rPr sz="1400" b="0" i="0">
                          <a:solidFill>
                            <a:srgbClr val="1F2A36"/>
                          </a:solidFill>
                          <a:latin typeface="Times New Roman"/>
                        </a:rPr>
                        <a:t>22 crops, 100 each</a:t>
                      </a:r>
                    </a:p>
                  </a:txBody>
                  <a:tcPr marL="54864" marR="54864" marT="27432" marB="27432" anchor="ctr">
                    <a:solidFill>
                      <a:srgbClr val="FFFFFF"/>
                    </a:solidFill>
                  </a:tcPr>
                </a:tc>
                <a:tc>
                  <a:txBody>
                    <a:bodyPr wrap="square"/>
                    <a:lstStyle/>
                    <a:p>
                      <a:pPr algn="l"/>
                      <a:r>
                        <a:rPr sz="1400" b="0" i="0">
                          <a:solidFill>
                            <a:srgbClr val="1F2A36"/>
                          </a:solidFill>
                          <a:latin typeface="Times New Roman"/>
                        </a:rPr>
                        <a:t>N, P, K, temperature, humidity, pH, rainfall</a:t>
                      </a:r>
                    </a:p>
                  </a:txBody>
                  <a:tcPr marL="54864" marR="54864" marT="27432" marB="27432" anchor="ctr">
                    <a:solidFill>
                      <a:srgbClr val="FFFFFF"/>
                    </a:solidFill>
                  </a:tcPr>
                </a:tc>
              </a:tr>
              <a:tr h="502920">
                <a:tc>
                  <a:txBody>
                    <a:bodyPr wrap="square"/>
                    <a:lstStyle/>
                    <a:p>
                      <a:pPr algn="l"/>
                      <a:r>
                        <a:rPr sz="1400" b="1" i="0">
                          <a:solidFill>
                            <a:srgbClr val="1F2A36"/>
                          </a:solidFill>
                          <a:latin typeface="Times New Roman"/>
                        </a:rPr>
                        <a:t>Fertilizer Prediction</a:t>
                      </a:r>
                    </a:p>
                  </a:txBody>
                  <a:tcPr marL="54864" marR="54864" marT="27432" marB="27432" anchor="ctr">
                    <a:solidFill>
                      <a:srgbClr val="F1F5F8"/>
                    </a:solidFill>
                  </a:tcPr>
                </a:tc>
                <a:tc>
                  <a:txBody>
                    <a:bodyPr wrap="square"/>
                    <a:lstStyle/>
                    <a:p>
                      <a:pPr algn="ctr"/>
                      <a:r>
                        <a:rPr sz="1400" b="0" i="0">
                          <a:solidFill>
                            <a:srgbClr val="1F2A36"/>
                          </a:solidFill>
                          <a:latin typeface="Times New Roman"/>
                        </a:rPr>
                        <a:t>Kaggle [11]</a:t>
                      </a:r>
                    </a:p>
                  </a:txBody>
                  <a:tcPr marL="54864" marR="54864" marT="27432" marB="27432" anchor="ctr">
                    <a:solidFill>
                      <a:srgbClr val="F1F5F8"/>
                    </a:solidFill>
                  </a:tcPr>
                </a:tc>
                <a:tc>
                  <a:txBody>
                    <a:bodyPr wrap="square"/>
                    <a:lstStyle/>
                    <a:p>
                      <a:pPr algn="ctr"/>
                      <a:r>
                        <a:rPr sz="1400" b="0" i="0">
                          <a:solidFill>
                            <a:srgbClr val="1F2A36"/>
                          </a:solidFill>
                          <a:latin typeface="Times New Roman"/>
                        </a:rPr>
                        <a:t>99</a:t>
                      </a:r>
                    </a:p>
                  </a:txBody>
                  <a:tcPr marL="54864" marR="54864" marT="27432" marB="27432" anchor="ctr">
                    <a:solidFill>
                      <a:srgbClr val="F1F5F8"/>
                    </a:solidFill>
                  </a:tcPr>
                </a:tc>
                <a:tc>
                  <a:txBody>
                    <a:bodyPr wrap="square"/>
                    <a:lstStyle/>
                    <a:p>
                      <a:pPr algn="ctr"/>
                      <a:r>
                        <a:rPr sz="1400" b="0" i="0">
                          <a:solidFill>
                            <a:srgbClr val="1F2A36"/>
                          </a:solidFill>
                          <a:latin typeface="Times New Roman"/>
                        </a:rPr>
                        <a:t>7 fertilizers</a:t>
                      </a:r>
                    </a:p>
                  </a:txBody>
                  <a:tcPr marL="54864" marR="54864" marT="27432" marB="27432" anchor="ctr">
                    <a:solidFill>
                      <a:srgbClr val="F1F5F8"/>
                    </a:solidFill>
                  </a:tcPr>
                </a:tc>
                <a:tc>
                  <a:txBody>
                    <a:bodyPr wrap="square"/>
                    <a:lstStyle/>
                    <a:p>
                      <a:pPr algn="l"/>
                      <a:r>
                        <a:rPr sz="1400" b="0" i="0">
                          <a:solidFill>
                            <a:srgbClr val="1F2A36"/>
                          </a:solidFill>
                          <a:latin typeface="Times New Roman"/>
                        </a:rPr>
                        <a:t>Temperature, humidity, moisture, soil type, crop type, N, P, K</a:t>
                      </a:r>
                    </a:p>
                  </a:txBody>
                  <a:tcPr marL="54864" marR="54864" marT="27432" marB="27432" anchor="ctr">
                    <a:solidFill>
                      <a:srgbClr val="F1F5F8"/>
                    </a:solidFill>
                  </a:tcPr>
                </a:tc>
              </a:tr>
              <a:tr h="502920">
                <a:tc>
                  <a:txBody>
                    <a:bodyPr wrap="square"/>
                    <a:lstStyle/>
                    <a:p>
                      <a:pPr algn="l"/>
                      <a:r>
                        <a:rPr sz="1400" b="1" i="0">
                          <a:solidFill>
                            <a:srgbClr val="1F2A36"/>
                          </a:solidFill>
                          <a:latin typeface="Times New Roman"/>
                        </a:rPr>
                        <a:t>Crop nutrient needs</a:t>
                      </a:r>
                    </a:p>
                  </a:txBody>
                  <a:tcPr marL="54864" marR="54864" marT="27432" marB="27432" anchor="ctr">
                    <a:solidFill>
                      <a:srgbClr val="FFFFFF"/>
                    </a:solidFill>
                  </a:tcPr>
                </a:tc>
                <a:tc>
                  <a:txBody>
                    <a:bodyPr wrap="square"/>
                    <a:lstStyle/>
                    <a:p>
                      <a:pPr algn="ctr"/>
                      <a:r>
                        <a:rPr sz="1400" b="0" i="0">
                          <a:solidFill>
                            <a:srgbClr val="1F2A36"/>
                          </a:solidFill>
                          <a:latin typeface="Times New Roman"/>
                        </a:rPr>
                        <a:t>Harvestify [6]</a:t>
                      </a:r>
                    </a:p>
                  </a:txBody>
                  <a:tcPr marL="54864" marR="54864" marT="27432" marB="27432" anchor="ctr">
                    <a:solidFill>
                      <a:srgbClr val="FFFFFF"/>
                    </a:solidFill>
                  </a:tcPr>
                </a:tc>
                <a:tc>
                  <a:txBody>
                    <a:bodyPr wrap="square"/>
                    <a:lstStyle/>
                    <a:p>
                      <a:pPr algn="ctr"/>
                      <a:r>
                        <a:rPr sz="1400" b="0" i="0">
                          <a:solidFill>
                            <a:srgbClr val="1F2A36"/>
                          </a:solidFill>
                          <a:latin typeface="Times New Roman"/>
                        </a:rPr>
                        <a:t>22</a:t>
                      </a:r>
                    </a:p>
                  </a:txBody>
                  <a:tcPr marL="54864" marR="54864" marT="27432" marB="27432" anchor="ctr">
                    <a:solidFill>
                      <a:srgbClr val="FFFFFF"/>
                    </a:solidFill>
                  </a:tcPr>
                </a:tc>
                <a:tc>
                  <a:txBody>
                    <a:bodyPr wrap="square"/>
                    <a:lstStyle/>
                    <a:p>
                      <a:pPr algn="ctr"/>
                      <a:r>
                        <a:rPr sz="1400" b="0" i="0">
                          <a:solidFill>
                            <a:srgbClr val="1F2A36"/>
                          </a:solidFill>
                          <a:latin typeface="Times New Roman"/>
                        </a:rPr>
                        <a:t>one row per crop</a:t>
                      </a:r>
                    </a:p>
                  </a:txBody>
                  <a:tcPr marL="54864" marR="54864" marT="27432" marB="27432" anchor="ctr">
                    <a:solidFill>
                      <a:srgbClr val="FFFFFF"/>
                    </a:solidFill>
                  </a:tcPr>
                </a:tc>
                <a:tc>
                  <a:txBody>
                    <a:bodyPr wrap="square"/>
                    <a:lstStyle/>
                    <a:p>
                      <a:pPr algn="l"/>
                      <a:r>
                        <a:rPr sz="1400" b="0" i="0">
                          <a:solidFill>
                            <a:srgbClr val="1F2A36"/>
                          </a:solidFill>
                          <a:latin typeface="Times New Roman"/>
                        </a:rPr>
                        <a:t>Required N, P, K and pH</a:t>
                      </a:r>
                    </a:p>
                  </a:txBody>
                  <a:tcPr marL="54864" marR="54864" marT="27432" marB="27432" anchor="ctr">
                    <a:solidFill>
                      <a:srgbClr val="FFFFFF"/>
                    </a:solidFill>
                  </a:tcPr>
                </a:tc>
              </a:tr>
            </a:tbl>
          </a:graphicData>
        </a:graphic>
      </p:graphicFrame>
      <p:sp>
        <p:nvSpPr>
          <p:cNvPr id="4" name="Rounded Rectangle 3"/>
          <p:cNvSpPr/>
          <p:nvPr/>
        </p:nvSpPr>
        <p:spPr>
          <a:xfrm>
            <a:off x="448056" y="3886200"/>
            <a:ext cx="8229600" cy="566928"/>
          </a:xfrm>
          <a:prstGeom prst="roundRect">
            <a:avLst>
              <a:gd name="adj" fmla="val 12000"/>
            </a:avLst>
          </a:prstGeom>
          <a:gradFill rotWithShape="1">
            <a:gsLst>
              <a:gs pos="0">
                <a:srgbClr val="E8EEF4"/>
              </a:gs>
              <a:gs pos="100000">
                <a:srgbClr val="CDD9E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600" b="0" i="0">
                <a:solidFill>
                  <a:srgbClr val="1F2A36"/>
                </a:solidFill>
                <a:latin typeface="Times New Roman"/>
              </a:rPr>
              <a:t>Balanced: exactly 100 samples per crop, no missing values, no duplicates</a:t>
            </a:r>
          </a:p>
        </p:txBody>
      </p:sp>
      <p:sp>
        <p:nvSpPr>
          <p:cNvPr id="5" name="Rounded Rectangle 4"/>
          <p:cNvSpPr/>
          <p:nvPr/>
        </p:nvSpPr>
        <p:spPr>
          <a:xfrm>
            <a:off x="448056" y="4572000"/>
            <a:ext cx="8229600" cy="566928"/>
          </a:xfrm>
          <a:prstGeom prst="roundRect">
            <a:avLst>
              <a:gd name="adj" fmla="val 12000"/>
            </a:avLst>
          </a:prstGeom>
          <a:gradFill rotWithShape="1">
            <a:gsLst>
              <a:gs pos="0">
                <a:srgbClr val="E7F3F1"/>
              </a:gs>
              <a:gs pos="100000">
                <a:srgbClr val="CDE3DF"/>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600" b="0" i="0">
                <a:solidFill>
                  <a:srgbClr val="1F2A36"/>
                </a:solidFill>
                <a:latin typeface="Times New Roman"/>
              </a:rPr>
              <a:t>Fertilizers: Urea 22, DAP 18, 28-28 17, 14-35-14 14, 20-20 14, 17-17-17 7, 10-26-26 7 rows</a:t>
            </a:r>
          </a:p>
        </p:txBody>
      </p:sp>
      <p:sp>
        <p:nvSpPr>
          <p:cNvPr id="6" name="Rounded Rectangle 5"/>
          <p:cNvSpPr/>
          <p:nvPr/>
        </p:nvSpPr>
        <p:spPr>
          <a:xfrm>
            <a:off x="448056" y="5257800"/>
            <a:ext cx="8229600" cy="566928"/>
          </a:xfrm>
          <a:prstGeom prst="roundRect">
            <a:avLst>
              <a:gd name="adj" fmla="val 12000"/>
            </a:avLst>
          </a:prstGeom>
          <a:gradFill rotWithShape="1">
            <a:gsLst>
              <a:gs pos="0">
                <a:srgbClr val="E6F3EC"/>
              </a:gs>
              <a:gs pos="100000">
                <a:srgbClr val="CBE3D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600" b="0" i="0">
                <a:solidFill>
                  <a:srgbClr val="1F2A36"/>
                </a:solidFill>
                <a:latin typeface="Times New Roman"/>
              </a:rPr>
              <a:t>All three are public, so anyone can repeat our experiments with our code</a:t>
            </a:r>
          </a:p>
        </p:txBody>
      </p:sp>
      <p:sp>
        <p:nvSpPr>
          <p:cNvPr id="7"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Methodology: Data Analysis</a:t>
            </a:r>
          </a:p>
        </p:txBody>
      </p:sp>
      <p:pic>
        <p:nvPicPr>
          <p:cNvPr id="3" name="Picture 2" descr="figS1_data_analysis.png"/>
          <p:cNvPicPr>
            <a:picLocks noChangeAspect="1"/>
          </p:cNvPicPr>
          <p:nvPr/>
        </p:nvPicPr>
        <p:blipFill>
          <a:blip r:embed="rId4"/>
          <a:stretch>
            <a:fillRect/>
          </a:stretch>
        </p:blipFill>
        <p:spPr>
          <a:xfrm>
            <a:off x="1078375" y="1188720"/>
            <a:ext cx="6968960" cy="3520440"/>
          </a:xfrm>
          <a:prstGeom prst="rect">
            <a:avLst/>
          </a:prstGeom>
          <a:ln w="9525">
            <a:solidFill>
              <a:srgbClr val="B8C4CE"/>
            </a:solidFill>
          </a:ln>
        </p:spPr>
      </p:pic>
      <p:sp>
        <p:nvSpPr>
          <p:cNvPr id="4" name="Rounded Rectangle 3"/>
          <p:cNvSpPr/>
          <p:nvPr/>
        </p:nvSpPr>
        <p:spPr>
          <a:xfrm>
            <a:off x="448056" y="4846320"/>
            <a:ext cx="8229600" cy="420624"/>
          </a:xfrm>
          <a:prstGeom prst="roundRect">
            <a:avLst>
              <a:gd name="adj" fmla="val 12000"/>
            </a:avLst>
          </a:prstGeom>
          <a:gradFill rotWithShape="1">
            <a:gsLst>
              <a:gs pos="0">
                <a:srgbClr val="EDEBF6"/>
              </a:gs>
              <a:gs pos="100000">
                <a:srgbClr val="D1CCE3"/>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400" b="0" i="0">
                <a:solidFill>
                  <a:srgbClr val="1F2A36"/>
                </a:solidFill>
                <a:latin typeface="Times New Roman"/>
              </a:rPr>
              <a:t>P and K are strongly related (r = 0.74); all other pairs are weak (−0.23 to 0.21)</a:t>
            </a:r>
          </a:p>
        </p:txBody>
      </p:sp>
      <p:sp>
        <p:nvSpPr>
          <p:cNvPr id="5" name="Rounded Rectangle 4"/>
          <p:cNvSpPr/>
          <p:nvPr/>
        </p:nvSpPr>
        <p:spPr>
          <a:xfrm>
            <a:off x="448056" y="5340096"/>
            <a:ext cx="8229600" cy="420624"/>
          </a:xfrm>
          <a:prstGeom prst="roundRect">
            <a:avLst>
              <a:gd name="adj" fmla="val 12000"/>
            </a:avLst>
          </a:prstGeom>
          <a:gradFill rotWithShape="1">
            <a:gsLst>
              <a:gs pos="0">
                <a:srgbClr val="E8EEF4"/>
              </a:gs>
              <a:gs pos="100000">
                <a:srgbClr val="CDD9E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400" b="0" i="0">
                <a:solidFill>
                  <a:srgbClr val="1F2A36"/>
                </a:solidFill>
                <a:latin typeface="Times New Roman"/>
              </a:rPr>
              <a:t>Apple and grapes need the most P and K; cotton needs the most N (about 118)</a:t>
            </a:r>
          </a:p>
        </p:txBody>
      </p:sp>
      <p:sp>
        <p:nvSpPr>
          <p:cNvPr id="6" name="Rounded Rectangle 5"/>
          <p:cNvSpPr/>
          <p:nvPr/>
        </p:nvSpPr>
        <p:spPr>
          <a:xfrm>
            <a:off x="448056" y="5833872"/>
            <a:ext cx="8229600" cy="420624"/>
          </a:xfrm>
          <a:prstGeom prst="roundRect">
            <a:avLst>
              <a:gd name="adj" fmla="val 12000"/>
            </a:avLst>
          </a:prstGeom>
          <a:gradFill rotWithShape="1">
            <a:gsLst>
              <a:gs pos="0">
                <a:srgbClr val="E6F3EC"/>
              </a:gs>
              <a:gs pos="100000">
                <a:srgbClr val="CBE3D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400" b="0" i="0">
                <a:solidFill>
                  <a:srgbClr val="1F2A36"/>
                </a:solidFill>
                <a:latin typeface="Times New Roman"/>
              </a:rPr>
              <a:t>Stratified 80/20 split: 1,760 training and 440 test samples (20 per crop); scaling for KNN, SVM, LR</a:t>
            </a:r>
          </a:p>
        </p:txBody>
      </p:sp>
      <p:sp>
        <p:nvSpPr>
          <p:cNvPr id="7"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Methodology: Algorithms</a:t>
            </a:r>
          </a:p>
        </p:txBody>
      </p:sp>
      <p:sp>
        <p:nvSpPr>
          <p:cNvPr id="3" name="Rounded Rectangle 2"/>
          <p:cNvSpPr/>
          <p:nvPr/>
        </p:nvSpPr>
        <p:spPr>
          <a:xfrm>
            <a:off x="448056" y="1234440"/>
            <a:ext cx="1536192" cy="2011680"/>
          </a:xfrm>
          <a:prstGeom prst="roundRect">
            <a:avLst>
              <a:gd name="adj" fmla="val 12000"/>
            </a:avLst>
          </a:prstGeom>
          <a:gradFill rotWithShape="1">
            <a:gsLst>
              <a:gs pos="0">
                <a:srgbClr val="EDEBF6"/>
              </a:gs>
              <a:gs pos="100000">
                <a:srgbClr val="D1CCE3"/>
              </a:gs>
            </a:gsLst>
            <a:lin ang="5400000" scaled="0"/>
          </a:gradFill>
          <a:ln>
            <a:noFill/>
          </a:ln>
          <a:effectLst>
            <a:outerShdw blurRad="40000" dist="20000" dir="5400000" rotWithShape="0">
              <a:srgbClr val="000000">
                <a:alpha val="38000"/>
              </a:srgbClr>
            </a:outerShdw>
          </a:effectLst>
        </p:spPr>
        <p:txBody>
          <a:bodyPr rtlCol="0" anchor="ctr"/>
          <a:lstStyle/>
          <a:p>
            <a:pPr algn="ctr"/>
          </a:p>
        </p:txBody>
      </p:sp>
      <p:sp>
        <p:nvSpPr>
          <p:cNvPr id="4" name="TextBox 3"/>
          <p:cNvSpPr txBox="1"/>
          <p:nvPr/>
        </p:nvSpPr>
        <p:spPr>
          <a:xfrm>
            <a:off x="521207" y="1344168"/>
            <a:ext cx="1389888" cy="731520"/>
          </a:xfrm>
          <a:prstGeom prst="rect">
            <a:avLst/>
          </a:prstGeom>
          <a:noFill/>
        </p:spPr>
        <p:txBody>
          <a:bodyPr wrap="square" lIns="45720" rIns="45720" tIns="27432" bIns="27432" anchor="t">
            <a:spAutoFit/>
          </a:bodyPr>
          <a:lstStyle/>
          <a:p>
            <a:pPr algn="l">
              <a:spcAft>
                <a:spcPts val="400"/>
              </a:spcAft>
            </a:pPr>
            <a:r>
              <a:rPr sz="1400" b="1" i="0">
                <a:solidFill>
                  <a:srgbClr val="1F2A36"/>
                </a:solidFill>
                <a:latin typeface="Bookman Old Style"/>
              </a:rPr>
              <a:t>Logistic Regression</a:t>
            </a:r>
          </a:p>
        </p:txBody>
      </p:sp>
      <p:sp>
        <p:nvSpPr>
          <p:cNvPr id="5" name="TextBox 4"/>
          <p:cNvSpPr txBox="1"/>
          <p:nvPr/>
        </p:nvSpPr>
        <p:spPr>
          <a:xfrm>
            <a:off x="521207" y="2103120"/>
            <a:ext cx="1389888" cy="1097280"/>
          </a:xfrm>
          <a:prstGeom prst="rect">
            <a:avLst/>
          </a:prstGeom>
          <a:noFill/>
        </p:spPr>
        <p:txBody>
          <a:bodyPr wrap="square" lIns="45720" rIns="45720" tIns="27432" bIns="27432" anchor="t">
            <a:spAutoFit/>
          </a:bodyPr>
          <a:lstStyle/>
          <a:p>
            <a:pPr algn="l">
              <a:spcAft>
                <a:spcPts val="400"/>
              </a:spcAft>
            </a:pPr>
            <a:r>
              <a:rPr sz="1400" b="0" i="0">
                <a:solidFill>
                  <a:srgbClr val="1F2A36"/>
                </a:solidFill>
                <a:latin typeface="Times New Roman"/>
              </a:rPr>
              <a:t>Straight boundary for each crop</a:t>
            </a:r>
          </a:p>
        </p:txBody>
      </p:sp>
      <p:sp>
        <p:nvSpPr>
          <p:cNvPr id="6" name="Rounded Rectangle 5"/>
          <p:cNvSpPr/>
          <p:nvPr/>
        </p:nvSpPr>
        <p:spPr>
          <a:xfrm>
            <a:off x="2121408" y="1234440"/>
            <a:ext cx="1536192" cy="2011680"/>
          </a:xfrm>
          <a:prstGeom prst="roundRect">
            <a:avLst>
              <a:gd name="adj" fmla="val 12000"/>
            </a:avLst>
          </a:prstGeom>
          <a:gradFill rotWithShape="1">
            <a:gsLst>
              <a:gs pos="0">
                <a:srgbClr val="E9EAF4"/>
              </a:gs>
              <a:gs pos="100000">
                <a:srgbClr val="D2D5E8"/>
              </a:gs>
            </a:gsLst>
            <a:lin ang="5400000" scaled="0"/>
          </a:gradFill>
          <a:ln>
            <a:noFill/>
          </a:ln>
          <a:effectLst>
            <a:outerShdw blurRad="40000" dist="20000" dir="5400000" rotWithShape="0">
              <a:srgbClr val="000000">
                <a:alpha val="38000"/>
              </a:srgbClr>
            </a:outerShdw>
          </a:effectLst>
        </p:spPr>
        <p:txBody>
          <a:bodyPr rtlCol="0" anchor="ctr"/>
          <a:lstStyle/>
          <a:p>
            <a:pPr algn="ctr"/>
          </a:p>
        </p:txBody>
      </p:sp>
      <p:sp>
        <p:nvSpPr>
          <p:cNvPr id="7" name="TextBox 6"/>
          <p:cNvSpPr txBox="1"/>
          <p:nvPr/>
        </p:nvSpPr>
        <p:spPr>
          <a:xfrm>
            <a:off x="2194560" y="1344168"/>
            <a:ext cx="1389888" cy="731520"/>
          </a:xfrm>
          <a:prstGeom prst="rect">
            <a:avLst/>
          </a:prstGeom>
          <a:noFill/>
        </p:spPr>
        <p:txBody>
          <a:bodyPr wrap="square" lIns="45720" rIns="45720" tIns="27432" bIns="27432" anchor="t">
            <a:spAutoFit/>
          </a:bodyPr>
          <a:lstStyle/>
          <a:p>
            <a:pPr algn="l">
              <a:spcAft>
                <a:spcPts val="400"/>
              </a:spcAft>
            </a:pPr>
            <a:r>
              <a:rPr sz="1400" b="1" i="0">
                <a:solidFill>
                  <a:srgbClr val="1F2A36"/>
                </a:solidFill>
                <a:latin typeface="Bookman Old Style"/>
              </a:rPr>
              <a:t>Naive Bayes</a:t>
            </a:r>
          </a:p>
        </p:txBody>
      </p:sp>
      <p:sp>
        <p:nvSpPr>
          <p:cNvPr id="8" name="TextBox 7"/>
          <p:cNvSpPr txBox="1"/>
          <p:nvPr/>
        </p:nvSpPr>
        <p:spPr>
          <a:xfrm>
            <a:off x="2194560" y="2103120"/>
            <a:ext cx="1389888" cy="1097280"/>
          </a:xfrm>
          <a:prstGeom prst="rect">
            <a:avLst/>
          </a:prstGeom>
          <a:noFill/>
        </p:spPr>
        <p:txBody>
          <a:bodyPr wrap="square" lIns="45720" rIns="45720" tIns="27432" bIns="27432" anchor="t">
            <a:spAutoFit/>
          </a:bodyPr>
          <a:lstStyle/>
          <a:p>
            <a:pPr algn="l">
              <a:spcAft>
                <a:spcPts val="400"/>
              </a:spcAft>
            </a:pPr>
            <a:r>
              <a:rPr sz="1400" b="0" i="0">
                <a:solidFill>
                  <a:srgbClr val="1F2A36"/>
                </a:solidFill>
                <a:latin typeface="Times New Roman"/>
              </a:rPr>
              <a:t>Each crop's average and spread per input</a:t>
            </a:r>
          </a:p>
        </p:txBody>
      </p:sp>
      <p:sp>
        <p:nvSpPr>
          <p:cNvPr id="9" name="Rounded Rectangle 8"/>
          <p:cNvSpPr/>
          <p:nvPr/>
        </p:nvSpPr>
        <p:spPr>
          <a:xfrm>
            <a:off x="3794760" y="1234440"/>
            <a:ext cx="1536192" cy="2011680"/>
          </a:xfrm>
          <a:prstGeom prst="roundRect">
            <a:avLst>
              <a:gd name="adj" fmla="val 12000"/>
            </a:avLst>
          </a:prstGeom>
          <a:gradFill rotWithShape="1">
            <a:gsLst>
              <a:gs pos="0">
                <a:srgbClr val="E8EEF4"/>
              </a:gs>
              <a:gs pos="100000">
                <a:srgbClr val="CDD9E6"/>
              </a:gs>
            </a:gsLst>
            <a:lin ang="5400000" scaled="0"/>
          </a:gradFill>
          <a:ln>
            <a:noFill/>
          </a:ln>
          <a:effectLst>
            <a:outerShdw blurRad="40000" dist="20000" dir="5400000" rotWithShape="0">
              <a:srgbClr val="000000">
                <a:alpha val="38000"/>
              </a:srgbClr>
            </a:outerShdw>
          </a:effectLst>
        </p:spPr>
        <p:txBody>
          <a:bodyPr rtlCol="0" anchor="ctr"/>
          <a:lstStyle/>
          <a:p>
            <a:pPr algn="ctr"/>
          </a:p>
        </p:txBody>
      </p:sp>
      <p:sp>
        <p:nvSpPr>
          <p:cNvPr id="10" name="TextBox 9"/>
          <p:cNvSpPr txBox="1"/>
          <p:nvPr/>
        </p:nvSpPr>
        <p:spPr>
          <a:xfrm>
            <a:off x="3867912" y="1344168"/>
            <a:ext cx="1389888" cy="731520"/>
          </a:xfrm>
          <a:prstGeom prst="rect">
            <a:avLst/>
          </a:prstGeom>
          <a:noFill/>
        </p:spPr>
        <p:txBody>
          <a:bodyPr wrap="square" lIns="45720" rIns="45720" tIns="27432" bIns="27432" anchor="t">
            <a:spAutoFit/>
          </a:bodyPr>
          <a:lstStyle/>
          <a:p>
            <a:pPr algn="l">
              <a:spcAft>
                <a:spcPts val="400"/>
              </a:spcAft>
            </a:pPr>
            <a:r>
              <a:rPr sz="1400" b="1" i="0">
                <a:solidFill>
                  <a:srgbClr val="1F2A36"/>
                </a:solidFill>
                <a:latin typeface="Bookman Old Style"/>
              </a:rPr>
              <a:t>KNN (k = 5)</a:t>
            </a:r>
          </a:p>
        </p:txBody>
      </p:sp>
      <p:sp>
        <p:nvSpPr>
          <p:cNvPr id="11" name="TextBox 10"/>
          <p:cNvSpPr txBox="1"/>
          <p:nvPr/>
        </p:nvSpPr>
        <p:spPr>
          <a:xfrm>
            <a:off x="3867912" y="2103120"/>
            <a:ext cx="1389888" cy="1097280"/>
          </a:xfrm>
          <a:prstGeom prst="rect">
            <a:avLst/>
          </a:prstGeom>
          <a:noFill/>
        </p:spPr>
        <p:txBody>
          <a:bodyPr wrap="square" lIns="45720" rIns="45720" tIns="27432" bIns="27432" anchor="t">
            <a:spAutoFit/>
          </a:bodyPr>
          <a:lstStyle/>
          <a:p>
            <a:pPr algn="l">
              <a:spcAft>
                <a:spcPts val="400"/>
              </a:spcAft>
            </a:pPr>
            <a:r>
              <a:rPr sz="1400" b="0" i="0">
                <a:solidFill>
                  <a:srgbClr val="1F2A36"/>
                </a:solidFill>
                <a:latin typeface="Times New Roman"/>
              </a:rPr>
              <a:t>Vote of the 5 closest samples</a:t>
            </a:r>
          </a:p>
        </p:txBody>
      </p:sp>
      <p:sp>
        <p:nvSpPr>
          <p:cNvPr id="12" name="Rounded Rectangle 11"/>
          <p:cNvSpPr/>
          <p:nvPr/>
        </p:nvSpPr>
        <p:spPr>
          <a:xfrm>
            <a:off x="5468112" y="1234440"/>
            <a:ext cx="1536192" cy="2011680"/>
          </a:xfrm>
          <a:prstGeom prst="roundRect">
            <a:avLst>
              <a:gd name="adj" fmla="val 12000"/>
            </a:avLst>
          </a:prstGeom>
          <a:gradFill rotWithShape="1">
            <a:gsLst>
              <a:gs pos="0">
                <a:srgbClr val="E7F3F1"/>
              </a:gs>
              <a:gs pos="100000">
                <a:srgbClr val="CDE3DF"/>
              </a:gs>
            </a:gsLst>
            <a:lin ang="5400000" scaled="0"/>
          </a:gradFill>
          <a:ln>
            <a:noFill/>
          </a:ln>
          <a:effectLst>
            <a:outerShdw blurRad="40000" dist="20000" dir="5400000" rotWithShape="0">
              <a:srgbClr val="000000">
                <a:alpha val="38000"/>
              </a:srgbClr>
            </a:outerShdw>
          </a:effectLst>
        </p:spPr>
        <p:txBody>
          <a:bodyPr rtlCol="0" anchor="ctr"/>
          <a:lstStyle/>
          <a:p>
            <a:pPr algn="ctr"/>
          </a:p>
        </p:txBody>
      </p:sp>
      <p:sp>
        <p:nvSpPr>
          <p:cNvPr id="13" name="TextBox 12"/>
          <p:cNvSpPr txBox="1"/>
          <p:nvPr/>
        </p:nvSpPr>
        <p:spPr>
          <a:xfrm>
            <a:off x="5541264" y="1344168"/>
            <a:ext cx="1389888" cy="731520"/>
          </a:xfrm>
          <a:prstGeom prst="rect">
            <a:avLst/>
          </a:prstGeom>
          <a:noFill/>
        </p:spPr>
        <p:txBody>
          <a:bodyPr wrap="square" lIns="45720" rIns="45720" tIns="27432" bIns="27432" anchor="t">
            <a:spAutoFit/>
          </a:bodyPr>
          <a:lstStyle/>
          <a:p>
            <a:pPr algn="l">
              <a:spcAft>
                <a:spcPts val="400"/>
              </a:spcAft>
            </a:pPr>
            <a:r>
              <a:rPr sz="1400" b="1" i="0">
                <a:solidFill>
                  <a:srgbClr val="1F2A36"/>
                </a:solidFill>
                <a:latin typeface="Bookman Old Style"/>
              </a:rPr>
              <a:t>SVM (RBF)</a:t>
            </a:r>
          </a:p>
        </p:txBody>
      </p:sp>
      <p:sp>
        <p:nvSpPr>
          <p:cNvPr id="14" name="TextBox 13"/>
          <p:cNvSpPr txBox="1"/>
          <p:nvPr/>
        </p:nvSpPr>
        <p:spPr>
          <a:xfrm>
            <a:off x="5541264" y="2103120"/>
            <a:ext cx="1389888" cy="1097280"/>
          </a:xfrm>
          <a:prstGeom prst="rect">
            <a:avLst/>
          </a:prstGeom>
          <a:noFill/>
        </p:spPr>
        <p:txBody>
          <a:bodyPr wrap="square" lIns="45720" rIns="45720" tIns="27432" bIns="27432" anchor="t">
            <a:spAutoFit/>
          </a:bodyPr>
          <a:lstStyle/>
          <a:p>
            <a:pPr algn="l">
              <a:spcAft>
                <a:spcPts val="400"/>
              </a:spcAft>
            </a:pPr>
            <a:r>
              <a:rPr sz="1400" b="0" i="0">
                <a:solidFill>
                  <a:srgbClr val="1F2A36"/>
                </a:solidFill>
                <a:latin typeface="Times New Roman"/>
              </a:rPr>
              <a:t>Widest gap between crops; can curve</a:t>
            </a:r>
          </a:p>
        </p:txBody>
      </p:sp>
      <p:sp>
        <p:nvSpPr>
          <p:cNvPr id="15" name="Rounded Rectangle 14"/>
          <p:cNvSpPr/>
          <p:nvPr/>
        </p:nvSpPr>
        <p:spPr>
          <a:xfrm>
            <a:off x="7141464" y="1234440"/>
            <a:ext cx="1536192" cy="2011680"/>
          </a:xfrm>
          <a:prstGeom prst="roundRect">
            <a:avLst>
              <a:gd name="adj" fmla="val 12000"/>
            </a:avLst>
          </a:prstGeom>
          <a:gradFill rotWithShape="1">
            <a:gsLst>
              <a:gs pos="0">
                <a:srgbClr val="E6F3EC"/>
              </a:gs>
              <a:gs pos="100000">
                <a:srgbClr val="CBE3D6"/>
              </a:gs>
            </a:gsLst>
            <a:lin ang="5400000" scaled="0"/>
          </a:gradFill>
          <a:ln>
            <a:noFill/>
          </a:ln>
          <a:effectLst>
            <a:outerShdw blurRad="40000" dist="20000" dir="5400000" rotWithShape="0">
              <a:srgbClr val="000000">
                <a:alpha val="38000"/>
              </a:srgbClr>
            </a:outerShdw>
          </a:effectLst>
        </p:spPr>
        <p:txBody>
          <a:bodyPr rtlCol="0" anchor="ctr"/>
          <a:lstStyle/>
          <a:p>
            <a:pPr algn="ctr"/>
          </a:p>
        </p:txBody>
      </p:sp>
      <p:sp>
        <p:nvSpPr>
          <p:cNvPr id="16" name="TextBox 15"/>
          <p:cNvSpPr txBox="1"/>
          <p:nvPr/>
        </p:nvSpPr>
        <p:spPr>
          <a:xfrm>
            <a:off x="7214616" y="1344168"/>
            <a:ext cx="1389888" cy="731520"/>
          </a:xfrm>
          <a:prstGeom prst="rect">
            <a:avLst/>
          </a:prstGeom>
          <a:noFill/>
        </p:spPr>
        <p:txBody>
          <a:bodyPr wrap="square" lIns="45720" rIns="45720" tIns="27432" bIns="27432" anchor="t">
            <a:spAutoFit/>
          </a:bodyPr>
          <a:lstStyle/>
          <a:p>
            <a:pPr algn="l">
              <a:spcAft>
                <a:spcPts val="400"/>
              </a:spcAft>
            </a:pPr>
            <a:r>
              <a:rPr sz="1400" b="1" i="0">
                <a:solidFill>
                  <a:srgbClr val="1F2A36"/>
                </a:solidFill>
                <a:latin typeface="Bookman Old Style"/>
              </a:rPr>
              <a:t>Decision Tree</a:t>
            </a:r>
          </a:p>
        </p:txBody>
      </p:sp>
      <p:sp>
        <p:nvSpPr>
          <p:cNvPr id="17" name="TextBox 16"/>
          <p:cNvSpPr txBox="1"/>
          <p:nvPr/>
        </p:nvSpPr>
        <p:spPr>
          <a:xfrm>
            <a:off x="7214616" y="2103120"/>
            <a:ext cx="1389888" cy="1097280"/>
          </a:xfrm>
          <a:prstGeom prst="rect">
            <a:avLst/>
          </a:prstGeom>
          <a:noFill/>
        </p:spPr>
        <p:txBody>
          <a:bodyPr wrap="square" lIns="45720" rIns="45720" tIns="27432" bIns="27432" anchor="t">
            <a:spAutoFit/>
          </a:bodyPr>
          <a:lstStyle/>
          <a:p>
            <a:pPr algn="l">
              <a:spcAft>
                <a:spcPts val="400"/>
              </a:spcAft>
            </a:pPr>
            <a:r>
              <a:rPr sz="1400" b="0" i="0">
                <a:solidFill>
                  <a:srgbClr val="1F2A36"/>
                </a:solidFill>
                <a:latin typeface="Times New Roman"/>
              </a:rPr>
              <a:t>Yes/no questions on one input at a time</a:t>
            </a:r>
          </a:p>
        </p:txBody>
      </p:sp>
      <p:sp>
        <p:nvSpPr>
          <p:cNvPr id="18" name="Rounded Rectangle 17"/>
          <p:cNvSpPr/>
          <p:nvPr/>
        </p:nvSpPr>
        <p:spPr>
          <a:xfrm>
            <a:off x="448056" y="3429000"/>
            <a:ext cx="1536192" cy="2011680"/>
          </a:xfrm>
          <a:prstGeom prst="roundRect">
            <a:avLst>
              <a:gd name="adj" fmla="val 12000"/>
            </a:avLst>
          </a:prstGeom>
          <a:gradFill rotWithShape="1">
            <a:gsLst>
              <a:gs pos="0">
                <a:srgbClr val="E7F1E6"/>
              </a:gs>
              <a:gs pos="100000">
                <a:srgbClr val="CCE0CC"/>
              </a:gs>
            </a:gsLst>
            <a:lin ang="5400000" scaled="0"/>
          </a:gradFill>
          <a:ln w="28575">
            <a:solidFill>
              <a:srgbClr val="3B5A78"/>
            </a:solidFill>
          </a:ln>
          <a:effectLst>
            <a:outerShdw blurRad="40000" dist="20000" dir="5400000" rotWithShape="0">
              <a:srgbClr val="000000">
                <a:alpha val="38000"/>
              </a:srgbClr>
            </a:outerShdw>
          </a:effectLst>
        </p:spPr>
        <p:txBody>
          <a:bodyPr rtlCol="0" anchor="ctr"/>
          <a:lstStyle/>
          <a:p>
            <a:pPr algn="ctr"/>
          </a:p>
        </p:txBody>
      </p:sp>
      <p:sp>
        <p:nvSpPr>
          <p:cNvPr id="19" name="TextBox 18"/>
          <p:cNvSpPr txBox="1"/>
          <p:nvPr/>
        </p:nvSpPr>
        <p:spPr>
          <a:xfrm>
            <a:off x="521207" y="3538728"/>
            <a:ext cx="1389888" cy="731520"/>
          </a:xfrm>
          <a:prstGeom prst="rect">
            <a:avLst/>
          </a:prstGeom>
          <a:noFill/>
        </p:spPr>
        <p:txBody>
          <a:bodyPr wrap="square" lIns="45720" rIns="45720" tIns="27432" bIns="27432" anchor="t">
            <a:spAutoFit/>
          </a:bodyPr>
          <a:lstStyle/>
          <a:p>
            <a:pPr algn="l">
              <a:spcAft>
                <a:spcPts val="400"/>
              </a:spcAft>
            </a:pPr>
            <a:r>
              <a:rPr sz="1400" b="1" i="0">
                <a:solidFill>
                  <a:srgbClr val="1F2A36"/>
                </a:solidFill>
                <a:latin typeface="Bookman Old Style"/>
              </a:rPr>
              <a:t>Random Forest (chosen)</a:t>
            </a:r>
          </a:p>
        </p:txBody>
      </p:sp>
      <p:sp>
        <p:nvSpPr>
          <p:cNvPr id="20" name="TextBox 19"/>
          <p:cNvSpPr txBox="1"/>
          <p:nvPr/>
        </p:nvSpPr>
        <p:spPr>
          <a:xfrm>
            <a:off x="521207" y="4297680"/>
            <a:ext cx="1389888" cy="1097280"/>
          </a:xfrm>
          <a:prstGeom prst="rect">
            <a:avLst/>
          </a:prstGeom>
          <a:noFill/>
        </p:spPr>
        <p:txBody>
          <a:bodyPr wrap="square" lIns="45720" rIns="45720" tIns="27432" bIns="27432" anchor="t">
            <a:spAutoFit/>
          </a:bodyPr>
          <a:lstStyle/>
          <a:p>
            <a:pPr algn="l">
              <a:spcAft>
                <a:spcPts val="400"/>
              </a:spcAft>
            </a:pPr>
            <a:r>
              <a:rPr sz="1400" b="0" i="0">
                <a:solidFill>
                  <a:srgbClr val="1F2A36"/>
                </a:solidFill>
                <a:latin typeface="Times New Roman"/>
              </a:rPr>
              <a:t>100 trees on random samples; majority vote [12]</a:t>
            </a:r>
          </a:p>
        </p:txBody>
      </p:sp>
      <p:sp>
        <p:nvSpPr>
          <p:cNvPr id="21" name="Rounded Rectangle 20"/>
          <p:cNvSpPr/>
          <p:nvPr/>
        </p:nvSpPr>
        <p:spPr>
          <a:xfrm>
            <a:off x="2121408" y="3429000"/>
            <a:ext cx="1536192" cy="2011680"/>
          </a:xfrm>
          <a:prstGeom prst="roundRect">
            <a:avLst>
              <a:gd name="adj" fmla="val 12000"/>
            </a:avLst>
          </a:prstGeom>
          <a:gradFill rotWithShape="1">
            <a:gsLst>
              <a:gs pos="0">
                <a:srgbClr val="E8EEF4"/>
              </a:gs>
              <a:gs pos="100000">
                <a:srgbClr val="CDD9E6"/>
              </a:gs>
            </a:gsLst>
            <a:lin ang="5400000" scaled="0"/>
          </a:gradFill>
          <a:ln>
            <a:noFill/>
          </a:ln>
          <a:effectLst>
            <a:outerShdw blurRad="40000" dist="20000" dir="5400000" rotWithShape="0">
              <a:srgbClr val="000000">
                <a:alpha val="38000"/>
              </a:srgbClr>
            </a:outerShdw>
          </a:effectLst>
        </p:spPr>
        <p:txBody>
          <a:bodyPr rtlCol="0" anchor="ctr"/>
          <a:lstStyle/>
          <a:p>
            <a:pPr algn="ctr"/>
          </a:p>
        </p:txBody>
      </p:sp>
      <p:sp>
        <p:nvSpPr>
          <p:cNvPr id="22" name="TextBox 21"/>
          <p:cNvSpPr txBox="1"/>
          <p:nvPr/>
        </p:nvSpPr>
        <p:spPr>
          <a:xfrm>
            <a:off x="2194560" y="3538728"/>
            <a:ext cx="1389888" cy="731520"/>
          </a:xfrm>
          <a:prstGeom prst="rect">
            <a:avLst/>
          </a:prstGeom>
          <a:noFill/>
        </p:spPr>
        <p:txBody>
          <a:bodyPr wrap="square" lIns="45720" rIns="45720" tIns="27432" bIns="27432" anchor="t">
            <a:spAutoFit/>
          </a:bodyPr>
          <a:lstStyle/>
          <a:p>
            <a:pPr algn="l">
              <a:spcAft>
                <a:spcPts val="400"/>
              </a:spcAft>
            </a:pPr>
            <a:r>
              <a:rPr sz="1400" b="1" i="0">
                <a:solidFill>
                  <a:srgbClr val="1F2A36"/>
                </a:solidFill>
                <a:latin typeface="Bookman Old Style"/>
              </a:rPr>
              <a:t>XGBoost</a:t>
            </a:r>
          </a:p>
        </p:txBody>
      </p:sp>
      <p:sp>
        <p:nvSpPr>
          <p:cNvPr id="23" name="TextBox 22"/>
          <p:cNvSpPr txBox="1"/>
          <p:nvPr/>
        </p:nvSpPr>
        <p:spPr>
          <a:xfrm>
            <a:off x="2194560" y="4297680"/>
            <a:ext cx="1389888" cy="1097280"/>
          </a:xfrm>
          <a:prstGeom prst="rect">
            <a:avLst/>
          </a:prstGeom>
          <a:noFill/>
        </p:spPr>
        <p:txBody>
          <a:bodyPr wrap="square" lIns="45720" rIns="45720" tIns="27432" bIns="27432" anchor="t">
            <a:spAutoFit/>
          </a:bodyPr>
          <a:lstStyle/>
          <a:p>
            <a:pPr algn="l">
              <a:spcAft>
                <a:spcPts val="400"/>
              </a:spcAft>
            </a:pPr>
            <a:r>
              <a:rPr sz="1400" b="0" i="0">
                <a:solidFill>
                  <a:srgbClr val="1F2A36"/>
                </a:solidFill>
                <a:latin typeface="Times New Roman"/>
              </a:rPr>
              <a:t>Adds trees that fix earlier errors [13]</a:t>
            </a:r>
          </a:p>
        </p:txBody>
      </p:sp>
      <p:sp>
        <p:nvSpPr>
          <p:cNvPr id="24" name="Rounded Rectangle 23"/>
          <p:cNvSpPr/>
          <p:nvPr/>
        </p:nvSpPr>
        <p:spPr>
          <a:xfrm>
            <a:off x="3794760" y="3429000"/>
            <a:ext cx="1536192" cy="2011680"/>
          </a:xfrm>
          <a:prstGeom prst="roundRect">
            <a:avLst>
              <a:gd name="adj" fmla="val 12000"/>
            </a:avLst>
          </a:prstGeom>
          <a:gradFill rotWithShape="1">
            <a:gsLst>
              <a:gs pos="0">
                <a:srgbClr val="E7F3F1"/>
              </a:gs>
              <a:gs pos="100000">
                <a:srgbClr val="CDE3DF"/>
              </a:gs>
            </a:gsLst>
            <a:lin ang="5400000" scaled="0"/>
          </a:gradFill>
          <a:ln>
            <a:noFill/>
          </a:ln>
          <a:effectLst>
            <a:outerShdw blurRad="40000" dist="20000" dir="5400000" rotWithShape="0">
              <a:srgbClr val="000000">
                <a:alpha val="38000"/>
              </a:srgbClr>
            </a:outerShdw>
          </a:effectLst>
        </p:spPr>
        <p:txBody>
          <a:bodyPr rtlCol="0" anchor="ctr"/>
          <a:lstStyle/>
          <a:p>
            <a:pPr algn="ctr"/>
          </a:p>
        </p:txBody>
      </p:sp>
      <p:sp>
        <p:nvSpPr>
          <p:cNvPr id="25" name="TextBox 24"/>
          <p:cNvSpPr txBox="1"/>
          <p:nvPr/>
        </p:nvSpPr>
        <p:spPr>
          <a:xfrm>
            <a:off x="3867912" y="3538728"/>
            <a:ext cx="1389888" cy="731520"/>
          </a:xfrm>
          <a:prstGeom prst="rect">
            <a:avLst/>
          </a:prstGeom>
          <a:noFill/>
        </p:spPr>
        <p:txBody>
          <a:bodyPr wrap="square" lIns="45720" rIns="45720" tIns="27432" bIns="27432" anchor="t">
            <a:spAutoFit/>
          </a:bodyPr>
          <a:lstStyle/>
          <a:p>
            <a:pPr algn="l">
              <a:spcAft>
                <a:spcPts val="400"/>
              </a:spcAft>
            </a:pPr>
            <a:r>
              <a:rPr sz="1400" b="1" i="0">
                <a:solidFill>
                  <a:srgbClr val="1F2A36"/>
                </a:solidFill>
                <a:latin typeface="Bookman Old Style"/>
              </a:rPr>
              <a:t>LightGBM</a:t>
            </a:r>
          </a:p>
        </p:txBody>
      </p:sp>
      <p:sp>
        <p:nvSpPr>
          <p:cNvPr id="26" name="TextBox 25"/>
          <p:cNvSpPr txBox="1"/>
          <p:nvPr/>
        </p:nvSpPr>
        <p:spPr>
          <a:xfrm>
            <a:off x="3867912" y="4297680"/>
            <a:ext cx="1389888" cy="1097280"/>
          </a:xfrm>
          <a:prstGeom prst="rect">
            <a:avLst/>
          </a:prstGeom>
          <a:noFill/>
        </p:spPr>
        <p:txBody>
          <a:bodyPr wrap="square" lIns="45720" rIns="45720" tIns="27432" bIns="27432" anchor="t">
            <a:spAutoFit/>
          </a:bodyPr>
          <a:lstStyle/>
          <a:p>
            <a:pPr algn="l">
              <a:spcAft>
                <a:spcPts val="400"/>
              </a:spcAft>
            </a:pPr>
            <a:r>
              <a:rPr sz="1400" b="0" i="0">
                <a:solidFill>
                  <a:srgbClr val="1F2A36"/>
                </a:solidFill>
                <a:latin typeface="Times New Roman"/>
              </a:rPr>
              <a:t>Fast gradient boosting</a:t>
            </a:r>
          </a:p>
        </p:txBody>
      </p:sp>
      <p:sp>
        <p:nvSpPr>
          <p:cNvPr id="27" name="Rounded Rectangle 26"/>
          <p:cNvSpPr/>
          <p:nvPr/>
        </p:nvSpPr>
        <p:spPr>
          <a:xfrm>
            <a:off x="5468112" y="3429000"/>
            <a:ext cx="1536192" cy="2011680"/>
          </a:xfrm>
          <a:prstGeom prst="roundRect">
            <a:avLst>
              <a:gd name="adj" fmla="val 12000"/>
            </a:avLst>
          </a:prstGeom>
          <a:gradFill rotWithShape="1">
            <a:gsLst>
              <a:gs pos="0">
                <a:srgbClr val="E6F3EC"/>
              </a:gs>
              <a:gs pos="100000">
                <a:srgbClr val="CBE3D6"/>
              </a:gs>
            </a:gsLst>
            <a:lin ang="5400000" scaled="0"/>
          </a:gradFill>
          <a:ln>
            <a:noFill/>
          </a:ln>
          <a:effectLst>
            <a:outerShdw blurRad="40000" dist="20000" dir="5400000" rotWithShape="0">
              <a:srgbClr val="000000">
                <a:alpha val="38000"/>
              </a:srgbClr>
            </a:outerShdw>
          </a:effectLst>
        </p:spPr>
        <p:txBody>
          <a:bodyPr rtlCol="0" anchor="ctr"/>
          <a:lstStyle/>
          <a:p>
            <a:pPr algn="ctr"/>
          </a:p>
        </p:txBody>
      </p:sp>
      <p:sp>
        <p:nvSpPr>
          <p:cNvPr id="28" name="TextBox 27"/>
          <p:cNvSpPr txBox="1"/>
          <p:nvPr/>
        </p:nvSpPr>
        <p:spPr>
          <a:xfrm>
            <a:off x="5541264" y="3538728"/>
            <a:ext cx="1389888" cy="731520"/>
          </a:xfrm>
          <a:prstGeom prst="rect">
            <a:avLst/>
          </a:prstGeom>
          <a:noFill/>
        </p:spPr>
        <p:txBody>
          <a:bodyPr wrap="square" lIns="45720" rIns="45720" tIns="27432" bIns="27432" anchor="t">
            <a:spAutoFit/>
          </a:bodyPr>
          <a:lstStyle/>
          <a:p>
            <a:pPr algn="l">
              <a:spcAft>
                <a:spcPts val="400"/>
              </a:spcAft>
            </a:pPr>
            <a:r>
              <a:rPr sz="1400" b="1" i="0">
                <a:solidFill>
                  <a:srgbClr val="1F2A36"/>
                </a:solidFill>
                <a:latin typeface="Bookman Old Style"/>
              </a:rPr>
              <a:t>AdaBoost (default)</a:t>
            </a:r>
          </a:p>
        </p:txBody>
      </p:sp>
      <p:sp>
        <p:nvSpPr>
          <p:cNvPr id="29" name="TextBox 28"/>
          <p:cNvSpPr txBox="1"/>
          <p:nvPr/>
        </p:nvSpPr>
        <p:spPr>
          <a:xfrm>
            <a:off x="5541264" y="4297680"/>
            <a:ext cx="1389888" cy="1097280"/>
          </a:xfrm>
          <a:prstGeom prst="rect">
            <a:avLst/>
          </a:prstGeom>
          <a:noFill/>
        </p:spPr>
        <p:txBody>
          <a:bodyPr wrap="square" lIns="45720" rIns="45720" tIns="27432" bIns="27432" anchor="t">
            <a:spAutoFit/>
          </a:bodyPr>
          <a:lstStyle/>
          <a:p>
            <a:pPr algn="l">
              <a:spcAft>
                <a:spcPts val="400"/>
              </a:spcAft>
            </a:pPr>
            <a:r>
              <a:rPr sz="1400" b="0" i="0">
                <a:solidFill>
                  <a:srgbClr val="1F2A36"/>
                </a:solidFill>
                <a:latin typeface="Times New Roman"/>
              </a:rPr>
              <a:t>50 one-split stumps</a:t>
            </a:r>
          </a:p>
        </p:txBody>
      </p:sp>
      <p:sp>
        <p:nvSpPr>
          <p:cNvPr id="30" name="Rounded Rectangle 29"/>
          <p:cNvSpPr/>
          <p:nvPr/>
        </p:nvSpPr>
        <p:spPr>
          <a:xfrm>
            <a:off x="7141464" y="3429000"/>
            <a:ext cx="1536192" cy="2011680"/>
          </a:xfrm>
          <a:prstGeom prst="roundRect">
            <a:avLst>
              <a:gd name="adj" fmla="val 12000"/>
            </a:avLst>
          </a:prstGeom>
          <a:gradFill rotWithShape="1">
            <a:gsLst>
              <a:gs pos="0">
                <a:srgbClr val="E7F1E6"/>
              </a:gs>
              <a:gs pos="100000">
                <a:srgbClr val="CCE0CC"/>
              </a:gs>
            </a:gsLst>
            <a:lin ang="5400000" scaled="0"/>
          </a:gradFill>
          <a:ln>
            <a:noFill/>
          </a:ln>
          <a:effectLst>
            <a:outerShdw blurRad="40000" dist="20000" dir="5400000" rotWithShape="0">
              <a:srgbClr val="000000">
                <a:alpha val="38000"/>
              </a:srgbClr>
            </a:outerShdw>
          </a:effectLst>
        </p:spPr>
        <p:txBody>
          <a:bodyPr rtlCol="0" anchor="ctr"/>
          <a:lstStyle/>
          <a:p>
            <a:pPr algn="ctr"/>
          </a:p>
        </p:txBody>
      </p:sp>
      <p:sp>
        <p:nvSpPr>
          <p:cNvPr id="31" name="TextBox 30"/>
          <p:cNvSpPr txBox="1"/>
          <p:nvPr/>
        </p:nvSpPr>
        <p:spPr>
          <a:xfrm>
            <a:off x="7214616" y="3538728"/>
            <a:ext cx="1389888" cy="731520"/>
          </a:xfrm>
          <a:prstGeom prst="rect">
            <a:avLst/>
          </a:prstGeom>
          <a:noFill/>
        </p:spPr>
        <p:txBody>
          <a:bodyPr wrap="square" lIns="45720" rIns="45720" tIns="27432" bIns="27432" anchor="t">
            <a:spAutoFit/>
          </a:bodyPr>
          <a:lstStyle/>
          <a:p>
            <a:pPr algn="l">
              <a:spcAft>
                <a:spcPts val="400"/>
              </a:spcAft>
            </a:pPr>
            <a:r>
              <a:rPr sz="1400" b="1" i="0">
                <a:solidFill>
                  <a:srgbClr val="1F2A36"/>
                </a:solidFill>
                <a:latin typeface="Bookman Old Style"/>
              </a:rPr>
              <a:t>AdaBoost (depth-3)</a:t>
            </a:r>
          </a:p>
        </p:txBody>
      </p:sp>
      <p:sp>
        <p:nvSpPr>
          <p:cNvPr id="32" name="TextBox 31"/>
          <p:cNvSpPr txBox="1"/>
          <p:nvPr/>
        </p:nvSpPr>
        <p:spPr>
          <a:xfrm>
            <a:off x="7214616" y="4297680"/>
            <a:ext cx="1389888" cy="1097280"/>
          </a:xfrm>
          <a:prstGeom prst="rect">
            <a:avLst/>
          </a:prstGeom>
          <a:noFill/>
        </p:spPr>
        <p:txBody>
          <a:bodyPr wrap="square" lIns="45720" rIns="45720" tIns="27432" bIns="27432" anchor="t">
            <a:spAutoFit/>
          </a:bodyPr>
          <a:lstStyle/>
          <a:p>
            <a:pPr algn="l">
              <a:spcAft>
                <a:spcPts val="400"/>
              </a:spcAft>
            </a:pPr>
            <a:r>
              <a:rPr sz="1400" b="0" i="0">
                <a:solidFill>
                  <a:srgbClr val="1F2A36"/>
                </a:solidFill>
                <a:latin typeface="Times New Roman"/>
              </a:rPr>
              <a:t>200 small trees</a:t>
            </a:r>
          </a:p>
        </p:txBody>
      </p:sp>
      <p:sp>
        <p:nvSpPr>
          <p:cNvPr id="33" name="Rounded Rectangle 32"/>
          <p:cNvSpPr/>
          <p:nvPr/>
        </p:nvSpPr>
        <p:spPr>
          <a:xfrm>
            <a:off x="448056" y="5669280"/>
            <a:ext cx="8229600" cy="548640"/>
          </a:xfrm>
          <a:prstGeom prst="roundRect">
            <a:avLst>
              <a:gd name="adj" fmla="val 12000"/>
            </a:avLst>
          </a:prstGeom>
          <a:gradFill rotWithShape="1">
            <a:gsLst>
              <a:gs pos="0">
                <a:srgbClr val="EDF1E6"/>
              </a:gs>
              <a:gs pos="100000">
                <a:srgbClr val="D6E0CC"/>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500" b="0" i="0">
                <a:solidFill>
                  <a:srgbClr val="1F2A36"/>
                </a:solidFill>
                <a:latin typeface="Times New Roman"/>
              </a:rPr>
              <a:t>Same 1,760 training and 440 test samples for all ten; default settings, no tuning</a:t>
            </a:r>
          </a:p>
        </p:txBody>
      </p:sp>
      <p:sp>
        <p:nvSpPr>
          <p:cNvPr id="34"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Methodology: XAI and Fertilizer</a:t>
            </a:r>
          </a:p>
        </p:txBody>
      </p:sp>
      <p:sp>
        <p:nvSpPr>
          <p:cNvPr id="3" name="Rounded Rectangle 2"/>
          <p:cNvSpPr/>
          <p:nvPr/>
        </p:nvSpPr>
        <p:spPr>
          <a:xfrm>
            <a:off x="448056" y="1234440"/>
            <a:ext cx="3977639" cy="4892040"/>
          </a:xfrm>
          <a:prstGeom prst="roundRect">
            <a:avLst>
              <a:gd name="adj" fmla="val 12000"/>
            </a:avLst>
          </a:prstGeom>
          <a:gradFill rotWithShape="1">
            <a:gsLst>
              <a:gs pos="0">
                <a:srgbClr val="E8EEF4"/>
              </a:gs>
              <a:gs pos="100000">
                <a:srgbClr val="CDD9E6"/>
              </a:gs>
            </a:gsLst>
            <a:lin ang="5400000" scaled="0"/>
          </a:gradFill>
          <a:ln>
            <a:noFill/>
          </a:ln>
          <a:effectLst>
            <a:outerShdw blurRad="40000" dist="20000" dir="5400000" rotWithShape="0">
              <a:srgbClr val="000000">
                <a:alpha val="38000"/>
              </a:srgbClr>
            </a:outerShdw>
          </a:effectLst>
        </p:spPr>
        <p:txBody>
          <a:bodyPr rtlCol="0" anchor="t" wrap="square" lIns="201168" rIns="201168" tIns="164592" bIns="164592"/>
          <a:lstStyle/>
          <a:p>
            <a:pPr algn="l">
              <a:spcAft>
                <a:spcPts val="1400"/>
              </a:spcAft>
            </a:pPr>
            <a:r>
              <a:rPr sz="2000" b="1" i="0">
                <a:solidFill>
                  <a:srgbClr val="1F2A36"/>
                </a:solidFill>
                <a:latin typeface="Bookman Old Style"/>
              </a:rPr>
              <a:t>Explainable AI</a:t>
            </a:r>
          </a:p>
          <a:p>
            <a:pPr algn="l" marL="201168" indent="-201168">
              <a:spcAft>
                <a:spcPts val="1400"/>
              </a:spcAft>
              <a:buFont typeface="Arial"/>
              <a:buChar char="•"/>
            </a:pPr>
            <a:r>
              <a:rPr sz="1700" b="0" i="0">
                <a:solidFill>
                  <a:srgbClr val="1F2A36"/>
                </a:solidFill>
                <a:latin typeface="Times New Roman"/>
              </a:rPr>
              <a:t>SHAP [7]: splits each prediction into a contribution from every input; exact for tree models (TreeSHAP [14])</a:t>
            </a:r>
          </a:p>
          <a:p>
            <a:pPr algn="l" marL="201168" indent="-201168">
              <a:spcAft>
                <a:spcPts val="1400"/>
              </a:spcAft>
              <a:buFont typeface="Arial"/>
              <a:buChar char="•"/>
            </a:pPr>
            <a:r>
              <a:rPr sz="1700" b="0" i="0">
                <a:solidFill>
                  <a:srgbClr val="1F2A36"/>
                </a:solidFill>
                <a:latin typeface="Times New Roman"/>
              </a:rPr>
              <a:t>Global importance, importance per crop, and the explanation for one farmer</a:t>
            </a:r>
          </a:p>
          <a:p>
            <a:pPr algn="l" marL="201168" indent="-201168">
              <a:spcAft>
                <a:spcPts val="1400"/>
              </a:spcAft>
              <a:buFont typeface="Arial"/>
              <a:buChar char="•"/>
            </a:pPr>
            <a:r>
              <a:rPr sz="1700" b="0" i="0">
                <a:solidFill>
                  <a:srgbClr val="1F2A36"/>
                </a:solidFill>
                <a:latin typeface="Times New Roman"/>
              </a:rPr>
              <a:t>LIME [8]: fits a simple local model around one farmer's input (2,000 perturbed samples)</a:t>
            </a:r>
          </a:p>
          <a:p>
            <a:pPr algn="l" marL="201168" indent="-201168">
              <a:spcAft>
                <a:spcPts val="1400"/>
              </a:spcAft>
              <a:buFont typeface="Arial"/>
              <a:buChar char="•"/>
            </a:pPr>
            <a:r>
              <a:rPr sz="1700" b="0" i="0">
                <a:solidFill>
                  <a:srgbClr val="1F2A36"/>
                </a:solidFill>
                <a:latin typeface="Times New Roman"/>
              </a:rPr>
              <a:t>Agreement between SHAP and LIME measured on 100 test samples</a:t>
            </a:r>
          </a:p>
        </p:txBody>
      </p:sp>
      <p:sp>
        <p:nvSpPr>
          <p:cNvPr id="4" name="Rounded Rectangle 3"/>
          <p:cNvSpPr/>
          <p:nvPr/>
        </p:nvSpPr>
        <p:spPr>
          <a:xfrm>
            <a:off x="4700016" y="1234440"/>
            <a:ext cx="3977639" cy="4892040"/>
          </a:xfrm>
          <a:prstGeom prst="roundRect">
            <a:avLst>
              <a:gd name="adj" fmla="val 12000"/>
            </a:avLst>
          </a:prstGeom>
          <a:gradFill rotWithShape="1">
            <a:gsLst>
              <a:gs pos="0">
                <a:srgbClr val="E6F3EC"/>
              </a:gs>
              <a:gs pos="100000">
                <a:srgbClr val="CBE3D6"/>
              </a:gs>
            </a:gsLst>
            <a:lin ang="5400000" scaled="0"/>
          </a:gradFill>
          <a:ln>
            <a:noFill/>
          </a:ln>
          <a:effectLst>
            <a:outerShdw blurRad="40000" dist="20000" dir="5400000" rotWithShape="0">
              <a:srgbClr val="000000">
                <a:alpha val="38000"/>
              </a:srgbClr>
            </a:outerShdw>
          </a:effectLst>
        </p:spPr>
        <p:txBody>
          <a:bodyPr rtlCol="0" anchor="t" wrap="square" lIns="201168" rIns="201168" tIns="164592" bIns="164592"/>
          <a:lstStyle/>
          <a:p>
            <a:pPr algn="l">
              <a:spcAft>
                <a:spcPts val="1400"/>
              </a:spcAft>
            </a:pPr>
            <a:r>
              <a:rPr sz="2000" b="1" i="0">
                <a:solidFill>
                  <a:srgbClr val="1F2A36"/>
                </a:solidFill>
                <a:latin typeface="Bookman Old Style"/>
              </a:rPr>
              <a:t>Fertilizer recommendation</a:t>
            </a:r>
          </a:p>
          <a:p>
            <a:pPr algn="l" marL="201168" indent="-201168">
              <a:spcAft>
                <a:spcPts val="1400"/>
              </a:spcAft>
              <a:buFont typeface="Arial"/>
              <a:buChar char="•"/>
            </a:pPr>
            <a:r>
              <a:rPr sz="1700" b="0" i="0">
                <a:solidFill>
                  <a:srgbClr val="1F2A36"/>
                </a:solidFill>
                <a:latin typeface="Times New Roman"/>
              </a:rPr>
              <a:t>ML model: 8 algorithms on 99 rows; 5-fold cross-validation repeated 10 times (50 tests)</a:t>
            </a:r>
          </a:p>
          <a:p>
            <a:pPr algn="l" marL="201168" indent="-201168">
              <a:spcAft>
                <a:spcPts val="1400"/>
              </a:spcAft>
              <a:buFont typeface="Arial"/>
              <a:buChar char="•"/>
            </a:pPr>
            <a:r>
              <a:rPr sz="1700" b="0" i="0">
                <a:solidFill>
                  <a:srgbClr val="1F2A36"/>
                </a:solidFill>
                <a:latin typeface="Times New Roman"/>
              </a:rPr>
              <a:t>Nutrient-gap rule: gap = crop needs − soil has, for N, P and K</a:t>
            </a:r>
          </a:p>
          <a:p>
            <a:pPr algn="l" marL="201168" indent="-201168">
              <a:spcAft>
                <a:spcPts val="1400"/>
              </a:spcAft>
              <a:buFont typeface="Arial"/>
              <a:buChar char="•"/>
            </a:pPr>
            <a:r>
              <a:rPr sz="1700" b="0" i="0">
                <a:solidFill>
                  <a:srgbClr val="1F2A36"/>
                </a:solidFill>
                <a:latin typeface="Times New Roman"/>
              </a:rPr>
              <a:t>The biggest gap decides: soil short of it → add urea (N), DAP or SSP (P), MOP (K); soil has extra → skip that nutrient</a:t>
            </a:r>
          </a:p>
        </p:txBody>
      </p:sp>
      <p:sp>
        <p:nvSpPr>
          <p:cNvPr id="5"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Result: Algorithm Comparison</a:t>
            </a:r>
          </a:p>
        </p:txBody>
      </p:sp>
      <p:graphicFrame>
        <p:nvGraphicFramePr>
          <p:cNvPr id="3" name="Table 2"/>
          <p:cNvGraphicFramePr>
            <a:graphicFrameLocks noGrp="1"/>
          </p:cNvGraphicFramePr>
          <p:nvPr/>
        </p:nvGraphicFramePr>
        <p:xfrm>
          <a:off x="448056" y="1188720"/>
          <a:ext cx="8229600" cy="3721608"/>
        </p:xfrm>
        <a:graphic>
          <a:graphicData uri="http://schemas.openxmlformats.org/drawingml/2006/table">
            <a:tbl>
              <a:tblPr firstRow="1">
                <a:tableStyleId>{5C22544A-7EE6-4342-B048-85BDC9FD1C3A}</a:tableStyleId>
              </a:tblPr>
              <a:tblGrid>
                <a:gridCol w="2560320"/>
                <a:gridCol w="1143000"/>
                <a:gridCol w="914400"/>
                <a:gridCol w="731520"/>
                <a:gridCol w="1691640"/>
                <a:gridCol w="1188720"/>
              </a:tblGrid>
              <a:tr h="338328">
                <a:tc>
                  <a:txBody>
                    <a:bodyPr wrap="square"/>
                    <a:lstStyle/>
                    <a:p>
                      <a:pPr algn="ctr"/>
                      <a:r>
                        <a:rPr sz="1300" b="1" i="0">
                          <a:solidFill>
                            <a:srgbClr val="1F2A36"/>
                          </a:solidFill>
                          <a:latin typeface="Times New Roman"/>
                        </a:rPr>
                        <a:t>Algorithm</a:t>
                      </a:r>
                    </a:p>
                  </a:txBody>
                  <a:tcPr marL="54864" marR="54864" marT="27432" marB="27432" anchor="ctr">
                    <a:solidFill>
                      <a:srgbClr val="CBDCE4"/>
                    </a:solidFill>
                  </a:tcPr>
                </a:tc>
                <a:tc>
                  <a:txBody>
                    <a:bodyPr wrap="square"/>
                    <a:lstStyle/>
                    <a:p>
                      <a:pPr algn="ctr"/>
                      <a:r>
                        <a:rPr sz="1300" b="1" i="0">
                          <a:solidFill>
                            <a:srgbClr val="1F2A36"/>
                          </a:solidFill>
                          <a:latin typeface="Times New Roman"/>
                        </a:rPr>
                        <a:t>Test accuracy</a:t>
                      </a:r>
                    </a:p>
                  </a:txBody>
                  <a:tcPr marL="54864" marR="54864" marT="27432" marB="27432" anchor="ctr">
                    <a:solidFill>
                      <a:srgbClr val="CBDCE4"/>
                    </a:solidFill>
                  </a:tcPr>
                </a:tc>
                <a:tc>
                  <a:txBody>
                    <a:bodyPr wrap="square"/>
                    <a:lstStyle/>
                    <a:p>
                      <a:pPr algn="ctr"/>
                      <a:r>
                        <a:rPr sz="1300" b="1" i="0">
                          <a:solidFill>
                            <a:srgbClr val="1F2A36"/>
                          </a:solidFill>
                          <a:latin typeface="Times New Roman"/>
                        </a:rPr>
                        <a:t>F1-score</a:t>
                      </a:r>
                    </a:p>
                  </a:txBody>
                  <a:tcPr marL="54864" marR="54864" marT="27432" marB="27432" anchor="ctr">
                    <a:solidFill>
                      <a:srgbClr val="CBDCE4"/>
                    </a:solidFill>
                  </a:tcPr>
                </a:tc>
                <a:tc>
                  <a:txBody>
                    <a:bodyPr wrap="square"/>
                    <a:lstStyle/>
                    <a:p>
                      <a:pPr algn="ctr"/>
                      <a:r>
                        <a:rPr sz="1300" b="1" i="0">
                          <a:solidFill>
                            <a:srgbClr val="1F2A36"/>
                          </a:solidFill>
                          <a:latin typeface="Times New Roman"/>
                        </a:rPr>
                        <a:t>Errors</a:t>
                      </a:r>
                    </a:p>
                  </a:txBody>
                  <a:tcPr marL="54864" marR="54864" marT="27432" marB="27432" anchor="ctr">
                    <a:solidFill>
                      <a:srgbClr val="CBDCE4"/>
                    </a:solidFill>
                  </a:tcPr>
                </a:tc>
                <a:tc>
                  <a:txBody>
                    <a:bodyPr wrap="square"/>
                    <a:lstStyle/>
                    <a:p>
                      <a:pPr algn="ctr"/>
                      <a:r>
                        <a:rPr sz="1300" b="1" i="0">
                          <a:solidFill>
                            <a:srgbClr val="1F2A36"/>
                          </a:solidFill>
                          <a:latin typeface="Times New Roman"/>
                        </a:rPr>
                        <a:t>5-fold CV accuracy</a:t>
                      </a:r>
                    </a:p>
                  </a:txBody>
                  <a:tcPr marL="54864" marR="54864" marT="27432" marB="27432" anchor="ctr">
                    <a:solidFill>
                      <a:srgbClr val="CBDCE4"/>
                    </a:solidFill>
                  </a:tcPr>
                </a:tc>
                <a:tc>
                  <a:txBody>
                    <a:bodyPr wrap="square"/>
                    <a:lstStyle/>
                    <a:p>
                      <a:pPr algn="ctr"/>
                      <a:r>
                        <a:rPr sz="1300" b="1" i="0">
                          <a:solidFill>
                            <a:srgbClr val="1F2A36"/>
                          </a:solidFill>
                          <a:latin typeface="Times New Roman"/>
                        </a:rPr>
                        <a:t>Training time</a:t>
                      </a:r>
                    </a:p>
                  </a:txBody>
                  <a:tcPr marL="54864" marR="54864" marT="27432" marB="27432" anchor="ctr">
                    <a:solidFill>
                      <a:srgbClr val="CBDCE4"/>
                    </a:solidFill>
                  </a:tcPr>
                </a:tc>
              </a:tr>
              <a:tr h="338328">
                <a:tc>
                  <a:txBody>
                    <a:bodyPr wrap="square"/>
                    <a:lstStyle/>
                    <a:p>
                      <a:pPr algn="l"/>
                      <a:r>
                        <a:rPr sz="1300" b="0" i="0">
                          <a:solidFill>
                            <a:srgbClr val="1F2A36"/>
                          </a:solidFill>
                          <a:latin typeface="Times New Roman"/>
                        </a:rPr>
                        <a:t>Random Forest (chosen)</a:t>
                      </a:r>
                    </a:p>
                  </a:txBody>
                  <a:tcPr marL="54864" marR="54864" marT="27432" marB="27432" anchor="ctr">
                    <a:solidFill>
                      <a:srgbClr val="DCEBDD"/>
                    </a:solidFill>
                  </a:tcPr>
                </a:tc>
                <a:tc>
                  <a:txBody>
                    <a:bodyPr wrap="square"/>
                    <a:lstStyle/>
                    <a:p>
                      <a:pPr algn="ctr"/>
                      <a:r>
                        <a:rPr sz="1300" b="0" i="0">
                          <a:solidFill>
                            <a:srgbClr val="1F2A36"/>
                          </a:solidFill>
                          <a:latin typeface="Times New Roman"/>
                        </a:rPr>
                        <a:t>99.55%</a:t>
                      </a:r>
                    </a:p>
                  </a:txBody>
                  <a:tcPr marL="54864" marR="54864" marT="27432" marB="27432" anchor="ctr">
                    <a:solidFill>
                      <a:srgbClr val="DCEBDD"/>
                    </a:solidFill>
                  </a:tcPr>
                </a:tc>
                <a:tc>
                  <a:txBody>
                    <a:bodyPr wrap="square"/>
                    <a:lstStyle/>
                    <a:p>
                      <a:pPr algn="ctr"/>
                      <a:r>
                        <a:rPr sz="1300" b="0" i="0">
                          <a:solidFill>
                            <a:srgbClr val="1F2A36"/>
                          </a:solidFill>
                          <a:latin typeface="Times New Roman"/>
                        </a:rPr>
                        <a:t>99.55%</a:t>
                      </a:r>
                    </a:p>
                  </a:txBody>
                  <a:tcPr marL="54864" marR="54864" marT="27432" marB="27432" anchor="ctr">
                    <a:solidFill>
                      <a:srgbClr val="DCEBDD"/>
                    </a:solidFill>
                  </a:tcPr>
                </a:tc>
                <a:tc>
                  <a:txBody>
                    <a:bodyPr wrap="square"/>
                    <a:lstStyle/>
                    <a:p>
                      <a:pPr algn="ctr"/>
                      <a:r>
                        <a:rPr sz="1300" b="0" i="0">
                          <a:solidFill>
                            <a:srgbClr val="1F2A36"/>
                          </a:solidFill>
                          <a:latin typeface="Times New Roman"/>
                        </a:rPr>
                        <a:t>2</a:t>
                      </a:r>
                    </a:p>
                  </a:txBody>
                  <a:tcPr marL="54864" marR="54864" marT="27432" marB="27432" anchor="ctr">
                    <a:solidFill>
                      <a:srgbClr val="DCEBDD"/>
                    </a:solidFill>
                  </a:tcPr>
                </a:tc>
                <a:tc>
                  <a:txBody>
                    <a:bodyPr wrap="square"/>
                    <a:lstStyle/>
                    <a:p>
                      <a:pPr algn="ctr"/>
                      <a:r>
                        <a:rPr sz="1300" b="0" i="0">
                          <a:solidFill>
                            <a:srgbClr val="1F2A36"/>
                          </a:solidFill>
                          <a:latin typeface="Times New Roman"/>
                        </a:rPr>
                        <a:t>99.38 ± 0.61%</a:t>
                      </a:r>
                    </a:p>
                  </a:txBody>
                  <a:tcPr marL="54864" marR="54864" marT="27432" marB="27432" anchor="ctr">
                    <a:solidFill>
                      <a:srgbClr val="DCEBDD"/>
                    </a:solidFill>
                  </a:tcPr>
                </a:tc>
                <a:tc>
                  <a:txBody>
                    <a:bodyPr wrap="square"/>
                    <a:lstStyle/>
                    <a:p>
                      <a:pPr algn="ctr"/>
                      <a:r>
                        <a:rPr sz="1300" b="0" i="0">
                          <a:solidFill>
                            <a:srgbClr val="1F2A36"/>
                          </a:solidFill>
                          <a:latin typeface="Times New Roman"/>
                        </a:rPr>
                        <a:t>0.24 s</a:t>
                      </a:r>
                    </a:p>
                  </a:txBody>
                  <a:tcPr marL="54864" marR="54864" marT="27432" marB="27432" anchor="ctr">
                    <a:solidFill>
                      <a:srgbClr val="DCEBDD"/>
                    </a:solidFill>
                  </a:tcPr>
                </a:tc>
              </a:tr>
              <a:tr h="338328">
                <a:tc>
                  <a:txBody>
                    <a:bodyPr wrap="square"/>
                    <a:lstStyle/>
                    <a:p>
                      <a:pPr algn="l"/>
                      <a:r>
                        <a:rPr sz="1300" b="0" i="0">
                          <a:solidFill>
                            <a:srgbClr val="1F2A36"/>
                          </a:solidFill>
                          <a:latin typeface="Times New Roman"/>
                        </a:rPr>
                        <a:t>Naive Bayes (tied best)</a:t>
                      </a:r>
                    </a:p>
                  </a:txBody>
                  <a:tcPr marL="54864" marR="54864" marT="27432" marB="27432" anchor="ctr">
                    <a:solidFill>
                      <a:srgbClr val="DCEBDD"/>
                    </a:solidFill>
                  </a:tcPr>
                </a:tc>
                <a:tc>
                  <a:txBody>
                    <a:bodyPr wrap="square"/>
                    <a:lstStyle/>
                    <a:p>
                      <a:pPr algn="ctr"/>
                      <a:r>
                        <a:rPr sz="1300" b="0" i="0">
                          <a:solidFill>
                            <a:srgbClr val="1F2A36"/>
                          </a:solidFill>
                          <a:latin typeface="Times New Roman"/>
                        </a:rPr>
                        <a:t>99.55%</a:t>
                      </a:r>
                    </a:p>
                  </a:txBody>
                  <a:tcPr marL="54864" marR="54864" marT="27432" marB="27432" anchor="ctr">
                    <a:solidFill>
                      <a:srgbClr val="DCEBDD"/>
                    </a:solidFill>
                  </a:tcPr>
                </a:tc>
                <a:tc>
                  <a:txBody>
                    <a:bodyPr wrap="square"/>
                    <a:lstStyle/>
                    <a:p>
                      <a:pPr algn="ctr"/>
                      <a:r>
                        <a:rPr sz="1300" b="0" i="0">
                          <a:solidFill>
                            <a:srgbClr val="1F2A36"/>
                          </a:solidFill>
                          <a:latin typeface="Times New Roman"/>
                        </a:rPr>
                        <a:t>99.54%</a:t>
                      </a:r>
                    </a:p>
                  </a:txBody>
                  <a:tcPr marL="54864" marR="54864" marT="27432" marB="27432" anchor="ctr">
                    <a:solidFill>
                      <a:srgbClr val="DCEBDD"/>
                    </a:solidFill>
                  </a:tcPr>
                </a:tc>
                <a:tc>
                  <a:txBody>
                    <a:bodyPr wrap="square"/>
                    <a:lstStyle/>
                    <a:p>
                      <a:pPr algn="ctr"/>
                      <a:r>
                        <a:rPr sz="1300" b="0" i="0">
                          <a:solidFill>
                            <a:srgbClr val="1F2A36"/>
                          </a:solidFill>
                          <a:latin typeface="Times New Roman"/>
                        </a:rPr>
                        <a:t>2</a:t>
                      </a:r>
                    </a:p>
                  </a:txBody>
                  <a:tcPr marL="54864" marR="54864" marT="27432" marB="27432" anchor="ctr">
                    <a:solidFill>
                      <a:srgbClr val="DCEBDD"/>
                    </a:solidFill>
                  </a:tcPr>
                </a:tc>
                <a:tc>
                  <a:txBody>
                    <a:bodyPr wrap="square"/>
                    <a:lstStyle/>
                    <a:p>
                      <a:pPr algn="ctr"/>
                      <a:r>
                        <a:rPr sz="1300" b="0" i="0">
                          <a:solidFill>
                            <a:srgbClr val="1F2A36"/>
                          </a:solidFill>
                          <a:latin typeface="Times New Roman"/>
                        </a:rPr>
                        <a:t>99.49 ± 0.42%</a:t>
                      </a:r>
                    </a:p>
                  </a:txBody>
                  <a:tcPr marL="54864" marR="54864" marT="27432" marB="27432" anchor="ctr">
                    <a:solidFill>
                      <a:srgbClr val="DCEBDD"/>
                    </a:solidFill>
                  </a:tcPr>
                </a:tc>
                <a:tc>
                  <a:txBody>
                    <a:bodyPr wrap="square"/>
                    <a:lstStyle/>
                    <a:p>
                      <a:pPr algn="ctr"/>
                      <a:r>
                        <a:rPr sz="1300" b="0" i="0">
                          <a:solidFill>
                            <a:srgbClr val="1F2A36"/>
                          </a:solidFill>
                          <a:latin typeface="Times New Roman"/>
                        </a:rPr>
                        <a:t>&lt;0.01 s</a:t>
                      </a:r>
                    </a:p>
                  </a:txBody>
                  <a:tcPr marL="54864" marR="54864" marT="27432" marB="27432" anchor="ctr">
                    <a:solidFill>
                      <a:srgbClr val="DCEBDD"/>
                    </a:solidFill>
                  </a:tcPr>
                </a:tc>
              </a:tr>
              <a:tr h="338328">
                <a:tc>
                  <a:txBody>
                    <a:bodyPr wrap="square"/>
                    <a:lstStyle/>
                    <a:p>
                      <a:pPr algn="l"/>
                      <a:r>
                        <a:rPr sz="1300" b="0" i="0">
                          <a:solidFill>
                            <a:srgbClr val="1F2A36"/>
                          </a:solidFill>
                          <a:latin typeface="Times New Roman"/>
                        </a:rPr>
                        <a:t>AdaBoost (depth-3 trees)</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99.32%</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99.30%</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3</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98.75 ± 0.29%</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0.92 s</a:t>
                      </a:r>
                    </a:p>
                  </a:txBody>
                  <a:tcPr marL="54864" marR="54864" marT="27432" marB="27432" anchor="ctr">
                    <a:solidFill>
                      <a:srgbClr val="FFFFFF"/>
                    </a:solidFill>
                  </a:tcPr>
                </a:tc>
              </a:tr>
              <a:tr h="338328">
                <a:tc>
                  <a:txBody>
                    <a:bodyPr wrap="square"/>
                    <a:lstStyle/>
                    <a:p>
                      <a:pPr algn="l"/>
                      <a:r>
                        <a:rPr sz="1300" b="0" i="0">
                          <a:solidFill>
                            <a:srgbClr val="1F2A36"/>
                          </a:solidFill>
                          <a:latin typeface="Times New Roman"/>
                        </a:rPr>
                        <a:t>XGBoost</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99.09%</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99.08%</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4</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99.26 ± 0.14%</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1.02 s</a:t>
                      </a:r>
                    </a:p>
                  </a:txBody>
                  <a:tcPr marL="54864" marR="54864" marT="27432" marB="27432" anchor="ctr">
                    <a:solidFill>
                      <a:srgbClr val="F1F5F8"/>
                    </a:solidFill>
                  </a:tcPr>
                </a:tc>
              </a:tr>
              <a:tr h="338328">
                <a:tc>
                  <a:txBody>
                    <a:bodyPr wrap="square"/>
                    <a:lstStyle/>
                    <a:p>
                      <a:pPr algn="l"/>
                      <a:r>
                        <a:rPr sz="1300" b="0" i="0">
                          <a:solidFill>
                            <a:srgbClr val="1F2A36"/>
                          </a:solidFill>
                          <a:latin typeface="Times New Roman"/>
                        </a:rPr>
                        <a:t>LightGBM</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98.86%</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98.86%</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5</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99.03 ± 0.39%</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1.44 s</a:t>
                      </a:r>
                    </a:p>
                  </a:txBody>
                  <a:tcPr marL="54864" marR="54864" marT="27432" marB="27432" anchor="ctr">
                    <a:solidFill>
                      <a:srgbClr val="FFFFFF"/>
                    </a:solidFill>
                  </a:tcPr>
                </a:tc>
              </a:tr>
              <a:tr h="338328">
                <a:tc>
                  <a:txBody>
                    <a:bodyPr wrap="square"/>
                    <a:lstStyle/>
                    <a:p>
                      <a:pPr algn="l"/>
                      <a:r>
                        <a:rPr sz="1300" b="0" i="0">
                          <a:solidFill>
                            <a:srgbClr val="1F2A36"/>
                          </a:solidFill>
                          <a:latin typeface="Times New Roman"/>
                        </a:rPr>
                        <a:t>SVM (RBF)</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98.41%</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98.40%</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7</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97.90 ± 1.03%</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0.16 s</a:t>
                      </a:r>
                    </a:p>
                  </a:txBody>
                  <a:tcPr marL="54864" marR="54864" marT="27432" marB="27432" anchor="ctr">
                    <a:solidFill>
                      <a:srgbClr val="F1F5F8"/>
                    </a:solidFill>
                  </a:tcPr>
                </a:tc>
              </a:tr>
              <a:tr h="338328">
                <a:tc>
                  <a:txBody>
                    <a:bodyPr wrap="square"/>
                    <a:lstStyle/>
                    <a:p>
                      <a:pPr algn="l"/>
                      <a:r>
                        <a:rPr sz="1300" b="0" i="0">
                          <a:solidFill>
                            <a:srgbClr val="1F2A36"/>
                          </a:solidFill>
                          <a:latin typeface="Times New Roman"/>
                        </a:rPr>
                        <a:t>Decision Tree</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97.95%</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97.94%</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9</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98.52 ± 0.68%</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0.01 s</a:t>
                      </a:r>
                    </a:p>
                  </a:txBody>
                  <a:tcPr marL="54864" marR="54864" marT="27432" marB="27432" anchor="ctr">
                    <a:solidFill>
                      <a:srgbClr val="FFFFFF"/>
                    </a:solidFill>
                  </a:tcPr>
                </a:tc>
              </a:tr>
              <a:tr h="338328">
                <a:tc>
                  <a:txBody>
                    <a:bodyPr wrap="square"/>
                    <a:lstStyle/>
                    <a:p>
                      <a:pPr algn="l"/>
                      <a:r>
                        <a:rPr sz="1300" b="0" i="0">
                          <a:solidFill>
                            <a:srgbClr val="1F2A36"/>
                          </a:solidFill>
                          <a:latin typeface="Times New Roman"/>
                        </a:rPr>
                        <a:t>KNN (k = 5)</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97.95%</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97.93%</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9</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96.53 ± 1.21%</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&lt;0.01 s</a:t>
                      </a:r>
                    </a:p>
                  </a:txBody>
                  <a:tcPr marL="54864" marR="54864" marT="27432" marB="27432" anchor="ctr">
                    <a:solidFill>
                      <a:srgbClr val="F1F5F8"/>
                    </a:solidFill>
                  </a:tcPr>
                </a:tc>
              </a:tr>
              <a:tr h="338328">
                <a:tc>
                  <a:txBody>
                    <a:bodyPr wrap="square"/>
                    <a:lstStyle/>
                    <a:p>
                      <a:pPr algn="l"/>
                      <a:r>
                        <a:rPr sz="1300" b="0" i="0">
                          <a:solidFill>
                            <a:srgbClr val="1F2A36"/>
                          </a:solidFill>
                          <a:latin typeface="Times New Roman"/>
                        </a:rPr>
                        <a:t>Logistic Regression</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97.27%</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97.25%</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12</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96.82 ± 0.66%</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0.04 s</a:t>
                      </a:r>
                    </a:p>
                  </a:txBody>
                  <a:tcPr marL="54864" marR="54864" marT="27432" marB="27432" anchor="ctr">
                    <a:solidFill>
                      <a:srgbClr val="FFFFFF"/>
                    </a:solidFill>
                  </a:tcPr>
                </a:tc>
              </a:tr>
              <a:tr h="338328">
                <a:tc>
                  <a:txBody>
                    <a:bodyPr wrap="square"/>
                    <a:lstStyle/>
                    <a:p>
                      <a:pPr algn="l"/>
                      <a:r>
                        <a:rPr sz="1300" b="0" i="0">
                          <a:solidFill>
                            <a:srgbClr val="1F2A36"/>
                          </a:solidFill>
                          <a:latin typeface="Times New Roman"/>
                        </a:rPr>
                        <a:t>AdaBoost (default stumps)</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17.50%</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8.56%</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363</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31.93 ± 5.85%</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0.14 s</a:t>
                      </a:r>
                    </a:p>
                  </a:txBody>
                  <a:tcPr marL="54864" marR="54864" marT="27432" marB="27432" anchor="ctr">
                    <a:solidFill>
                      <a:srgbClr val="F1F5F8"/>
                    </a:solidFill>
                  </a:tcPr>
                </a:tc>
              </a:tr>
            </a:tbl>
          </a:graphicData>
        </a:graphic>
      </p:graphicFrame>
      <p:sp>
        <p:nvSpPr>
          <p:cNvPr id="4" name="Rounded Rectangle 3"/>
          <p:cNvSpPr/>
          <p:nvPr/>
        </p:nvSpPr>
        <p:spPr>
          <a:xfrm>
            <a:off x="448056" y="5257800"/>
            <a:ext cx="8229600" cy="868680"/>
          </a:xfrm>
          <a:prstGeom prst="roundRect">
            <a:avLst>
              <a:gd name="adj" fmla="val 12000"/>
            </a:avLst>
          </a:prstGeom>
          <a:gradFill rotWithShape="1">
            <a:gsLst>
              <a:gs pos="0">
                <a:srgbClr val="E7F1E6"/>
              </a:gs>
              <a:gs pos="100000">
                <a:srgbClr val="CCE0CC"/>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600" b="1" i="0">
                <a:solidFill>
                  <a:srgbClr val="1F2A36"/>
                </a:solidFill>
                <a:latin typeface="Times New Roman"/>
              </a:rPr>
              <a:t>Random Forest and Naive Bayes tie at 99.55%</a:t>
            </a:r>
            <a:r>
              <a:rPr sz="1600" b="0" i="0">
                <a:solidFill>
                  <a:srgbClr val="1F2A36"/>
                </a:solidFill>
                <a:latin typeface="Times New Roman"/>
              </a:rPr>
              <a:t> (2 errors in 440). The top five algorithms are within 3 test samples of each other.</a:t>
            </a:r>
          </a:p>
        </p:txBody>
      </p:sp>
      <p:sp>
        <p:nvSpPr>
          <p:cNvPr id="5"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Why We Chose Random Forest</a:t>
            </a:r>
          </a:p>
        </p:txBody>
      </p:sp>
      <p:pic>
        <p:nvPicPr>
          <p:cNvPr id="3" name="Picture 2" descr="figS2_model_comparison.png"/>
          <p:cNvPicPr>
            <a:picLocks noChangeAspect="1"/>
          </p:cNvPicPr>
          <p:nvPr/>
        </p:nvPicPr>
        <p:blipFill>
          <a:blip r:embed="rId4"/>
          <a:stretch>
            <a:fillRect/>
          </a:stretch>
        </p:blipFill>
        <p:spPr>
          <a:xfrm>
            <a:off x="825172" y="1188720"/>
            <a:ext cx="7475366" cy="3291840"/>
          </a:xfrm>
          <a:prstGeom prst="rect">
            <a:avLst/>
          </a:prstGeom>
          <a:ln w="9525">
            <a:solidFill>
              <a:srgbClr val="B8C4CE"/>
            </a:solidFill>
          </a:ln>
        </p:spPr>
      </p:pic>
      <p:sp>
        <p:nvSpPr>
          <p:cNvPr id="4" name="Rounded Rectangle 3"/>
          <p:cNvSpPr/>
          <p:nvPr/>
        </p:nvSpPr>
        <p:spPr>
          <a:xfrm>
            <a:off x="448056" y="4617720"/>
            <a:ext cx="4041648" cy="749808"/>
          </a:xfrm>
          <a:prstGeom prst="roundRect">
            <a:avLst>
              <a:gd name="adj" fmla="val 12000"/>
            </a:avLst>
          </a:prstGeom>
          <a:gradFill rotWithShape="1">
            <a:gsLst>
              <a:gs pos="0">
                <a:srgbClr val="E8EEF4"/>
              </a:gs>
              <a:gs pos="100000">
                <a:srgbClr val="CDD9E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500" b="1" i="0">
                <a:solidFill>
                  <a:srgbClr val="1F2A36"/>
                </a:solidFill>
                <a:latin typeface="Times New Roman"/>
              </a:rPr>
              <a:t>Joint best:</a:t>
            </a:r>
            <a:r>
              <a:rPr sz="1500" b="0" i="0">
                <a:solidFill>
                  <a:srgbClr val="1F2A36"/>
                </a:solidFill>
                <a:latin typeface="Times New Roman"/>
              </a:rPr>
              <a:t> 99.55% on 440 test samples</a:t>
            </a:r>
          </a:p>
        </p:txBody>
      </p:sp>
      <p:sp>
        <p:nvSpPr>
          <p:cNvPr id="5" name="Rounded Rectangle 4"/>
          <p:cNvSpPr/>
          <p:nvPr/>
        </p:nvSpPr>
        <p:spPr>
          <a:xfrm>
            <a:off x="4636008" y="4617720"/>
            <a:ext cx="4041648" cy="749808"/>
          </a:xfrm>
          <a:prstGeom prst="roundRect">
            <a:avLst>
              <a:gd name="adj" fmla="val 12000"/>
            </a:avLst>
          </a:prstGeom>
          <a:gradFill rotWithShape="1">
            <a:gsLst>
              <a:gs pos="0">
                <a:srgbClr val="E7F3F1"/>
              </a:gs>
              <a:gs pos="100000">
                <a:srgbClr val="CDE3DF"/>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500" b="1" i="0">
                <a:solidFill>
                  <a:srgbClr val="1F2A36"/>
                </a:solidFill>
                <a:latin typeface="Times New Roman"/>
              </a:rPr>
              <a:t>Stable:</a:t>
            </a:r>
            <a:r>
              <a:rPr sz="1500" b="0" i="0">
                <a:solidFill>
                  <a:srgbClr val="1F2A36"/>
                </a:solidFill>
                <a:latin typeface="Times New Roman"/>
              </a:rPr>
              <a:t> 99.38 ± 0.61% in cross-validation</a:t>
            </a:r>
          </a:p>
        </p:txBody>
      </p:sp>
      <p:sp>
        <p:nvSpPr>
          <p:cNvPr id="6" name="Rounded Rectangle 5"/>
          <p:cNvSpPr/>
          <p:nvPr/>
        </p:nvSpPr>
        <p:spPr>
          <a:xfrm>
            <a:off x="448056" y="5486400"/>
            <a:ext cx="4041648" cy="749808"/>
          </a:xfrm>
          <a:prstGeom prst="roundRect">
            <a:avLst>
              <a:gd name="adj" fmla="val 12000"/>
            </a:avLst>
          </a:prstGeom>
          <a:gradFill rotWithShape="1">
            <a:gsLst>
              <a:gs pos="0">
                <a:srgbClr val="E6F3EC"/>
              </a:gs>
              <a:gs pos="100000">
                <a:srgbClr val="CBE3D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500" b="1" i="0">
                <a:solidFill>
                  <a:srgbClr val="1F2A36"/>
                </a:solidFill>
                <a:latin typeface="Times New Roman"/>
              </a:rPr>
              <a:t>Top-3 list:</a:t>
            </a:r>
            <a:r>
              <a:rPr sz="1500" b="0" i="0">
                <a:solidFill>
                  <a:srgbClr val="1F2A36"/>
                </a:solidFill>
                <a:latin typeface="Times New Roman"/>
              </a:rPr>
              <a:t> tree votes give every crop a probability</a:t>
            </a:r>
          </a:p>
        </p:txBody>
      </p:sp>
      <p:sp>
        <p:nvSpPr>
          <p:cNvPr id="7" name="Rounded Rectangle 6"/>
          <p:cNvSpPr/>
          <p:nvPr/>
        </p:nvSpPr>
        <p:spPr>
          <a:xfrm>
            <a:off x="4636008" y="5486400"/>
            <a:ext cx="4041648" cy="749808"/>
          </a:xfrm>
          <a:prstGeom prst="roundRect">
            <a:avLst>
              <a:gd name="adj" fmla="val 12000"/>
            </a:avLst>
          </a:prstGeom>
          <a:gradFill rotWithShape="1">
            <a:gsLst>
              <a:gs pos="0">
                <a:srgbClr val="E7F1E6"/>
              </a:gs>
              <a:gs pos="100000">
                <a:srgbClr val="CCE0CC"/>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500" b="1" i="0">
                <a:solidFill>
                  <a:srgbClr val="1F2A36"/>
                </a:solidFill>
                <a:latin typeface="Times New Roman"/>
              </a:rPr>
              <a:t>Explainable:</a:t>
            </a:r>
            <a:r>
              <a:rPr sz="1500" b="0" i="0">
                <a:solidFill>
                  <a:srgbClr val="1F2A36"/>
                </a:solidFill>
                <a:latin typeface="Times New Roman"/>
              </a:rPr>
              <a:t> TreeSHAP is exact for trees; trains in 0.24 s</a:t>
            </a:r>
          </a:p>
        </p:txBody>
      </p:sp>
      <p:sp>
        <p:nvSpPr>
          <p:cNvPr id="8"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Why AdaBoost (Default) Failed</a:t>
            </a:r>
          </a:p>
        </p:txBody>
      </p:sp>
      <p:sp>
        <p:nvSpPr>
          <p:cNvPr id="3" name="Rounded Rectangle 2"/>
          <p:cNvSpPr/>
          <p:nvPr/>
        </p:nvSpPr>
        <p:spPr>
          <a:xfrm>
            <a:off x="448056" y="1280160"/>
            <a:ext cx="3977639" cy="2194560"/>
          </a:xfrm>
          <a:prstGeom prst="roundRect">
            <a:avLst>
              <a:gd name="adj" fmla="val 12000"/>
            </a:avLst>
          </a:prstGeom>
          <a:gradFill rotWithShape="1">
            <a:gsLst>
              <a:gs pos="0">
                <a:srgbClr val="EDEBF6"/>
              </a:gs>
              <a:gs pos="100000">
                <a:srgbClr val="D1CCE3"/>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ctr">
              <a:spcAft>
                <a:spcPts val="400"/>
              </a:spcAft>
            </a:pPr>
            <a:r>
              <a:rPr sz="4400" b="1" i="0">
                <a:solidFill>
                  <a:srgbClr val="A0442C"/>
                </a:solidFill>
                <a:latin typeface="Bookman Old Style"/>
              </a:rPr>
              <a:t>17.50%</a:t>
            </a:r>
          </a:p>
          <a:p>
            <a:pPr algn="ctr">
              <a:spcAft>
                <a:spcPts val="400"/>
              </a:spcAft>
            </a:pPr>
            <a:r>
              <a:rPr sz="1700" b="0" i="0">
                <a:solidFill>
                  <a:srgbClr val="1F2A36"/>
                </a:solidFill>
                <a:latin typeface="Times New Roman"/>
              </a:rPr>
              <a:t>Default: 50 one-split stumps</a:t>
            </a:r>
          </a:p>
        </p:txBody>
      </p:sp>
      <p:sp>
        <p:nvSpPr>
          <p:cNvPr id="4" name="Rounded Rectangle 3"/>
          <p:cNvSpPr/>
          <p:nvPr/>
        </p:nvSpPr>
        <p:spPr>
          <a:xfrm>
            <a:off x="4700016" y="1280160"/>
            <a:ext cx="3977639" cy="2194560"/>
          </a:xfrm>
          <a:prstGeom prst="roundRect">
            <a:avLst>
              <a:gd name="adj" fmla="val 12000"/>
            </a:avLst>
          </a:prstGeom>
          <a:gradFill rotWithShape="1">
            <a:gsLst>
              <a:gs pos="0">
                <a:srgbClr val="E7F1E6"/>
              </a:gs>
              <a:gs pos="100000">
                <a:srgbClr val="CCE0CC"/>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ctr">
              <a:spcAft>
                <a:spcPts val="400"/>
              </a:spcAft>
            </a:pPr>
            <a:r>
              <a:rPr sz="4400" b="1" i="0">
                <a:solidFill>
                  <a:srgbClr val="2E6B45"/>
                </a:solidFill>
                <a:latin typeface="Bookman Old Style"/>
              </a:rPr>
              <a:t>99.32%</a:t>
            </a:r>
          </a:p>
          <a:p>
            <a:pPr algn="ctr">
              <a:spcAft>
                <a:spcPts val="400"/>
              </a:spcAft>
            </a:pPr>
            <a:r>
              <a:rPr sz="1700" b="0" i="0">
                <a:solidFill>
                  <a:srgbClr val="1F2A36"/>
                </a:solidFill>
                <a:latin typeface="Times New Roman"/>
              </a:rPr>
              <a:t>200 trees of depth 3</a:t>
            </a:r>
          </a:p>
        </p:txBody>
      </p:sp>
      <p:sp>
        <p:nvSpPr>
          <p:cNvPr id="5" name="Rounded Rectangle 4"/>
          <p:cNvSpPr/>
          <p:nvPr/>
        </p:nvSpPr>
        <p:spPr>
          <a:xfrm>
            <a:off x="448056" y="3749039"/>
            <a:ext cx="8229600" cy="2377440"/>
          </a:xfrm>
          <a:prstGeom prst="roundRect">
            <a:avLst>
              <a:gd name="adj" fmla="val 12000"/>
            </a:avLst>
          </a:prstGeom>
          <a:gradFill rotWithShape="1">
            <a:gsLst>
              <a:gs pos="0">
                <a:srgbClr val="E8EEF4"/>
              </a:gs>
              <a:gs pos="100000">
                <a:srgbClr val="CDD9E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marL="201168" indent="-201168">
              <a:spcAft>
                <a:spcPts val="800"/>
              </a:spcAft>
              <a:buFont typeface="Arial"/>
              <a:buChar char="•"/>
            </a:pPr>
            <a:r>
              <a:rPr sz="1700" b="0" i="0">
                <a:solidFill>
                  <a:srgbClr val="1F2A36"/>
                </a:solidFill>
                <a:latin typeface="Times New Roman"/>
              </a:rPr>
              <a:t>A stump makes one split, so it can only divide 22 crops into 2 groups.</a:t>
            </a:r>
          </a:p>
          <a:p>
            <a:pPr algn="l" marL="201168" indent="-201168">
              <a:spcAft>
                <a:spcPts val="800"/>
              </a:spcAft>
              <a:buFont typeface="Arial"/>
              <a:buChar char="•"/>
            </a:pPr>
            <a:r>
              <a:rPr sz="1700" b="0" i="0">
                <a:solidFill>
                  <a:srgbClr val="1F2A36"/>
                </a:solidFill>
                <a:latin typeface="Times New Roman"/>
              </a:rPr>
              <a:t>Each boosting round adds very little, and most crops are never separated.</a:t>
            </a:r>
          </a:p>
          <a:p>
            <a:pPr algn="l" marL="201168" indent="-201168">
              <a:spcAft>
                <a:spcPts val="800"/>
              </a:spcAft>
              <a:buFont typeface="Arial"/>
              <a:buChar char="•"/>
            </a:pPr>
            <a:r>
              <a:rPr sz="1700" b="0" i="0">
                <a:solidFill>
                  <a:srgbClr val="1F2A36"/>
                </a:solidFill>
                <a:latin typeface="Times New Roman"/>
              </a:rPr>
              <a:t>A depth-3 tree separates up to 8 groups, and the same algorithm then works.</a:t>
            </a:r>
          </a:p>
          <a:p>
            <a:pPr algn="l" marL="201168" indent="-201168">
              <a:spcAft>
                <a:spcPts val="800"/>
              </a:spcAft>
              <a:buFont typeface="Arial"/>
              <a:buChar char="•"/>
            </a:pPr>
            <a:r>
              <a:rPr sz="1700" b="1" i="0">
                <a:solidFill>
                  <a:srgbClr val="1F2A36"/>
                </a:solidFill>
                <a:latin typeface="Times New Roman"/>
              </a:rPr>
              <a:t>Lesson:</a:t>
            </a:r>
            <a:r>
              <a:rPr sz="1700" b="0" i="0">
                <a:solidFill>
                  <a:srgbClr val="1F2A36"/>
                </a:solidFill>
                <a:latin typeface="Times New Roman"/>
              </a:rPr>
              <a:t> the weak learner was too weak, not boosting itself.</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Result: Testing Random Forest</a:t>
            </a:r>
          </a:p>
        </p:txBody>
      </p:sp>
      <p:pic>
        <p:nvPicPr>
          <p:cNvPr id="3" name="Picture 2" descr="figS3_confusion_best.png"/>
          <p:cNvPicPr>
            <a:picLocks noChangeAspect="1"/>
          </p:cNvPicPr>
          <p:nvPr/>
        </p:nvPicPr>
        <p:blipFill>
          <a:blip r:embed="rId4"/>
          <a:stretch>
            <a:fillRect/>
          </a:stretch>
        </p:blipFill>
        <p:spPr>
          <a:xfrm>
            <a:off x="448056" y="1188720"/>
            <a:ext cx="4343400" cy="4273156"/>
          </a:xfrm>
          <a:prstGeom prst="rect">
            <a:avLst/>
          </a:prstGeom>
          <a:ln w="9525">
            <a:solidFill>
              <a:srgbClr val="B8C4CE"/>
            </a:solidFill>
          </a:ln>
        </p:spPr>
      </p:pic>
      <p:sp>
        <p:nvSpPr>
          <p:cNvPr id="4" name="Rounded Rectangle 3"/>
          <p:cNvSpPr/>
          <p:nvPr/>
        </p:nvSpPr>
        <p:spPr>
          <a:xfrm>
            <a:off x="4983480" y="1188720"/>
            <a:ext cx="3694176" cy="1325880"/>
          </a:xfrm>
          <a:prstGeom prst="roundRect">
            <a:avLst>
              <a:gd name="adj" fmla="val 12000"/>
            </a:avLst>
          </a:prstGeom>
          <a:gradFill rotWithShape="1">
            <a:gsLst>
              <a:gs pos="0">
                <a:srgbClr val="E8F0F3"/>
              </a:gs>
              <a:gs pos="100000">
                <a:srgbClr val="CBDCE4"/>
              </a:gs>
            </a:gsLst>
            <a:lin ang="5400000" scaled="0"/>
          </a:gradFill>
          <a:ln w="19050">
            <a:solidFill>
              <a:srgbClr val="FFFFFF"/>
            </a:solidFill>
          </a:ln>
          <a:effectLst>
            <a:outerShdw blurRad="40000" dist="20000" dir="5400000" rotWithShape="0">
              <a:srgbClr val="000000">
                <a:alpha val="38000"/>
              </a:srgbClr>
            </a:outerShdw>
          </a:effectLst>
        </p:spPr>
        <p:txBody>
          <a:bodyPr rtlCol="0" anchor="ctr" wrap="square" lIns="109728" rIns="109728" tIns="54864" bIns="54864"/>
          <a:lstStyle/>
          <a:p>
            <a:pPr algn="ctr">
              <a:spcAft>
                <a:spcPts val="400"/>
              </a:spcAft>
            </a:pPr>
            <a:r>
              <a:rPr sz="3200" b="1" i="0">
                <a:solidFill>
                  <a:srgbClr val="3B5A78"/>
                </a:solidFill>
                <a:latin typeface="Bookman Old Style"/>
              </a:rPr>
              <a:t>438 / 440</a:t>
            </a:r>
          </a:p>
          <a:p>
            <a:pPr algn="ctr">
              <a:spcAft>
                <a:spcPts val="400"/>
              </a:spcAft>
            </a:pPr>
            <a:r>
              <a:rPr sz="1400" b="0" i="0">
                <a:solidFill>
                  <a:srgbClr val="1F2A36"/>
                </a:solidFill>
                <a:latin typeface="Times New Roman"/>
              </a:rPr>
              <a:t>test samples correct; 20 of 22 crops perfect</a:t>
            </a:r>
          </a:p>
        </p:txBody>
      </p:sp>
      <p:sp>
        <p:nvSpPr>
          <p:cNvPr id="5" name="Rounded Rectangle 4"/>
          <p:cNvSpPr/>
          <p:nvPr/>
        </p:nvSpPr>
        <p:spPr>
          <a:xfrm>
            <a:off x="4983480" y="2697480"/>
            <a:ext cx="3694176" cy="1600200"/>
          </a:xfrm>
          <a:prstGeom prst="roundRect">
            <a:avLst>
              <a:gd name="adj" fmla="val 12000"/>
            </a:avLst>
          </a:prstGeom>
          <a:gradFill rotWithShape="1">
            <a:gsLst>
              <a:gs pos="0">
                <a:srgbClr val="EDEBF6"/>
              </a:gs>
              <a:gs pos="100000">
                <a:srgbClr val="D1CCE3"/>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400" b="1" i="0">
                <a:solidFill>
                  <a:srgbClr val="1F2A36"/>
                </a:solidFill>
                <a:latin typeface="Bookman Old Style"/>
              </a:rPr>
              <a:t>Mistake 1: rice → jute</a:t>
            </a:r>
          </a:p>
          <a:p>
            <a:pPr algn="l">
              <a:spcAft>
                <a:spcPts val="400"/>
              </a:spcAft>
            </a:pPr>
            <a:r>
              <a:rPr sz="1400" b="0" i="0">
                <a:solidFill>
                  <a:srgbClr val="1F2A36"/>
                </a:solidFill>
                <a:latin typeface="Times New Roman"/>
              </a:rPr>
              <a:t>Same N, P, K (about 80-47-40) and humidity near 80%; they differ mainly in rainfall (236 vs 175 mm).</a:t>
            </a:r>
          </a:p>
        </p:txBody>
      </p:sp>
      <p:sp>
        <p:nvSpPr>
          <p:cNvPr id="6" name="Rounded Rectangle 5"/>
          <p:cNvSpPr/>
          <p:nvPr/>
        </p:nvSpPr>
        <p:spPr>
          <a:xfrm>
            <a:off x="4983480" y="4480560"/>
            <a:ext cx="3694176" cy="1371600"/>
          </a:xfrm>
          <a:prstGeom prst="roundRect">
            <a:avLst>
              <a:gd name="adj" fmla="val 12000"/>
            </a:avLst>
          </a:prstGeom>
          <a:gradFill rotWithShape="1">
            <a:gsLst>
              <a:gs pos="0">
                <a:srgbClr val="E6F3EC"/>
              </a:gs>
              <a:gs pos="100000">
                <a:srgbClr val="CBE3D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400" b="1" i="0">
                <a:solidFill>
                  <a:srgbClr val="1F2A36"/>
                </a:solidFill>
                <a:latin typeface="Bookman Old Style"/>
              </a:rPr>
              <a:t>Mistake 2: blackgram → maize</a:t>
            </a:r>
          </a:p>
          <a:p>
            <a:pPr algn="l">
              <a:spcAft>
                <a:spcPts val="400"/>
              </a:spcAft>
            </a:pPr>
            <a:r>
              <a:rPr sz="1400" b="0" i="0">
                <a:solidFill>
                  <a:srgbClr val="1F2A36"/>
                </a:solidFill>
                <a:latin typeface="Times New Roman"/>
              </a:rPr>
              <a:t>Same average humidity (65%) and similar potassium.</a:t>
            </a:r>
          </a:p>
        </p:txBody>
      </p:sp>
      <p:sp>
        <p:nvSpPr>
          <p:cNvPr id="7"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Is 99.5% Overfitting? No</a:t>
            </a:r>
          </a:p>
        </p:txBody>
      </p:sp>
      <p:pic>
        <p:nvPicPr>
          <p:cNvPr id="3" name="Picture 2" descr="fig2_5_overfitting.png"/>
          <p:cNvPicPr>
            <a:picLocks noChangeAspect="1"/>
          </p:cNvPicPr>
          <p:nvPr/>
        </p:nvPicPr>
        <p:blipFill>
          <a:blip r:embed="rId4"/>
          <a:stretch>
            <a:fillRect/>
          </a:stretch>
        </p:blipFill>
        <p:spPr>
          <a:xfrm>
            <a:off x="1399017" y="1188720"/>
            <a:ext cx="6327676" cy="3337560"/>
          </a:xfrm>
          <a:prstGeom prst="rect">
            <a:avLst/>
          </a:prstGeom>
          <a:ln w="9525">
            <a:solidFill>
              <a:srgbClr val="B8C4CE"/>
            </a:solidFill>
          </a:ln>
        </p:spPr>
      </p:pic>
      <p:sp>
        <p:nvSpPr>
          <p:cNvPr id="4" name="Rounded Rectangle 3"/>
          <p:cNvSpPr/>
          <p:nvPr/>
        </p:nvSpPr>
        <p:spPr>
          <a:xfrm>
            <a:off x="448056" y="4663440"/>
            <a:ext cx="8229600" cy="475488"/>
          </a:xfrm>
          <a:prstGeom prst="roundRect">
            <a:avLst>
              <a:gd name="adj" fmla="val 12000"/>
            </a:avLst>
          </a:prstGeom>
          <a:gradFill rotWithShape="1">
            <a:gsLst>
              <a:gs pos="0">
                <a:srgbClr val="EDEBF6"/>
              </a:gs>
              <a:gs pos="100000">
                <a:srgbClr val="D1CCE3"/>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400" b="0" i="0">
                <a:solidFill>
                  <a:srgbClr val="1F2A36"/>
                </a:solidFill>
                <a:latin typeface="Times New Roman"/>
              </a:rPr>
              <a:t>Training vs test gap: 0.45 points for Random Forest; largest 2.05 (single decision tree)</a:t>
            </a:r>
          </a:p>
        </p:txBody>
      </p:sp>
      <p:sp>
        <p:nvSpPr>
          <p:cNvPr id="5" name="Rounded Rectangle 4"/>
          <p:cNvSpPr/>
          <p:nvPr/>
        </p:nvSpPr>
        <p:spPr>
          <a:xfrm>
            <a:off x="448056" y="5230368"/>
            <a:ext cx="8229600" cy="475488"/>
          </a:xfrm>
          <a:prstGeom prst="roundRect">
            <a:avLst>
              <a:gd name="adj" fmla="val 12000"/>
            </a:avLst>
          </a:prstGeom>
          <a:gradFill rotWithShape="1">
            <a:gsLst>
              <a:gs pos="0">
                <a:srgbClr val="E8EEF4"/>
              </a:gs>
              <a:gs pos="100000">
                <a:srgbClr val="CDD9E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400" b="0" i="0">
                <a:solidFill>
                  <a:srgbClr val="1F2A36"/>
                </a:solidFill>
                <a:latin typeface="Times New Roman"/>
              </a:rPr>
              <a:t>Shuffled labels: Random Forest drops to 4.61%, the chance level for 22 crops (4.55%)</a:t>
            </a:r>
          </a:p>
        </p:txBody>
      </p:sp>
      <p:sp>
        <p:nvSpPr>
          <p:cNvPr id="6" name="Rounded Rectangle 5"/>
          <p:cNvSpPr/>
          <p:nvPr/>
        </p:nvSpPr>
        <p:spPr>
          <a:xfrm>
            <a:off x="448056" y="5797296"/>
            <a:ext cx="8229600" cy="475488"/>
          </a:xfrm>
          <a:prstGeom prst="roundRect">
            <a:avLst>
              <a:gd name="adj" fmla="val 12000"/>
            </a:avLst>
          </a:prstGeom>
          <a:gradFill rotWithShape="1">
            <a:gsLst>
              <a:gs pos="0">
                <a:srgbClr val="E6F3EC"/>
              </a:gs>
              <a:gs pos="100000">
                <a:srgbClr val="CBE3D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400" b="0" i="0">
                <a:solidFill>
                  <a:srgbClr val="1F2A36"/>
                </a:solidFill>
                <a:latin typeface="Times New Roman"/>
              </a:rPr>
              <a:t>Accuracy is high because the crops are well separated in this dataset</a:t>
            </a:r>
          </a:p>
        </p:txBody>
      </p:sp>
      <p:sp>
        <p:nvSpPr>
          <p:cNvPr id="7"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Result: Six Farmers' Top-3 Crops</a:t>
            </a:r>
          </a:p>
        </p:txBody>
      </p:sp>
      <p:graphicFrame>
        <p:nvGraphicFramePr>
          <p:cNvPr id="3" name="Table 2"/>
          <p:cNvGraphicFramePr>
            <a:graphicFrameLocks noGrp="1"/>
          </p:cNvGraphicFramePr>
          <p:nvPr/>
        </p:nvGraphicFramePr>
        <p:xfrm>
          <a:off x="448056" y="1188720"/>
          <a:ext cx="8229600" cy="3520440"/>
        </p:xfrm>
        <a:graphic>
          <a:graphicData uri="http://schemas.openxmlformats.org/drawingml/2006/table">
            <a:tbl>
              <a:tblPr firstRow="1">
                <a:tableStyleId>{5C22544A-7EE6-4342-B048-85BDC9FD1C3A}</a:tableStyleId>
              </a:tblPr>
              <a:tblGrid>
                <a:gridCol w="731520"/>
                <a:gridCol w="1005840"/>
                <a:gridCol w="1783080"/>
                <a:gridCol w="1600200"/>
                <a:gridCol w="1554480"/>
                <a:gridCol w="1554480"/>
              </a:tblGrid>
              <a:tr h="502920">
                <a:tc>
                  <a:txBody>
                    <a:bodyPr wrap="square"/>
                    <a:lstStyle/>
                    <a:p>
                      <a:pPr algn="ctr"/>
                      <a:r>
                        <a:rPr sz="1300" b="1" i="0">
                          <a:solidFill>
                            <a:srgbClr val="1F2A36"/>
                          </a:solidFill>
                          <a:latin typeface="Times New Roman"/>
                        </a:rPr>
                        <a:t>Farmer</a:t>
                      </a:r>
                    </a:p>
                  </a:txBody>
                  <a:tcPr marL="54864" marR="54864" marT="27432" marB="27432" anchor="ctr">
                    <a:solidFill>
                      <a:srgbClr val="CBDCE4"/>
                    </a:solidFill>
                  </a:tcPr>
                </a:tc>
                <a:tc>
                  <a:txBody>
                    <a:bodyPr wrap="square"/>
                    <a:lstStyle/>
                    <a:p>
                      <a:pPr algn="ctr"/>
                      <a:r>
                        <a:rPr sz="1300" b="1" i="0">
                          <a:solidFill>
                            <a:srgbClr val="1F2A36"/>
                          </a:solidFill>
                          <a:latin typeface="Times New Roman"/>
                        </a:rPr>
                        <a:t>Soil N-P-K</a:t>
                      </a:r>
                    </a:p>
                  </a:txBody>
                  <a:tcPr marL="54864" marR="54864" marT="27432" marB="27432" anchor="ctr">
                    <a:solidFill>
                      <a:srgbClr val="CBDCE4"/>
                    </a:solidFill>
                  </a:tcPr>
                </a:tc>
                <a:tc>
                  <a:txBody>
                    <a:bodyPr wrap="square"/>
                    <a:lstStyle/>
                    <a:p>
                      <a:pPr algn="ctr"/>
                      <a:r>
                        <a:rPr sz="1300" b="1" i="0">
                          <a:solidFill>
                            <a:srgbClr val="1F2A36"/>
                          </a:solidFill>
                          <a:latin typeface="Times New Roman"/>
                        </a:rPr>
                        <a:t>Temp., humidity, rain</a:t>
                      </a:r>
                    </a:p>
                  </a:txBody>
                  <a:tcPr marL="54864" marR="54864" marT="27432" marB="27432" anchor="ctr">
                    <a:solidFill>
                      <a:srgbClr val="CBDCE4"/>
                    </a:solidFill>
                  </a:tcPr>
                </a:tc>
                <a:tc>
                  <a:txBody>
                    <a:bodyPr wrap="square"/>
                    <a:lstStyle/>
                    <a:p>
                      <a:pPr algn="ctr"/>
                      <a:r>
                        <a:rPr sz="1300" b="1" i="0">
                          <a:solidFill>
                            <a:srgbClr val="1F2A36"/>
                          </a:solidFill>
                          <a:latin typeface="Times New Roman"/>
                        </a:rPr>
                        <a:t>1st choice</a:t>
                      </a:r>
                    </a:p>
                  </a:txBody>
                  <a:tcPr marL="54864" marR="54864" marT="27432" marB="27432" anchor="ctr">
                    <a:solidFill>
                      <a:srgbClr val="CBDCE4"/>
                    </a:solidFill>
                  </a:tcPr>
                </a:tc>
                <a:tc>
                  <a:txBody>
                    <a:bodyPr wrap="square"/>
                    <a:lstStyle/>
                    <a:p>
                      <a:pPr algn="ctr"/>
                      <a:r>
                        <a:rPr sz="1300" b="1" i="0">
                          <a:solidFill>
                            <a:srgbClr val="1F2A36"/>
                          </a:solidFill>
                          <a:latin typeface="Times New Roman"/>
                        </a:rPr>
                        <a:t>2nd choice</a:t>
                      </a:r>
                    </a:p>
                  </a:txBody>
                  <a:tcPr marL="54864" marR="54864" marT="27432" marB="27432" anchor="ctr">
                    <a:solidFill>
                      <a:srgbClr val="CBDCE4"/>
                    </a:solidFill>
                  </a:tcPr>
                </a:tc>
                <a:tc>
                  <a:txBody>
                    <a:bodyPr wrap="square"/>
                    <a:lstStyle/>
                    <a:p>
                      <a:pPr algn="ctr"/>
                      <a:r>
                        <a:rPr sz="1300" b="1" i="0">
                          <a:solidFill>
                            <a:srgbClr val="1F2A36"/>
                          </a:solidFill>
                          <a:latin typeface="Times New Roman"/>
                        </a:rPr>
                        <a:t>3rd choice</a:t>
                      </a:r>
                    </a:p>
                  </a:txBody>
                  <a:tcPr marL="54864" marR="54864" marT="27432" marB="27432" anchor="ctr">
                    <a:solidFill>
                      <a:srgbClr val="CBDCE4"/>
                    </a:solidFill>
                  </a:tcPr>
                </a:tc>
              </a:tr>
              <a:tr h="502920">
                <a:tc>
                  <a:txBody>
                    <a:bodyPr wrap="square"/>
                    <a:lstStyle/>
                    <a:p>
                      <a:pPr algn="ctr"/>
                      <a:r>
                        <a:rPr sz="1300" b="0" i="0">
                          <a:solidFill>
                            <a:srgbClr val="1F2A36"/>
                          </a:solidFill>
                          <a:latin typeface="Times New Roman"/>
                        </a:rPr>
                        <a:t>F1</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18-17-31</a:t>
                      </a:r>
                    </a:p>
                  </a:txBody>
                  <a:tcPr marL="54864" marR="54864" marT="27432" marB="27432" anchor="ctr">
                    <a:solidFill>
                      <a:srgbClr val="FFFFFF"/>
                    </a:solidFill>
                  </a:tcPr>
                </a:tc>
                <a:tc>
                  <a:txBody>
                    <a:bodyPr wrap="square"/>
                    <a:lstStyle/>
                    <a:p>
                      <a:pPr algn="l"/>
                      <a:r>
                        <a:rPr sz="1300" b="0" i="0">
                          <a:solidFill>
                            <a:srgbClr val="1F2A36"/>
                          </a:solidFill>
                          <a:latin typeface="Times New Roman"/>
                        </a:rPr>
                        <a:t>31.7 °C, 45.2%, 94 mm</a:t>
                      </a:r>
                    </a:p>
                  </a:txBody>
                  <a:tcPr marL="54864" marR="54864" marT="27432" marB="27432" anchor="ctr">
                    <a:solidFill>
                      <a:srgbClr val="FFFFFF"/>
                    </a:solidFill>
                  </a:tcPr>
                </a:tc>
                <a:tc>
                  <a:txBody>
                    <a:bodyPr wrap="square"/>
                    <a:lstStyle/>
                    <a:p>
                      <a:pPr algn="l"/>
                      <a:r>
                        <a:rPr sz="1300" b="0" i="0">
                          <a:solidFill>
                            <a:srgbClr val="1F2A36"/>
                          </a:solidFill>
                          <a:latin typeface="Times New Roman"/>
                        </a:rPr>
                        <a:t>mango (0.98)</a:t>
                      </a:r>
                    </a:p>
                  </a:txBody>
                  <a:tcPr marL="54864" marR="54864" marT="27432" marB="27432" anchor="ctr">
                    <a:solidFill>
                      <a:srgbClr val="FFFFFF"/>
                    </a:solidFill>
                  </a:tcPr>
                </a:tc>
                <a:tc>
                  <a:txBody>
                    <a:bodyPr wrap="square"/>
                    <a:lstStyle/>
                    <a:p>
                      <a:pPr algn="l"/>
                      <a:r>
                        <a:rPr sz="1300" b="0" i="0">
                          <a:solidFill>
                            <a:srgbClr val="1F2A36"/>
                          </a:solidFill>
                          <a:latin typeface="Times New Roman"/>
                        </a:rPr>
                        <a:t>orange (0.01)</a:t>
                      </a:r>
                    </a:p>
                  </a:txBody>
                  <a:tcPr marL="54864" marR="54864" marT="27432" marB="27432" anchor="ctr">
                    <a:solidFill>
                      <a:srgbClr val="FFFFFF"/>
                    </a:solidFill>
                  </a:tcPr>
                </a:tc>
                <a:tc>
                  <a:txBody>
                    <a:bodyPr wrap="square"/>
                    <a:lstStyle/>
                    <a:p>
                      <a:pPr algn="l"/>
                      <a:r>
                        <a:rPr sz="1300" b="0" i="0">
                          <a:solidFill>
                            <a:srgbClr val="1F2A36"/>
                          </a:solidFill>
                          <a:latin typeface="Times New Roman"/>
                        </a:rPr>
                        <a:t>pigeon peas (0.01)</a:t>
                      </a:r>
                    </a:p>
                  </a:txBody>
                  <a:tcPr marL="54864" marR="54864" marT="27432" marB="27432" anchor="ctr">
                    <a:solidFill>
                      <a:srgbClr val="FFFFFF"/>
                    </a:solidFill>
                  </a:tcPr>
                </a:tc>
              </a:tr>
              <a:tr h="502920">
                <a:tc>
                  <a:txBody>
                    <a:bodyPr wrap="square"/>
                    <a:lstStyle/>
                    <a:p>
                      <a:pPr algn="ctr"/>
                      <a:r>
                        <a:rPr sz="1300" b="0" i="0">
                          <a:solidFill>
                            <a:srgbClr val="1F2A36"/>
                          </a:solidFill>
                          <a:latin typeface="Times New Roman"/>
                        </a:rPr>
                        <a:t>F2</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22-44-24</a:t>
                      </a:r>
                    </a:p>
                  </a:txBody>
                  <a:tcPr marL="54864" marR="54864" marT="27432" marB="27432" anchor="ctr">
                    <a:solidFill>
                      <a:srgbClr val="F1F5F8"/>
                    </a:solidFill>
                  </a:tcPr>
                </a:tc>
                <a:tc>
                  <a:txBody>
                    <a:bodyPr wrap="square"/>
                    <a:lstStyle/>
                    <a:p>
                      <a:pPr algn="l"/>
                      <a:r>
                        <a:rPr sz="1300" b="0" i="0">
                          <a:solidFill>
                            <a:srgbClr val="1F2A36"/>
                          </a:solidFill>
                          <a:latin typeface="Times New Roman"/>
                        </a:rPr>
                        <a:t>24.3 °C, 56.3%, 59 mm</a:t>
                      </a:r>
                    </a:p>
                  </a:txBody>
                  <a:tcPr marL="54864" marR="54864" marT="27432" marB="27432" anchor="ctr">
                    <a:solidFill>
                      <a:srgbClr val="F1F5F8"/>
                    </a:solidFill>
                  </a:tcPr>
                </a:tc>
                <a:tc>
                  <a:txBody>
                    <a:bodyPr wrap="square"/>
                    <a:lstStyle/>
                    <a:p>
                      <a:pPr algn="l"/>
                      <a:r>
                        <a:rPr sz="1300" b="0" i="0">
                          <a:solidFill>
                            <a:srgbClr val="1F2A36"/>
                          </a:solidFill>
                          <a:latin typeface="Times New Roman"/>
                        </a:rPr>
                        <a:t>moth beans (0.72)</a:t>
                      </a:r>
                    </a:p>
                  </a:txBody>
                  <a:tcPr marL="54864" marR="54864" marT="27432" marB="27432" anchor="ctr">
                    <a:solidFill>
                      <a:srgbClr val="F1F5F8"/>
                    </a:solidFill>
                  </a:tcPr>
                </a:tc>
                <a:tc>
                  <a:txBody>
                    <a:bodyPr wrap="square"/>
                    <a:lstStyle/>
                    <a:p>
                      <a:pPr algn="l"/>
                      <a:r>
                        <a:rPr sz="1300" b="0" i="0">
                          <a:solidFill>
                            <a:srgbClr val="1F2A36"/>
                          </a:solidFill>
                          <a:latin typeface="Times New Roman"/>
                        </a:rPr>
                        <a:t>pigeon peas (0.10)</a:t>
                      </a:r>
                    </a:p>
                  </a:txBody>
                  <a:tcPr marL="54864" marR="54864" marT="27432" marB="27432" anchor="ctr">
                    <a:solidFill>
                      <a:srgbClr val="F1F5F8"/>
                    </a:solidFill>
                  </a:tcPr>
                </a:tc>
                <a:tc>
                  <a:txBody>
                    <a:bodyPr wrap="square"/>
                    <a:lstStyle/>
                    <a:p>
                      <a:pPr algn="l"/>
                      <a:r>
                        <a:rPr sz="1300" b="0" i="0">
                          <a:solidFill>
                            <a:srgbClr val="1F2A36"/>
                          </a:solidFill>
                          <a:latin typeface="Times New Roman"/>
                        </a:rPr>
                        <a:t>maize (0.08)</a:t>
                      </a:r>
                    </a:p>
                  </a:txBody>
                  <a:tcPr marL="54864" marR="54864" marT="27432" marB="27432" anchor="ctr">
                    <a:solidFill>
                      <a:srgbClr val="F1F5F8"/>
                    </a:solidFill>
                  </a:tcPr>
                </a:tc>
              </a:tr>
              <a:tr h="502920">
                <a:tc>
                  <a:txBody>
                    <a:bodyPr wrap="square"/>
                    <a:lstStyle/>
                    <a:p>
                      <a:pPr algn="ctr"/>
                      <a:r>
                        <a:rPr sz="1300" b="0" i="0">
                          <a:solidFill>
                            <a:srgbClr val="1F2A36"/>
                          </a:solidFill>
                          <a:latin typeface="Times New Roman"/>
                        </a:rPr>
                        <a:t>F3</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3-67-24</a:t>
                      </a:r>
                    </a:p>
                  </a:txBody>
                  <a:tcPr marL="54864" marR="54864" marT="27432" marB="27432" anchor="ctr">
                    <a:solidFill>
                      <a:srgbClr val="FFFFFF"/>
                    </a:solidFill>
                  </a:tcPr>
                </a:tc>
                <a:tc>
                  <a:txBody>
                    <a:bodyPr wrap="square"/>
                    <a:lstStyle/>
                    <a:p>
                      <a:pPr algn="l"/>
                      <a:r>
                        <a:rPr sz="1300" b="0" i="0">
                          <a:solidFill>
                            <a:srgbClr val="1F2A36"/>
                          </a:solidFill>
                          <a:latin typeface="Times New Roman"/>
                        </a:rPr>
                        <a:t>17.0 °C, 19.9%, 103 mm</a:t>
                      </a:r>
                    </a:p>
                  </a:txBody>
                  <a:tcPr marL="54864" marR="54864" marT="27432" marB="27432" anchor="ctr">
                    <a:solidFill>
                      <a:srgbClr val="FFFFFF"/>
                    </a:solidFill>
                  </a:tcPr>
                </a:tc>
                <a:tc>
                  <a:txBody>
                    <a:bodyPr wrap="square"/>
                    <a:lstStyle/>
                    <a:p>
                      <a:pPr algn="l"/>
                      <a:r>
                        <a:rPr sz="1300" b="0" i="0">
                          <a:solidFill>
                            <a:srgbClr val="1F2A36"/>
                          </a:solidFill>
                          <a:latin typeface="Times New Roman"/>
                        </a:rPr>
                        <a:t>kidney beans (0.99)</a:t>
                      </a:r>
                    </a:p>
                  </a:txBody>
                  <a:tcPr marL="54864" marR="54864" marT="27432" marB="27432" anchor="ctr">
                    <a:solidFill>
                      <a:srgbClr val="FFFFFF"/>
                    </a:solidFill>
                  </a:tcPr>
                </a:tc>
                <a:tc>
                  <a:txBody>
                    <a:bodyPr wrap="square"/>
                    <a:lstStyle/>
                    <a:p>
                      <a:pPr algn="l"/>
                      <a:r>
                        <a:rPr sz="1300" b="0" i="0">
                          <a:solidFill>
                            <a:srgbClr val="1F2A36"/>
                          </a:solidFill>
                          <a:latin typeface="Times New Roman"/>
                        </a:rPr>
                        <a:t>pigeon peas (0.01)</a:t>
                      </a:r>
                    </a:p>
                  </a:txBody>
                  <a:tcPr marL="54864" marR="54864" marT="27432" marB="27432" anchor="ctr">
                    <a:solidFill>
                      <a:srgbClr val="FFFFFF"/>
                    </a:solidFill>
                  </a:tcPr>
                </a:tc>
                <a:tc>
                  <a:txBody>
                    <a:bodyPr wrap="square"/>
                    <a:lstStyle/>
                    <a:p>
                      <a:pPr algn="l"/>
                      <a:r>
                        <a:rPr sz="1300" b="0" i="0">
                          <a:solidFill>
                            <a:srgbClr val="1F2A36"/>
                          </a:solidFill>
                          <a:latin typeface="Times New Roman"/>
                        </a:rPr>
                        <a:t>blackgram (0.00)</a:t>
                      </a:r>
                    </a:p>
                  </a:txBody>
                  <a:tcPr marL="54864" marR="54864" marT="27432" marB="27432" anchor="ctr">
                    <a:solidFill>
                      <a:srgbClr val="FFFFFF"/>
                    </a:solidFill>
                  </a:tcPr>
                </a:tc>
              </a:tr>
              <a:tr h="502920">
                <a:tc>
                  <a:txBody>
                    <a:bodyPr wrap="square"/>
                    <a:lstStyle/>
                    <a:p>
                      <a:pPr algn="ctr"/>
                      <a:r>
                        <a:rPr sz="1300" b="0" i="0">
                          <a:solidFill>
                            <a:srgbClr val="1F2A36"/>
                          </a:solidFill>
                          <a:latin typeface="Times New Roman"/>
                        </a:rPr>
                        <a:t>F4</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34-75-24</a:t>
                      </a:r>
                    </a:p>
                  </a:txBody>
                  <a:tcPr marL="54864" marR="54864" marT="27432" marB="27432" anchor="ctr">
                    <a:solidFill>
                      <a:srgbClr val="F1F5F8"/>
                    </a:solidFill>
                  </a:tcPr>
                </a:tc>
                <a:tc>
                  <a:txBody>
                    <a:bodyPr wrap="square"/>
                    <a:lstStyle/>
                    <a:p>
                      <a:pPr algn="l"/>
                      <a:r>
                        <a:rPr sz="1300" b="0" i="0">
                          <a:solidFill>
                            <a:srgbClr val="1F2A36"/>
                          </a:solidFill>
                          <a:latin typeface="Times New Roman"/>
                        </a:rPr>
                        <a:t>23.5 °C, 51.3%, 192 mm</a:t>
                      </a:r>
                    </a:p>
                  </a:txBody>
                  <a:tcPr marL="54864" marR="54864" marT="27432" marB="27432" anchor="ctr">
                    <a:solidFill>
                      <a:srgbClr val="F1F5F8"/>
                    </a:solidFill>
                  </a:tcPr>
                </a:tc>
                <a:tc>
                  <a:txBody>
                    <a:bodyPr wrap="square"/>
                    <a:lstStyle/>
                    <a:p>
                      <a:pPr algn="l"/>
                      <a:r>
                        <a:rPr sz="1300" b="0" i="0">
                          <a:solidFill>
                            <a:srgbClr val="1F2A36"/>
                          </a:solidFill>
                          <a:latin typeface="Times New Roman"/>
                        </a:rPr>
                        <a:t>pigeon peas (0.98)</a:t>
                      </a:r>
                    </a:p>
                  </a:txBody>
                  <a:tcPr marL="54864" marR="54864" marT="27432" marB="27432" anchor="ctr">
                    <a:solidFill>
                      <a:srgbClr val="F1F5F8"/>
                    </a:solidFill>
                  </a:tcPr>
                </a:tc>
                <a:tc>
                  <a:txBody>
                    <a:bodyPr wrap="square"/>
                    <a:lstStyle/>
                    <a:p>
                      <a:pPr algn="l"/>
                      <a:r>
                        <a:rPr sz="1300" b="0" i="0">
                          <a:solidFill>
                            <a:srgbClr val="1F2A36"/>
                          </a:solidFill>
                          <a:latin typeface="Times New Roman"/>
                        </a:rPr>
                        <a:t>moth beans (0.02)</a:t>
                      </a:r>
                    </a:p>
                  </a:txBody>
                  <a:tcPr marL="54864" marR="54864" marT="27432" marB="27432" anchor="ctr">
                    <a:solidFill>
                      <a:srgbClr val="F1F5F8"/>
                    </a:solidFill>
                  </a:tcPr>
                </a:tc>
                <a:tc>
                  <a:txBody>
                    <a:bodyPr wrap="square"/>
                    <a:lstStyle/>
                    <a:p>
                      <a:pPr algn="l"/>
                      <a:r>
                        <a:rPr sz="1300" b="0" i="0">
                          <a:solidFill>
                            <a:srgbClr val="1F2A36"/>
                          </a:solidFill>
                          <a:latin typeface="Times New Roman"/>
                        </a:rPr>
                        <a:t>blackgram (0.00)</a:t>
                      </a:r>
                    </a:p>
                  </a:txBody>
                  <a:tcPr marL="54864" marR="54864" marT="27432" marB="27432" anchor="ctr">
                    <a:solidFill>
                      <a:srgbClr val="F1F5F8"/>
                    </a:solidFill>
                  </a:tcPr>
                </a:tc>
              </a:tr>
              <a:tr h="502920">
                <a:tc>
                  <a:txBody>
                    <a:bodyPr wrap="square"/>
                    <a:lstStyle/>
                    <a:p>
                      <a:pPr algn="ctr"/>
                      <a:r>
                        <a:rPr sz="1300" b="0" i="0">
                          <a:solidFill>
                            <a:srgbClr val="1F2A36"/>
                          </a:solidFill>
                          <a:latin typeface="Times New Roman"/>
                        </a:rPr>
                        <a:t>F5</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76-54-45</a:t>
                      </a:r>
                    </a:p>
                  </a:txBody>
                  <a:tcPr marL="54864" marR="54864" marT="27432" marB="27432" anchor="ctr">
                    <a:solidFill>
                      <a:srgbClr val="FFFFFF"/>
                    </a:solidFill>
                  </a:tcPr>
                </a:tc>
                <a:tc>
                  <a:txBody>
                    <a:bodyPr wrap="square"/>
                    <a:lstStyle/>
                    <a:p>
                      <a:pPr algn="l"/>
                      <a:r>
                        <a:rPr sz="1300" b="0" i="0">
                          <a:solidFill>
                            <a:srgbClr val="1F2A36"/>
                          </a:solidFill>
                          <a:latin typeface="Times New Roman"/>
                        </a:rPr>
                        <a:t>24.3 °C, 77.6%, 185 mm</a:t>
                      </a:r>
                    </a:p>
                  </a:txBody>
                  <a:tcPr marL="54864" marR="54864" marT="27432" marB="27432" anchor="ctr">
                    <a:solidFill>
                      <a:srgbClr val="FFFFFF"/>
                    </a:solidFill>
                  </a:tcPr>
                </a:tc>
                <a:tc>
                  <a:txBody>
                    <a:bodyPr wrap="square"/>
                    <a:lstStyle/>
                    <a:p>
                      <a:pPr algn="l"/>
                      <a:r>
                        <a:rPr sz="1300" b="0" i="0">
                          <a:solidFill>
                            <a:srgbClr val="1F2A36"/>
                          </a:solidFill>
                          <a:latin typeface="Times New Roman"/>
                        </a:rPr>
                        <a:t>jute (0.91)</a:t>
                      </a:r>
                    </a:p>
                  </a:txBody>
                  <a:tcPr marL="54864" marR="54864" marT="27432" marB="27432" anchor="ctr">
                    <a:solidFill>
                      <a:srgbClr val="FFFFFF"/>
                    </a:solidFill>
                  </a:tcPr>
                </a:tc>
                <a:tc>
                  <a:txBody>
                    <a:bodyPr wrap="square"/>
                    <a:lstStyle/>
                    <a:p>
                      <a:pPr algn="l"/>
                      <a:r>
                        <a:rPr sz="1300" b="0" i="0">
                          <a:solidFill>
                            <a:srgbClr val="1F2A36"/>
                          </a:solidFill>
                          <a:latin typeface="Times New Roman"/>
                        </a:rPr>
                        <a:t>rice (0.08)</a:t>
                      </a:r>
                    </a:p>
                  </a:txBody>
                  <a:tcPr marL="54864" marR="54864" marT="27432" marB="27432" anchor="ctr">
                    <a:solidFill>
                      <a:srgbClr val="FFFFFF"/>
                    </a:solidFill>
                  </a:tcPr>
                </a:tc>
                <a:tc>
                  <a:txBody>
                    <a:bodyPr wrap="square"/>
                    <a:lstStyle/>
                    <a:p>
                      <a:pPr algn="l"/>
                      <a:r>
                        <a:rPr sz="1300" b="0" i="0">
                          <a:solidFill>
                            <a:srgbClr val="1F2A36"/>
                          </a:solidFill>
                          <a:latin typeface="Times New Roman"/>
                        </a:rPr>
                        <a:t>papaya (0.01)</a:t>
                      </a:r>
                    </a:p>
                  </a:txBody>
                  <a:tcPr marL="54864" marR="54864" marT="27432" marB="27432" anchor="ctr">
                    <a:solidFill>
                      <a:srgbClr val="FFFFFF"/>
                    </a:solidFill>
                  </a:tcPr>
                </a:tc>
              </a:tr>
              <a:tr h="502920">
                <a:tc>
                  <a:txBody>
                    <a:bodyPr wrap="square"/>
                    <a:lstStyle/>
                    <a:p>
                      <a:pPr algn="ctr"/>
                      <a:r>
                        <a:rPr sz="1300" b="0" i="0">
                          <a:solidFill>
                            <a:srgbClr val="1F2A36"/>
                          </a:solidFill>
                          <a:latin typeface="Times New Roman"/>
                        </a:rPr>
                        <a:t>F6</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117-76-47</a:t>
                      </a:r>
                    </a:p>
                  </a:txBody>
                  <a:tcPr marL="54864" marR="54864" marT="27432" marB="27432" anchor="ctr">
                    <a:solidFill>
                      <a:srgbClr val="F1F5F8"/>
                    </a:solidFill>
                  </a:tcPr>
                </a:tc>
                <a:tc>
                  <a:txBody>
                    <a:bodyPr wrap="square"/>
                    <a:lstStyle/>
                    <a:p>
                      <a:pPr algn="l"/>
                      <a:r>
                        <a:rPr sz="1300" b="0" i="0">
                          <a:solidFill>
                            <a:srgbClr val="1F2A36"/>
                          </a:solidFill>
                          <a:latin typeface="Times New Roman"/>
                        </a:rPr>
                        <a:t>25.6 °C, 77.4%, 93 mm</a:t>
                      </a:r>
                    </a:p>
                  </a:txBody>
                  <a:tcPr marL="54864" marR="54864" marT="27432" marB="27432" anchor="ctr">
                    <a:solidFill>
                      <a:srgbClr val="F1F5F8"/>
                    </a:solidFill>
                  </a:tcPr>
                </a:tc>
                <a:tc>
                  <a:txBody>
                    <a:bodyPr wrap="square"/>
                    <a:lstStyle/>
                    <a:p>
                      <a:pPr algn="l"/>
                      <a:r>
                        <a:rPr sz="1300" b="0" i="0">
                          <a:solidFill>
                            <a:srgbClr val="1F2A36"/>
                          </a:solidFill>
                          <a:latin typeface="Times New Roman"/>
                        </a:rPr>
                        <a:t>banana (0.99)</a:t>
                      </a:r>
                    </a:p>
                  </a:txBody>
                  <a:tcPr marL="54864" marR="54864" marT="27432" marB="27432" anchor="ctr">
                    <a:solidFill>
                      <a:srgbClr val="F1F5F8"/>
                    </a:solidFill>
                  </a:tcPr>
                </a:tc>
                <a:tc>
                  <a:txBody>
                    <a:bodyPr wrap="square"/>
                    <a:lstStyle/>
                    <a:p>
                      <a:pPr algn="l"/>
                      <a:r>
                        <a:rPr sz="1300" b="0" i="0">
                          <a:solidFill>
                            <a:srgbClr val="1F2A36"/>
                          </a:solidFill>
                          <a:latin typeface="Times New Roman"/>
                        </a:rPr>
                        <a:t>cotton (0.01)</a:t>
                      </a:r>
                    </a:p>
                  </a:txBody>
                  <a:tcPr marL="54864" marR="54864" marT="27432" marB="27432" anchor="ctr">
                    <a:solidFill>
                      <a:srgbClr val="F1F5F8"/>
                    </a:solidFill>
                  </a:tcPr>
                </a:tc>
                <a:tc>
                  <a:txBody>
                    <a:bodyPr wrap="square"/>
                    <a:lstStyle/>
                    <a:p>
                      <a:pPr algn="l"/>
                      <a:r>
                        <a:rPr sz="1300" b="0" i="0">
                          <a:solidFill>
                            <a:srgbClr val="1F2A36"/>
                          </a:solidFill>
                          <a:latin typeface="Times New Roman"/>
                        </a:rPr>
                        <a:t>blackgram (0.00)</a:t>
                      </a:r>
                    </a:p>
                  </a:txBody>
                  <a:tcPr marL="54864" marR="54864" marT="27432" marB="27432" anchor="ctr">
                    <a:solidFill>
                      <a:srgbClr val="F1F5F8"/>
                    </a:solidFill>
                  </a:tcPr>
                </a:tc>
              </a:tr>
            </a:tbl>
          </a:graphicData>
        </a:graphic>
      </p:graphicFrame>
      <p:sp>
        <p:nvSpPr>
          <p:cNvPr id="4" name="Rounded Rectangle 3"/>
          <p:cNvSpPr/>
          <p:nvPr/>
        </p:nvSpPr>
        <p:spPr>
          <a:xfrm>
            <a:off x="448056" y="5074920"/>
            <a:ext cx="8229600" cy="1005840"/>
          </a:xfrm>
          <a:prstGeom prst="roundRect">
            <a:avLst>
              <a:gd name="adj" fmla="val 12000"/>
            </a:avLst>
          </a:prstGeom>
          <a:gradFill rotWithShape="1">
            <a:gsLst>
              <a:gs pos="0">
                <a:srgbClr val="E7F1E6"/>
              </a:gs>
              <a:gs pos="100000">
                <a:srgbClr val="CCE0CC"/>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600" b="0" i="0">
                <a:solidFill>
                  <a:srgbClr val="1F2A36"/>
                </a:solidFill>
                <a:latin typeface="Times New Roman"/>
              </a:rPr>
              <a:t>All six first choices match the crop actually grown. When the model is less sure (F2: 0.72), the 2nd and 3rd choices give real alternatives.</a:t>
            </a:r>
          </a:p>
        </p:txBody>
      </p:sp>
      <p:sp>
        <p:nvSpPr>
          <p:cNvPr id="5"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Result: Which Inputs Matter Most</a:t>
            </a:r>
          </a:p>
        </p:txBody>
      </p:sp>
      <p:pic>
        <p:nvPicPr>
          <p:cNvPr id="3" name="Picture 2" descr="figS4_shap_global_per_crop.png"/>
          <p:cNvPicPr>
            <a:picLocks noChangeAspect="1"/>
          </p:cNvPicPr>
          <p:nvPr/>
        </p:nvPicPr>
        <p:blipFill>
          <a:blip r:embed="rId4"/>
          <a:stretch>
            <a:fillRect/>
          </a:stretch>
        </p:blipFill>
        <p:spPr>
          <a:xfrm>
            <a:off x="914037" y="1188720"/>
            <a:ext cx="7297636" cy="3749039"/>
          </a:xfrm>
          <a:prstGeom prst="rect">
            <a:avLst/>
          </a:prstGeom>
          <a:ln w="9525">
            <a:solidFill>
              <a:srgbClr val="B8C4CE"/>
            </a:solidFill>
          </a:ln>
        </p:spPr>
      </p:pic>
      <p:sp>
        <p:nvSpPr>
          <p:cNvPr id="4" name="Rounded Rectangle 3"/>
          <p:cNvSpPr/>
          <p:nvPr/>
        </p:nvSpPr>
        <p:spPr>
          <a:xfrm>
            <a:off x="448056" y="5074920"/>
            <a:ext cx="8229600" cy="548640"/>
          </a:xfrm>
          <a:prstGeom prst="roundRect">
            <a:avLst>
              <a:gd name="adj" fmla="val 12000"/>
            </a:avLst>
          </a:prstGeom>
          <a:gradFill rotWithShape="1">
            <a:gsLst>
              <a:gs pos="0">
                <a:srgbClr val="EDEBF6"/>
              </a:gs>
              <a:gs pos="100000">
                <a:srgbClr val="D1CCE3"/>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500" b="0" i="0">
                <a:solidFill>
                  <a:srgbClr val="1F2A36"/>
                </a:solidFill>
                <a:latin typeface="Times New Roman"/>
              </a:rPr>
              <a:t>Overall: humidity 22%, rainfall 18%, K 17%, N 17%, P 16%, temperature 7%, pH 3%</a:t>
            </a:r>
          </a:p>
        </p:txBody>
      </p:sp>
      <p:sp>
        <p:nvSpPr>
          <p:cNvPr id="5" name="Rounded Rectangle 4"/>
          <p:cNvSpPr/>
          <p:nvPr/>
        </p:nvSpPr>
        <p:spPr>
          <a:xfrm>
            <a:off x="448056" y="5715000"/>
            <a:ext cx="8229600" cy="548640"/>
          </a:xfrm>
          <a:prstGeom prst="roundRect">
            <a:avLst>
              <a:gd name="adj" fmla="val 12000"/>
            </a:avLst>
          </a:prstGeom>
          <a:gradFill rotWithShape="1">
            <a:gsLst>
              <a:gs pos="0">
                <a:srgbClr val="E6F3EC"/>
              </a:gs>
              <a:gs pos="100000">
                <a:srgbClr val="CBE3D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500" b="0" i="0">
                <a:solidFill>
                  <a:srgbClr val="1F2A36"/>
                </a:solidFill>
                <a:latin typeface="Times New Roman"/>
              </a:rPr>
              <a:t>Deciding input per crop: rainfall 8 crops, humidity 7, P 3, N 2 (cotton, maize), K 2</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Result: Why Farmer F1 Got Mango</a:t>
            </a:r>
          </a:p>
        </p:txBody>
      </p:sp>
      <p:pic>
        <p:nvPicPr>
          <p:cNvPr id="3" name="Picture 2" descr="figS5_farmer_explanation.png"/>
          <p:cNvPicPr>
            <a:picLocks noChangeAspect="1"/>
          </p:cNvPicPr>
          <p:nvPr/>
        </p:nvPicPr>
        <p:blipFill>
          <a:blip r:embed="rId4"/>
          <a:stretch>
            <a:fillRect/>
          </a:stretch>
        </p:blipFill>
        <p:spPr>
          <a:xfrm>
            <a:off x="448056" y="1188720"/>
            <a:ext cx="8229600" cy="3121295"/>
          </a:xfrm>
          <a:prstGeom prst="rect">
            <a:avLst/>
          </a:prstGeom>
          <a:ln w="9525">
            <a:solidFill>
              <a:srgbClr val="B8C4CE"/>
            </a:solidFill>
          </a:ln>
        </p:spPr>
      </p:pic>
      <p:sp>
        <p:nvSpPr>
          <p:cNvPr id="4" name="Rounded Rectangle 3"/>
          <p:cNvSpPr/>
          <p:nvPr/>
        </p:nvSpPr>
        <p:spPr>
          <a:xfrm>
            <a:off x="448056" y="4526280"/>
            <a:ext cx="8229600" cy="777240"/>
          </a:xfrm>
          <a:prstGeom prst="roundRect">
            <a:avLst>
              <a:gd name="adj" fmla="val 12000"/>
            </a:avLst>
          </a:prstGeom>
          <a:gradFill rotWithShape="1">
            <a:gsLst>
              <a:gs pos="0">
                <a:srgbClr val="E8EEF4"/>
              </a:gs>
              <a:gs pos="100000">
                <a:srgbClr val="CDD9E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500" b="1" i="0">
                <a:solidFill>
                  <a:srgbClr val="1F2A36"/>
                </a:solidFill>
                <a:latin typeface="Times New Roman"/>
              </a:rPr>
              <a:t>Farmer F1 → mango (0.98):</a:t>
            </a:r>
            <a:r>
              <a:rPr sz="1500" b="0" i="0">
                <a:solidFill>
                  <a:srgbClr val="1F2A36"/>
                </a:solidFill>
                <a:latin typeface="Times New Roman"/>
              </a:rPr>
              <a:t> humidity 45.2% and rainfall 93.8 mm push most towards mango; the low N, P and K also fit.</a:t>
            </a:r>
          </a:p>
        </p:txBody>
      </p:sp>
      <p:sp>
        <p:nvSpPr>
          <p:cNvPr id="5" name="Rounded Rectangle 4"/>
          <p:cNvSpPr/>
          <p:nvPr/>
        </p:nvSpPr>
        <p:spPr>
          <a:xfrm>
            <a:off x="448056" y="5440680"/>
            <a:ext cx="8229600" cy="777240"/>
          </a:xfrm>
          <a:prstGeom prst="roundRect">
            <a:avLst>
              <a:gd name="adj" fmla="val 12000"/>
            </a:avLst>
          </a:prstGeom>
          <a:gradFill rotWithShape="1">
            <a:gsLst>
              <a:gs pos="0">
                <a:srgbClr val="E7F3F1"/>
              </a:gs>
              <a:gs pos="100000">
                <a:srgbClr val="CDE3DF"/>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500" b="1" i="0">
                <a:solidFill>
                  <a:srgbClr val="1F2A36"/>
                </a:solidFill>
                <a:latin typeface="Times New Roman"/>
              </a:rPr>
              <a:t>SHAP vs LIME:</a:t>
            </a:r>
            <a:r>
              <a:rPr sz="1500" b="0" i="0">
                <a:solidFill>
                  <a:srgbClr val="1F2A36"/>
                </a:solidFill>
                <a:latin typeface="Times New Roman"/>
              </a:rPr>
              <a:t> same top reason in 66% of 100 test samples and 78% overlap in the top 3, so the farmer sees only the top 2–3 reasons.</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Result: Fertilizer Algorithms</a:t>
            </a:r>
          </a:p>
        </p:txBody>
      </p:sp>
      <p:graphicFrame>
        <p:nvGraphicFramePr>
          <p:cNvPr id="3" name="Table 2"/>
          <p:cNvGraphicFramePr>
            <a:graphicFrameLocks noGrp="1"/>
          </p:cNvGraphicFramePr>
          <p:nvPr/>
        </p:nvGraphicFramePr>
        <p:xfrm>
          <a:off x="448056" y="1234440"/>
          <a:ext cx="4892040" cy="4279392"/>
        </p:xfrm>
        <a:graphic>
          <a:graphicData uri="http://schemas.openxmlformats.org/drawingml/2006/table">
            <a:tbl>
              <a:tblPr firstRow="1">
                <a:tableStyleId>{5C22544A-7EE6-4342-B048-85BDC9FD1C3A}</a:tableStyleId>
              </a:tblPr>
              <a:tblGrid>
                <a:gridCol w="2240280"/>
                <a:gridCol w="1600200"/>
                <a:gridCol w="1051560"/>
              </a:tblGrid>
              <a:tr h="475488">
                <a:tc>
                  <a:txBody>
                    <a:bodyPr wrap="square"/>
                    <a:lstStyle/>
                    <a:p>
                      <a:pPr algn="ctr"/>
                      <a:r>
                        <a:rPr sz="1400" b="1" i="0">
                          <a:solidFill>
                            <a:srgbClr val="1F2A36"/>
                          </a:solidFill>
                          <a:latin typeface="Times New Roman"/>
                        </a:rPr>
                        <a:t>Algorithm</a:t>
                      </a:r>
                    </a:p>
                  </a:txBody>
                  <a:tcPr marL="54864" marR="54864" marT="27432" marB="27432" anchor="ctr">
                    <a:solidFill>
                      <a:srgbClr val="CBDCE4"/>
                    </a:solidFill>
                  </a:tcPr>
                </a:tc>
                <a:tc>
                  <a:txBody>
                    <a:bodyPr wrap="square"/>
                    <a:lstStyle/>
                    <a:p>
                      <a:pPr algn="ctr"/>
                      <a:r>
                        <a:rPr sz="1400" b="1" i="0">
                          <a:solidFill>
                            <a:srgbClr val="1F2A36"/>
                          </a:solidFill>
                          <a:latin typeface="Times New Roman"/>
                        </a:rPr>
                        <a:t>Accuracy</a:t>
                      </a:r>
                    </a:p>
                  </a:txBody>
                  <a:tcPr marL="54864" marR="54864" marT="27432" marB="27432" anchor="ctr">
                    <a:solidFill>
                      <a:srgbClr val="CBDCE4"/>
                    </a:solidFill>
                  </a:tcPr>
                </a:tc>
                <a:tc>
                  <a:txBody>
                    <a:bodyPr wrap="square"/>
                    <a:lstStyle/>
                    <a:p>
                      <a:pPr algn="ctr"/>
                      <a:r>
                        <a:rPr sz="1400" b="1" i="0">
                          <a:solidFill>
                            <a:srgbClr val="1F2A36"/>
                          </a:solidFill>
                          <a:latin typeface="Times New Roman"/>
                        </a:rPr>
                        <a:t>F1-score</a:t>
                      </a:r>
                    </a:p>
                  </a:txBody>
                  <a:tcPr marL="54864" marR="54864" marT="27432" marB="27432" anchor="ctr">
                    <a:solidFill>
                      <a:srgbClr val="CBDCE4"/>
                    </a:solidFill>
                  </a:tcPr>
                </a:tc>
              </a:tr>
              <a:tr h="475488">
                <a:tc>
                  <a:txBody>
                    <a:bodyPr wrap="square"/>
                    <a:lstStyle/>
                    <a:p>
                      <a:pPr algn="l"/>
                      <a:r>
                        <a:rPr sz="1400" b="0" i="0">
                          <a:solidFill>
                            <a:srgbClr val="1F2A36"/>
                          </a:solidFill>
                          <a:latin typeface="Times New Roman"/>
                        </a:rPr>
                        <a:t>XGBoost (chosen)</a:t>
                      </a:r>
                    </a:p>
                  </a:txBody>
                  <a:tcPr marL="54864" marR="54864" marT="27432" marB="27432" anchor="ctr">
                    <a:solidFill>
                      <a:srgbClr val="DCEBDD"/>
                    </a:solidFill>
                  </a:tcPr>
                </a:tc>
                <a:tc>
                  <a:txBody>
                    <a:bodyPr wrap="square"/>
                    <a:lstStyle/>
                    <a:p>
                      <a:pPr algn="ctr"/>
                      <a:r>
                        <a:rPr sz="1400" b="0" i="0">
                          <a:solidFill>
                            <a:srgbClr val="1F2A36"/>
                          </a:solidFill>
                          <a:latin typeface="Times New Roman"/>
                        </a:rPr>
                        <a:t>97.69 ± 3.20%</a:t>
                      </a:r>
                    </a:p>
                  </a:txBody>
                  <a:tcPr marL="54864" marR="54864" marT="27432" marB="27432" anchor="ctr">
                    <a:solidFill>
                      <a:srgbClr val="DCEBDD"/>
                    </a:solidFill>
                  </a:tcPr>
                </a:tc>
                <a:tc>
                  <a:txBody>
                    <a:bodyPr wrap="square"/>
                    <a:lstStyle/>
                    <a:p>
                      <a:pPr algn="ctr"/>
                      <a:r>
                        <a:rPr sz="1400" b="0" i="0">
                          <a:solidFill>
                            <a:srgbClr val="1F2A36"/>
                          </a:solidFill>
                          <a:latin typeface="Times New Roman"/>
                        </a:rPr>
                        <a:t>95.02%</a:t>
                      </a:r>
                    </a:p>
                  </a:txBody>
                  <a:tcPr marL="54864" marR="54864" marT="27432" marB="27432" anchor="ctr">
                    <a:solidFill>
                      <a:srgbClr val="DCEBDD"/>
                    </a:solidFill>
                  </a:tcPr>
                </a:tc>
              </a:tr>
              <a:tr h="475488">
                <a:tc>
                  <a:txBody>
                    <a:bodyPr wrap="square"/>
                    <a:lstStyle/>
                    <a:p>
                      <a:pPr algn="l"/>
                      <a:r>
                        <a:rPr sz="1400" b="0" i="0">
                          <a:solidFill>
                            <a:srgbClr val="1F2A36"/>
                          </a:solidFill>
                          <a:latin typeface="Times New Roman"/>
                        </a:rPr>
                        <a:t>Decision Tree</a:t>
                      </a:r>
                    </a:p>
                  </a:txBody>
                  <a:tcPr marL="54864" marR="54864" marT="27432" marB="27432" anchor="ctr">
                    <a:solidFill>
                      <a:srgbClr val="F1F5F8"/>
                    </a:solidFill>
                  </a:tcPr>
                </a:tc>
                <a:tc>
                  <a:txBody>
                    <a:bodyPr wrap="square"/>
                    <a:lstStyle/>
                    <a:p>
                      <a:pPr algn="ctr"/>
                      <a:r>
                        <a:rPr sz="1400" b="0" i="0">
                          <a:solidFill>
                            <a:srgbClr val="1F2A36"/>
                          </a:solidFill>
                          <a:latin typeface="Times New Roman"/>
                        </a:rPr>
                        <a:t>96.28 ± 4.00%</a:t>
                      </a:r>
                    </a:p>
                  </a:txBody>
                  <a:tcPr marL="54864" marR="54864" marT="27432" marB="27432" anchor="ctr">
                    <a:solidFill>
                      <a:srgbClr val="F1F5F8"/>
                    </a:solidFill>
                  </a:tcPr>
                </a:tc>
                <a:tc>
                  <a:txBody>
                    <a:bodyPr wrap="square"/>
                    <a:lstStyle/>
                    <a:p>
                      <a:pPr algn="ctr"/>
                      <a:r>
                        <a:rPr sz="1400" b="0" i="0">
                          <a:solidFill>
                            <a:srgbClr val="1F2A36"/>
                          </a:solidFill>
                          <a:latin typeface="Times New Roman"/>
                        </a:rPr>
                        <a:t>92.24%</a:t>
                      </a:r>
                    </a:p>
                  </a:txBody>
                  <a:tcPr marL="54864" marR="54864" marT="27432" marB="27432" anchor="ctr">
                    <a:solidFill>
                      <a:srgbClr val="F1F5F8"/>
                    </a:solidFill>
                  </a:tcPr>
                </a:tc>
              </a:tr>
              <a:tr h="475488">
                <a:tc>
                  <a:txBody>
                    <a:bodyPr wrap="square"/>
                    <a:lstStyle/>
                    <a:p>
                      <a:pPr algn="l"/>
                      <a:r>
                        <a:rPr sz="1400" b="0" i="0">
                          <a:solidFill>
                            <a:srgbClr val="1F2A36"/>
                          </a:solidFill>
                          <a:latin typeface="Times New Roman"/>
                        </a:rPr>
                        <a:t>Random Forest</a:t>
                      </a:r>
                    </a:p>
                  </a:txBody>
                  <a:tcPr marL="54864" marR="54864" marT="27432" marB="27432" anchor="ctr">
                    <a:solidFill>
                      <a:srgbClr val="FFFFFF"/>
                    </a:solidFill>
                  </a:tcPr>
                </a:tc>
                <a:tc>
                  <a:txBody>
                    <a:bodyPr wrap="square"/>
                    <a:lstStyle/>
                    <a:p>
                      <a:pPr algn="ctr"/>
                      <a:r>
                        <a:rPr sz="1400" b="0" i="0">
                          <a:solidFill>
                            <a:srgbClr val="1F2A36"/>
                          </a:solidFill>
                          <a:latin typeface="Times New Roman"/>
                        </a:rPr>
                        <a:t>95.07 ± 4.43%</a:t>
                      </a:r>
                    </a:p>
                  </a:txBody>
                  <a:tcPr marL="54864" marR="54864" marT="27432" marB="27432" anchor="ctr">
                    <a:solidFill>
                      <a:srgbClr val="FFFFFF"/>
                    </a:solidFill>
                  </a:tcPr>
                </a:tc>
                <a:tc>
                  <a:txBody>
                    <a:bodyPr wrap="square"/>
                    <a:lstStyle/>
                    <a:p>
                      <a:pPr algn="ctr"/>
                      <a:r>
                        <a:rPr sz="1400" b="0" i="0">
                          <a:solidFill>
                            <a:srgbClr val="1F2A36"/>
                          </a:solidFill>
                          <a:latin typeface="Times New Roman"/>
                        </a:rPr>
                        <a:t>89.22%</a:t>
                      </a:r>
                    </a:p>
                  </a:txBody>
                  <a:tcPr marL="54864" marR="54864" marT="27432" marB="27432" anchor="ctr">
                    <a:solidFill>
                      <a:srgbClr val="FFFFFF"/>
                    </a:solidFill>
                  </a:tcPr>
                </a:tc>
              </a:tr>
              <a:tr h="475488">
                <a:tc>
                  <a:txBody>
                    <a:bodyPr wrap="square"/>
                    <a:lstStyle/>
                    <a:p>
                      <a:pPr algn="l"/>
                      <a:r>
                        <a:rPr sz="1400" b="0" i="0">
                          <a:solidFill>
                            <a:srgbClr val="1F2A36"/>
                          </a:solidFill>
                          <a:latin typeface="Times New Roman"/>
                        </a:rPr>
                        <a:t>Logistic Regression</a:t>
                      </a:r>
                    </a:p>
                  </a:txBody>
                  <a:tcPr marL="54864" marR="54864" marT="27432" marB="27432" anchor="ctr">
                    <a:solidFill>
                      <a:srgbClr val="F1F5F8"/>
                    </a:solidFill>
                  </a:tcPr>
                </a:tc>
                <a:tc>
                  <a:txBody>
                    <a:bodyPr wrap="square"/>
                    <a:lstStyle/>
                    <a:p>
                      <a:pPr algn="ctr"/>
                      <a:r>
                        <a:rPr sz="1400" b="0" i="0">
                          <a:solidFill>
                            <a:srgbClr val="1F2A36"/>
                          </a:solidFill>
                          <a:latin typeface="Times New Roman"/>
                        </a:rPr>
                        <a:t>94.35 ± 4.56%</a:t>
                      </a:r>
                    </a:p>
                  </a:txBody>
                  <a:tcPr marL="54864" marR="54864" marT="27432" marB="27432" anchor="ctr">
                    <a:solidFill>
                      <a:srgbClr val="F1F5F8"/>
                    </a:solidFill>
                  </a:tcPr>
                </a:tc>
                <a:tc>
                  <a:txBody>
                    <a:bodyPr wrap="square"/>
                    <a:lstStyle/>
                    <a:p>
                      <a:pPr algn="ctr"/>
                      <a:r>
                        <a:rPr sz="1400" b="0" i="0">
                          <a:solidFill>
                            <a:srgbClr val="1F2A36"/>
                          </a:solidFill>
                          <a:latin typeface="Times New Roman"/>
                        </a:rPr>
                        <a:t>87.59%</a:t>
                      </a:r>
                    </a:p>
                  </a:txBody>
                  <a:tcPr marL="54864" marR="54864" marT="27432" marB="27432" anchor="ctr">
                    <a:solidFill>
                      <a:srgbClr val="F1F5F8"/>
                    </a:solidFill>
                  </a:tcPr>
                </a:tc>
              </a:tr>
              <a:tr h="475488">
                <a:tc>
                  <a:txBody>
                    <a:bodyPr wrap="square"/>
                    <a:lstStyle/>
                    <a:p>
                      <a:pPr algn="l"/>
                      <a:r>
                        <a:rPr sz="1400" b="0" i="0">
                          <a:solidFill>
                            <a:srgbClr val="1F2A36"/>
                          </a:solidFill>
                          <a:latin typeface="Times New Roman"/>
                        </a:rPr>
                        <a:t>SVM (RBF)</a:t>
                      </a:r>
                    </a:p>
                  </a:txBody>
                  <a:tcPr marL="54864" marR="54864" marT="27432" marB="27432" anchor="ctr">
                    <a:solidFill>
                      <a:srgbClr val="FFFFFF"/>
                    </a:solidFill>
                  </a:tcPr>
                </a:tc>
                <a:tc>
                  <a:txBody>
                    <a:bodyPr wrap="square"/>
                    <a:lstStyle/>
                    <a:p>
                      <a:pPr algn="ctr"/>
                      <a:r>
                        <a:rPr sz="1400" b="0" i="0">
                          <a:solidFill>
                            <a:srgbClr val="1F2A36"/>
                          </a:solidFill>
                          <a:latin typeface="Times New Roman"/>
                        </a:rPr>
                        <a:t>88.09 ± 5.19%</a:t>
                      </a:r>
                    </a:p>
                  </a:txBody>
                  <a:tcPr marL="54864" marR="54864" marT="27432" marB="27432" anchor="ctr">
                    <a:solidFill>
                      <a:srgbClr val="FFFFFF"/>
                    </a:solidFill>
                  </a:tcPr>
                </a:tc>
                <a:tc>
                  <a:txBody>
                    <a:bodyPr wrap="square"/>
                    <a:lstStyle/>
                    <a:p>
                      <a:pPr algn="ctr"/>
                      <a:r>
                        <a:rPr sz="1400" b="0" i="0">
                          <a:solidFill>
                            <a:srgbClr val="1F2A36"/>
                          </a:solidFill>
                          <a:latin typeface="Times New Roman"/>
                        </a:rPr>
                        <a:t>77.61%</a:t>
                      </a:r>
                    </a:p>
                  </a:txBody>
                  <a:tcPr marL="54864" marR="54864" marT="27432" marB="27432" anchor="ctr">
                    <a:solidFill>
                      <a:srgbClr val="FFFFFF"/>
                    </a:solidFill>
                  </a:tcPr>
                </a:tc>
              </a:tr>
              <a:tr h="475488">
                <a:tc>
                  <a:txBody>
                    <a:bodyPr wrap="square"/>
                    <a:lstStyle/>
                    <a:p>
                      <a:pPr algn="l"/>
                      <a:r>
                        <a:rPr sz="1400" b="0" i="0">
                          <a:solidFill>
                            <a:srgbClr val="1F2A36"/>
                          </a:solidFill>
                          <a:latin typeface="Times New Roman"/>
                        </a:rPr>
                        <a:t>AdaBoost (depth-3)</a:t>
                      </a:r>
                    </a:p>
                  </a:txBody>
                  <a:tcPr marL="54864" marR="54864" marT="27432" marB="27432" anchor="ctr">
                    <a:solidFill>
                      <a:srgbClr val="F1F5F8"/>
                    </a:solidFill>
                  </a:tcPr>
                </a:tc>
                <a:tc>
                  <a:txBody>
                    <a:bodyPr wrap="square"/>
                    <a:lstStyle/>
                    <a:p>
                      <a:pPr algn="ctr"/>
                      <a:r>
                        <a:rPr sz="1400" b="0" i="0">
                          <a:solidFill>
                            <a:srgbClr val="1F2A36"/>
                          </a:solidFill>
                          <a:latin typeface="Times New Roman"/>
                        </a:rPr>
                        <a:t>86.19 ± 12.09%</a:t>
                      </a:r>
                    </a:p>
                  </a:txBody>
                  <a:tcPr marL="54864" marR="54864" marT="27432" marB="27432" anchor="ctr">
                    <a:solidFill>
                      <a:srgbClr val="F1F5F8"/>
                    </a:solidFill>
                  </a:tcPr>
                </a:tc>
                <a:tc>
                  <a:txBody>
                    <a:bodyPr wrap="square"/>
                    <a:lstStyle/>
                    <a:p>
                      <a:pPr algn="ctr"/>
                      <a:r>
                        <a:rPr sz="1400" b="0" i="0">
                          <a:solidFill>
                            <a:srgbClr val="1F2A36"/>
                          </a:solidFill>
                          <a:latin typeface="Times New Roman"/>
                        </a:rPr>
                        <a:t>74.14%</a:t>
                      </a:r>
                    </a:p>
                  </a:txBody>
                  <a:tcPr marL="54864" marR="54864" marT="27432" marB="27432" anchor="ctr">
                    <a:solidFill>
                      <a:srgbClr val="F1F5F8"/>
                    </a:solidFill>
                  </a:tcPr>
                </a:tc>
              </a:tr>
              <a:tr h="475488">
                <a:tc>
                  <a:txBody>
                    <a:bodyPr wrap="square"/>
                    <a:lstStyle/>
                    <a:p>
                      <a:pPr algn="l"/>
                      <a:r>
                        <a:rPr sz="1400" b="0" i="0">
                          <a:solidFill>
                            <a:srgbClr val="1F2A36"/>
                          </a:solidFill>
                          <a:latin typeface="Times New Roman"/>
                        </a:rPr>
                        <a:t>KNN (k = 5)</a:t>
                      </a:r>
                    </a:p>
                  </a:txBody>
                  <a:tcPr marL="54864" marR="54864" marT="27432" marB="27432" anchor="ctr">
                    <a:solidFill>
                      <a:srgbClr val="FFFFFF"/>
                    </a:solidFill>
                  </a:tcPr>
                </a:tc>
                <a:tc>
                  <a:txBody>
                    <a:bodyPr wrap="square"/>
                    <a:lstStyle/>
                    <a:p>
                      <a:pPr algn="ctr"/>
                      <a:r>
                        <a:rPr sz="1400" b="0" i="0">
                          <a:solidFill>
                            <a:srgbClr val="1F2A36"/>
                          </a:solidFill>
                          <a:latin typeface="Times New Roman"/>
                        </a:rPr>
                        <a:t>71.41 ± 10.40%</a:t>
                      </a:r>
                    </a:p>
                  </a:txBody>
                  <a:tcPr marL="54864" marR="54864" marT="27432" marB="27432" anchor="ctr">
                    <a:solidFill>
                      <a:srgbClr val="FFFFFF"/>
                    </a:solidFill>
                  </a:tcPr>
                </a:tc>
                <a:tc>
                  <a:txBody>
                    <a:bodyPr wrap="square"/>
                    <a:lstStyle/>
                    <a:p>
                      <a:pPr algn="ctr"/>
                      <a:r>
                        <a:rPr sz="1400" b="0" i="0">
                          <a:solidFill>
                            <a:srgbClr val="1F2A36"/>
                          </a:solidFill>
                          <a:latin typeface="Times New Roman"/>
                        </a:rPr>
                        <a:t>63.13%</a:t>
                      </a:r>
                    </a:p>
                  </a:txBody>
                  <a:tcPr marL="54864" marR="54864" marT="27432" marB="27432" anchor="ctr">
                    <a:solidFill>
                      <a:srgbClr val="FFFFFF"/>
                    </a:solidFill>
                  </a:tcPr>
                </a:tc>
              </a:tr>
              <a:tr h="475488">
                <a:tc>
                  <a:txBody>
                    <a:bodyPr wrap="square"/>
                    <a:lstStyle/>
                    <a:p>
                      <a:pPr algn="l"/>
                      <a:r>
                        <a:rPr sz="1400" b="0" i="0">
                          <a:solidFill>
                            <a:srgbClr val="1F2A36"/>
                          </a:solidFill>
                          <a:latin typeface="Times New Roman"/>
                        </a:rPr>
                        <a:t>Naive Bayes</a:t>
                      </a:r>
                    </a:p>
                  </a:txBody>
                  <a:tcPr marL="54864" marR="54864" marT="27432" marB="27432" anchor="ctr">
                    <a:solidFill>
                      <a:srgbClr val="F1F5F8"/>
                    </a:solidFill>
                  </a:tcPr>
                </a:tc>
                <a:tc>
                  <a:txBody>
                    <a:bodyPr wrap="square"/>
                    <a:lstStyle/>
                    <a:p>
                      <a:pPr algn="ctr"/>
                      <a:r>
                        <a:rPr sz="1400" b="0" i="0">
                          <a:solidFill>
                            <a:srgbClr val="1F2A36"/>
                          </a:solidFill>
                          <a:latin typeface="Times New Roman"/>
                        </a:rPr>
                        <a:t>66.74 ± 9.59%</a:t>
                      </a:r>
                    </a:p>
                  </a:txBody>
                  <a:tcPr marL="54864" marR="54864" marT="27432" marB="27432" anchor="ctr">
                    <a:solidFill>
                      <a:srgbClr val="F1F5F8"/>
                    </a:solidFill>
                  </a:tcPr>
                </a:tc>
                <a:tc>
                  <a:txBody>
                    <a:bodyPr wrap="square"/>
                    <a:lstStyle/>
                    <a:p>
                      <a:pPr algn="ctr"/>
                      <a:r>
                        <a:rPr sz="1400" b="0" i="0">
                          <a:solidFill>
                            <a:srgbClr val="1F2A36"/>
                          </a:solidFill>
                          <a:latin typeface="Times New Roman"/>
                        </a:rPr>
                        <a:t>60.58%</a:t>
                      </a:r>
                    </a:p>
                  </a:txBody>
                  <a:tcPr marL="54864" marR="54864" marT="27432" marB="27432" anchor="ctr">
                    <a:solidFill>
                      <a:srgbClr val="F1F5F8"/>
                    </a:solidFill>
                  </a:tcPr>
                </a:tc>
              </a:tr>
            </a:tbl>
          </a:graphicData>
        </a:graphic>
      </p:graphicFrame>
      <p:sp>
        <p:nvSpPr>
          <p:cNvPr id="4" name="Rounded Rectangle 3"/>
          <p:cNvSpPr/>
          <p:nvPr/>
        </p:nvSpPr>
        <p:spPr>
          <a:xfrm>
            <a:off x="5623560" y="1234440"/>
            <a:ext cx="3054096" cy="1600200"/>
          </a:xfrm>
          <a:prstGeom prst="roundRect">
            <a:avLst>
              <a:gd name="adj" fmla="val 12000"/>
            </a:avLst>
          </a:prstGeom>
          <a:gradFill rotWithShape="1">
            <a:gsLst>
              <a:gs pos="0">
                <a:srgbClr val="E8F0F3"/>
              </a:gs>
              <a:gs pos="100000">
                <a:srgbClr val="CBDCE4"/>
              </a:gs>
            </a:gsLst>
            <a:lin ang="5400000" scaled="0"/>
          </a:gradFill>
          <a:ln w="19050">
            <a:solidFill>
              <a:srgbClr val="FFFFFF"/>
            </a:solidFill>
          </a:ln>
          <a:effectLst>
            <a:outerShdw blurRad="40000" dist="20000" dir="5400000" rotWithShape="0">
              <a:srgbClr val="000000">
                <a:alpha val="38000"/>
              </a:srgbClr>
            </a:outerShdw>
          </a:effectLst>
        </p:spPr>
        <p:txBody>
          <a:bodyPr rtlCol="0" anchor="ctr" wrap="square" lIns="109728" rIns="109728" tIns="54864" bIns="54864"/>
          <a:lstStyle/>
          <a:p>
            <a:pPr algn="ctr">
              <a:spcAft>
                <a:spcPts val="400"/>
              </a:spcAft>
            </a:pPr>
            <a:r>
              <a:rPr sz="3400" b="1" i="0">
                <a:solidFill>
                  <a:srgbClr val="3B5A78"/>
                </a:solidFill>
                <a:latin typeface="Bookman Old Style"/>
              </a:rPr>
              <a:t>97.69%</a:t>
            </a:r>
          </a:p>
          <a:p>
            <a:pPr algn="ctr">
              <a:spcAft>
                <a:spcPts val="400"/>
              </a:spcAft>
            </a:pPr>
            <a:r>
              <a:rPr sz="1400" b="0" i="0">
                <a:solidFill>
                  <a:srgbClr val="1F2A36"/>
                </a:solidFill>
                <a:latin typeface="Times New Roman"/>
              </a:rPr>
              <a:t>XGBoost accuracy, averaged over 50 tests</a:t>
            </a:r>
          </a:p>
        </p:txBody>
      </p:sp>
      <p:sp>
        <p:nvSpPr>
          <p:cNvPr id="5" name="Rounded Rectangle 4"/>
          <p:cNvSpPr/>
          <p:nvPr/>
        </p:nvSpPr>
        <p:spPr>
          <a:xfrm>
            <a:off x="5623560" y="3017520"/>
            <a:ext cx="3054096" cy="1600200"/>
          </a:xfrm>
          <a:prstGeom prst="roundRect">
            <a:avLst>
              <a:gd name="adj" fmla="val 12000"/>
            </a:avLst>
          </a:prstGeom>
          <a:gradFill rotWithShape="1">
            <a:gsLst>
              <a:gs pos="0">
                <a:srgbClr val="E8EEF4"/>
              </a:gs>
              <a:gs pos="100000">
                <a:srgbClr val="CDD9E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400" b="1" i="0">
                <a:solidFill>
                  <a:srgbClr val="1F2A36"/>
                </a:solidFill>
                <a:latin typeface="Times New Roman"/>
              </a:rPr>
              <a:t>Why 50 tests?</a:t>
            </a:r>
            <a:r>
              <a:rPr sz="1400" b="0" i="0">
                <a:solidFill>
                  <a:srgbClr val="1F2A36"/>
                </a:solidFill>
                <a:latin typeface="Times New Roman"/>
              </a:rPr>
              <a:t> Only 99 rows, so one 80/20 split leaves about 20 test rows. We ran 5-fold cross-validation 10 times.</a:t>
            </a:r>
          </a:p>
        </p:txBody>
      </p:sp>
      <p:sp>
        <p:nvSpPr>
          <p:cNvPr id="6" name="Rounded Rectangle 5"/>
          <p:cNvSpPr/>
          <p:nvPr/>
        </p:nvSpPr>
        <p:spPr>
          <a:xfrm>
            <a:off x="5623560" y="4800600"/>
            <a:ext cx="3054096" cy="1325880"/>
          </a:xfrm>
          <a:prstGeom prst="roundRect">
            <a:avLst>
              <a:gd name="adj" fmla="val 12000"/>
            </a:avLst>
          </a:prstGeom>
          <a:gradFill rotWithShape="1">
            <a:gsLst>
              <a:gs pos="0">
                <a:srgbClr val="E6F3EC"/>
              </a:gs>
              <a:gs pos="100000">
                <a:srgbClr val="CBE3D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400" b="1" i="0">
                <a:solidFill>
                  <a:srgbClr val="1F2A36"/>
                </a:solidFill>
                <a:latin typeface="Times New Roman"/>
              </a:rPr>
              <a:t>7 fertilizers:</a:t>
            </a:r>
            <a:r>
              <a:rPr sz="1400" b="0" i="0">
                <a:solidFill>
                  <a:srgbClr val="1F2A36"/>
                </a:solidFill>
                <a:latin typeface="Times New Roman"/>
              </a:rPr>
              <a:t> Urea, DAP, 28-28, 14-35-14, 20-20, 17-17-17, 10-26-26</a:t>
            </a:r>
          </a:p>
        </p:txBody>
      </p:sp>
      <p:sp>
        <p:nvSpPr>
          <p:cNvPr id="7"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Result: What Decides Fertilizer</a:t>
            </a:r>
          </a:p>
        </p:txBody>
      </p:sp>
      <p:pic>
        <p:nvPicPr>
          <p:cNvPr id="3" name="Picture 2" descr="figS6_fertilizer.png"/>
          <p:cNvPicPr>
            <a:picLocks noChangeAspect="1"/>
          </p:cNvPicPr>
          <p:nvPr/>
        </p:nvPicPr>
        <p:blipFill>
          <a:blip r:embed="rId4"/>
          <a:stretch>
            <a:fillRect/>
          </a:stretch>
        </p:blipFill>
        <p:spPr>
          <a:xfrm>
            <a:off x="448056" y="1188720"/>
            <a:ext cx="8229600" cy="3059772"/>
          </a:xfrm>
          <a:prstGeom prst="rect">
            <a:avLst/>
          </a:prstGeom>
          <a:ln w="9525">
            <a:solidFill>
              <a:srgbClr val="B8C4CE"/>
            </a:solidFill>
          </a:ln>
        </p:spPr>
      </p:pic>
      <p:sp>
        <p:nvSpPr>
          <p:cNvPr id="4" name="Rounded Rectangle 3"/>
          <p:cNvSpPr/>
          <p:nvPr/>
        </p:nvSpPr>
        <p:spPr>
          <a:xfrm>
            <a:off x="448056" y="4480560"/>
            <a:ext cx="8229600" cy="777240"/>
          </a:xfrm>
          <a:prstGeom prst="roundRect">
            <a:avLst>
              <a:gd name="adj" fmla="val 12000"/>
            </a:avLst>
          </a:prstGeom>
          <a:gradFill rotWithShape="1">
            <a:gsLst>
              <a:gs pos="0">
                <a:srgbClr val="EDEBF6"/>
              </a:gs>
              <a:gs pos="100000">
                <a:srgbClr val="D1CCE3"/>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500" b="1" i="0">
                <a:solidFill>
                  <a:srgbClr val="1F2A36"/>
                </a:solidFill>
                <a:latin typeface="Times New Roman"/>
              </a:rPr>
              <a:t>Soil N, P, K decide it:</a:t>
            </a:r>
            <a:r>
              <a:rPr sz="1500" b="0" i="0">
                <a:solidFill>
                  <a:srgbClr val="1F2A36"/>
                </a:solidFill>
                <a:latin typeface="Times New Roman"/>
              </a:rPr>
              <a:t> importance P 0.44, N 0.31, K 0.26; temperature, humidity, moisture, soil and crop type 0.006 or less.</a:t>
            </a:r>
          </a:p>
        </p:txBody>
      </p:sp>
      <p:sp>
        <p:nvSpPr>
          <p:cNvPr id="5" name="Rounded Rectangle 4"/>
          <p:cNvSpPr/>
          <p:nvPr/>
        </p:nvSpPr>
        <p:spPr>
          <a:xfrm>
            <a:off x="448056" y="5440680"/>
            <a:ext cx="8229600" cy="777240"/>
          </a:xfrm>
          <a:prstGeom prst="roundRect">
            <a:avLst>
              <a:gd name="adj" fmla="val 12000"/>
            </a:avLst>
          </a:prstGeom>
          <a:gradFill rotWithShape="1">
            <a:gsLst>
              <a:gs pos="0">
                <a:srgbClr val="E7F1E6"/>
              </a:gs>
              <a:gs pos="100000">
                <a:srgbClr val="CCE0CC"/>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500" b="1" i="0">
                <a:solidFill>
                  <a:srgbClr val="1F2A36"/>
                </a:solidFill>
                <a:latin typeface="Times New Roman"/>
              </a:rPr>
              <a:t>Only 2 mistakes in 99:</a:t>
            </a:r>
            <a:r>
              <a:rPr sz="1500" b="0" i="0">
                <a:solidFill>
                  <a:srgbClr val="1F2A36"/>
                </a:solidFill>
                <a:latin typeface="Times New Roman"/>
              </a:rPr>
              <a:t> 10-26-26 read as 14-35-14, 17-17-17 as 20-20. KNN and Naive Bayes fail because they weigh all 8 inputs equally.</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Result: Nutrient-Gap Advice</a:t>
            </a:r>
          </a:p>
        </p:txBody>
      </p:sp>
      <p:sp>
        <p:nvSpPr>
          <p:cNvPr id="3" name="Rounded Rectangle 2"/>
          <p:cNvSpPr/>
          <p:nvPr/>
        </p:nvSpPr>
        <p:spPr>
          <a:xfrm>
            <a:off x="448056" y="1188720"/>
            <a:ext cx="8229600" cy="731520"/>
          </a:xfrm>
          <a:prstGeom prst="roundRect">
            <a:avLst>
              <a:gd name="adj" fmla="val 12000"/>
            </a:avLst>
          </a:prstGeom>
          <a:gradFill rotWithShape="1">
            <a:gsLst>
              <a:gs pos="0">
                <a:srgbClr val="E8EEF4"/>
              </a:gs>
              <a:gs pos="100000">
                <a:srgbClr val="CDD9E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500" b="1" i="0">
                <a:solidFill>
                  <a:srgbClr val="1F2A36"/>
                </a:solidFill>
                <a:latin typeface="Times New Roman"/>
              </a:rPr>
              <a:t>gap = what the crop needs − what the soil has.</a:t>
            </a:r>
            <a:r>
              <a:rPr sz="1500" b="0" i="0">
                <a:solidFill>
                  <a:srgbClr val="1F2A36"/>
                </a:solidFill>
                <a:latin typeface="Times New Roman"/>
              </a:rPr>
              <a:t> The biggest gap decides: soil short → add it; soil has extra → skip it.</a:t>
            </a:r>
          </a:p>
        </p:txBody>
      </p:sp>
      <p:graphicFrame>
        <p:nvGraphicFramePr>
          <p:cNvPr id="4" name="Table 3"/>
          <p:cNvGraphicFramePr>
            <a:graphicFrameLocks noGrp="1"/>
          </p:cNvGraphicFramePr>
          <p:nvPr/>
        </p:nvGraphicFramePr>
        <p:xfrm>
          <a:off x="448056" y="2103120"/>
          <a:ext cx="8229600" cy="2880360"/>
        </p:xfrm>
        <a:graphic>
          <a:graphicData uri="http://schemas.openxmlformats.org/drawingml/2006/table">
            <a:tbl>
              <a:tblPr firstRow="1">
                <a:tableStyleId>{5C22544A-7EE6-4342-B048-85BDC9FD1C3A}</a:tableStyleId>
              </a:tblPr>
              <a:tblGrid>
                <a:gridCol w="731520"/>
                <a:gridCol w="1005840"/>
                <a:gridCol w="1691640"/>
                <a:gridCol w="1097280"/>
                <a:gridCol w="1280160"/>
                <a:gridCol w="2423160"/>
              </a:tblGrid>
              <a:tr h="411480">
                <a:tc>
                  <a:txBody>
                    <a:bodyPr wrap="square"/>
                    <a:lstStyle/>
                    <a:p>
                      <a:pPr algn="ctr"/>
                      <a:r>
                        <a:rPr sz="1300" b="1" i="0">
                          <a:solidFill>
                            <a:srgbClr val="1F2A36"/>
                          </a:solidFill>
                          <a:latin typeface="Times New Roman"/>
                        </a:rPr>
                        <a:t>Farmer</a:t>
                      </a:r>
                    </a:p>
                  </a:txBody>
                  <a:tcPr marL="54864" marR="54864" marT="27432" marB="27432" anchor="ctr">
                    <a:solidFill>
                      <a:srgbClr val="CBDCE4"/>
                    </a:solidFill>
                  </a:tcPr>
                </a:tc>
                <a:tc>
                  <a:txBody>
                    <a:bodyPr wrap="square"/>
                    <a:lstStyle/>
                    <a:p>
                      <a:pPr algn="ctr"/>
                      <a:r>
                        <a:rPr sz="1300" b="1" i="0">
                          <a:solidFill>
                            <a:srgbClr val="1F2A36"/>
                          </a:solidFill>
                          <a:latin typeface="Times New Roman"/>
                        </a:rPr>
                        <a:t>Soil N-P-K</a:t>
                      </a:r>
                    </a:p>
                  </a:txBody>
                  <a:tcPr marL="54864" marR="54864" marT="27432" marB="27432" anchor="ctr">
                    <a:solidFill>
                      <a:srgbClr val="CBDCE4"/>
                    </a:solidFill>
                  </a:tcPr>
                </a:tc>
                <a:tc>
                  <a:txBody>
                    <a:bodyPr wrap="square"/>
                    <a:lstStyle/>
                    <a:p>
                      <a:pPr algn="ctr"/>
                      <a:r>
                        <a:rPr sz="1300" b="1" i="0">
                          <a:solidFill>
                            <a:srgbClr val="1F2A36"/>
                          </a:solidFill>
                          <a:latin typeface="Times New Roman"/>
                        </a:rPr>
                        <a:t>Crop</a:t>
                      </a:r>
                    </a:p>
                  </a:txBody>
                  <a:tcPr marL="54864" marR="54864" marT="27432" marB="27432" anchor="ctr">
                    <a:solidFill>
                      <a:srgbClr val="CBDCE4"/>
                    </a:solidFill>
                  </a:tcPr>
                </a:tc>
                <a:tc>
                  <a:txBody>
                    <a:bodyPr wrap="square"/>
                    <a:lstStyle/>
                    <a:p>
                      <a:pPr algn="ctr"/>
                      <a:r>
                        <a:rPr sz="1300" b="1" i="0">
                          <a:solidFill>
                            <a:srgbClr val="1F2A36"/>
                          </a:solidFill>
                          <a:latin typeface="Times New Roman"/>
                        </a:rPr>
                        <a:t>Needs N-P-K</a:t>
                      </a:r>
                    </a:p>
                  </a:txBody>
                  <a:tcPr marL="54864" marR="54864" marT="27432" marB="27432" anchor="ctr">
                    <a:solidFill>
                      <a:srgbClr val="CBDCE4"/>
                    </a:solidFill>
                  </a:tcPr>
                </a:tc>
                <a:tc>
                  <a:txBody>
                    <a:bodyPr wrap="square"/>
                    <a:lstStyle/>
                    <a:p>
                      <a:pPr algn="ctr"/>
                      <a:r>
                        <a:rPr sz="1300" b="1" i="0">
                          <a:solidFill>
                            <a:srgbClr val="1F2A36"/>
                          </a:solidFill>
                          <a:latin typeface="Times New Roman"/>
                        </a:rPr>
                        <a:t>Biggest gap</a:t>
                      </a:r>
                    </a:p>
                  </a:txBody>
                  <a:tcPr marL="54864" marR="54864" marT="27432" marB="27432" anchor="ctr">
                    <a:solidFill>
                      <a:srgbClr val="CBDCE4"/>
                    </a:solidFill>
                  </a:tcPr>
                </a:tc>
                <a:tc>
                  <a:txBody>
                    <a:bodyPr wrap="square"/>
                    <a:lstStyle/>
                    <a:p>
                      <a:pPr algn="ctr"/>
                      <a:r>
                        <a:rPr sz="1300" b="1" i="0">
                          <a:solidFill>
                            <a:srgbClr val="1F2A36"/>
                          </a:solidFill>
                          <a:latin typeface="Times New Roman"/>
                        </a:rPr>
                        <a:t>Advice</a:t>
                      </a:r>
                    </a:p>
                  </a:txBody>
                  <a:tcPr marL="54864" marR="54864" marT="27432" marB="27432" anchor="ctr">
                    <a:solidFill>
                      <a:srgbClr val="CBDCE4"/>
                    </a:solidFill>
                  </a:tcPr>
                </a:tc>
              </a:tr>
              <a:tr h="411480">
                <a:tc>
                  <a:txBody>
                    <a:bodyPr wrap="square"/>
                    <a:lstStyle/>
                    <a:p>
                      <a:pPr algn="ctr"/>
                      <a:r>
                        <a:rPr sz="1300" b="0" i="0">
                          <a:solidFill>
                            <a:srgbClr val="1F2A36"/>
                          </a:solidFill>
                          <a:latin typeface="Times New Roman"/>
                        </a:rPr>
                        <a:t>F1</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18-17-31</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mango (1st)</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20-20-30</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P low by 3</a:t>
                      </a:r>
                    </a:p>
                  </a:txBody>
                  <a:tcPr marL="54864" marR="54864" marT="27432" marB="27432" anchor="ctr">
                    <a:solidFill>
                      <a:srgbClr val="FFFFFF"/>
                    </a:solidFill>
                  </a:tcPr>
                </a:tc>
                <a:tc>
                  <a:txBody>
                    <a:bodyPr wrap="square"/>
                    <a:lstStyle/>
                    <a:p>
                      <a:pPr algn="l"/>
                      <a:r>
                        <a:rPr sz="1300" b="0" i="0">
                          <a:solidFill>
                            <a:srgbClr val="1F2A36"/>
                          </a:solidFill>
                          <a:latin typeface="Times New Roman"/>
                        </a:rPr>
                        <a:t>Add phosphate (DAP or SSP)</a:t>
                      </a:r>
                    </a:p>
                  </a:txBody>
                  <a:tcPr marL="54864" marR="54864" marT="27432" marB="27432" anchor="ctr">
                    <a:solidFill>
                      <a:srgbClr val="FFFFFF"/>
                    </a:solidFill>
                  </a:tcPr>
                </a:tc>
              </a:tr>
              <a:tr h="411480">
                <a:tc>
                  <a:txBody>
                    <a:bodyPr wrap="square"/>
                    <a:lstStyle/>
                    <a:p>
                      <a:pPr algn="ctr"/>
                      <a:r>
                        <a:rPr sz="1300" b="0" i="0">
                          <a:solidFill>
                            <a:srgbClr val="1F2A36"/>
                          </a:solidFill>
                          <a:latin typeface="Times New Roman"/>
                        </a:rPr>
                        <a:t>F1</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18-17-31</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orange (2nd)</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20-10-10</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K high by 21</a:t>
                      </a:r>
                    </a:p>
                  </a:txBody>
                  <a:tcPr marL="54864" marR="54864" marT="27432" marB="27432" anchor="ctr">
                    <a:solidFill>
                      <a:srgbClr val="F1F5F8"/>
                    </a:solidFill>
                  </a:tcPr>
                </a:tc>
                <a:tc>
                  <a:txBody>
                    <a:bodyPr wrap="square"/>
                    <a:lstStyle/>
                    <a:p>
                      <a:pPr algn="l"/>
                      <a:r>
                        <a:rPr sz="1300" b="0" i="0">
                          <a:solidFill>
                            <a:srgbClr val="1F2A36"/>
                          </a:solidFill>
                          <a:latin typeface="Times New Roman"/>
                        </a:rPr>
                        <a:t>Skip potash this season</a:t>
                      </a:r>
                    </a:p>
                  </a:txBody>
                  <a:tcPr marL="54864" marR="54864" marT="27432" marB="27432" anchor="ctr">
                    <a:solidFill>
                      <a:srgbClr val="F1F5F8"/>
                    </a:solidFill>
                  </a:tcPr>
                </a:tc>
              </a:tr>
              <a:tr h="411480">
                <a:tc>
                  <a:txBody>
                    <a:bodyPr wrap="square"/>
                    <a:lstStyle/>
                    <a:p>
                      <a:pPr algn="ctr"/>
                      <a:r>
                        <a:rPr sz="1300" b="0" i="0">
                          <a:solidFill>
                            <a:srgbClr val="1F2A36"/>
                          </a:solidFill>
                          <a:latin typeface="Times New Roman"/>
                        </a:rPr>
                        <a:t>F3</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3-67-24</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kidney beans (1st)</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20-60-20</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N low by 17</a:t>
                      </a:r>
                    </a:p>
                  </a:txBody>
                  <a:tcPr marL="54864" marR="54864" marT="27432" marB="27432" anchor="ctr">
                    <a:solidFill>
                      <a:srgbClr val="FFFFFF"/>
                    </a:solidFill>
                  </a:tcPr>
                </a:tc>
                <a:tc>
                  <a:txBody>
                    <a:bodyPr wrap="square"/>
                    <a:lstStyle/>
                    <a:p>
                      <a:pPr algn="l"/>
                      <a:r>
                        <a:rPr sz="1300" b="0" i="0">
                          <a:solidFill>
                            <a:srgbClr val="1F2A36"/>
                          </a:solidFill>
                          <a:latin typeface="Times New Roman"/>
                        </a:rPr>
                        <a:t>Add nitrogen (urea)</a:t>
                      </a:r>
                    </a:p>
                  </a:txBody>
                  <a:tcPr marL="54864" marR="54864" marT="27432" marB="27432" anchor="ctr">
                    <a:solidFill>
                      <a:srgbClr val="FFFFFF"/>
                    </a:solidFill>
                  </a:tcPr>
                </a:tc>
              </a:tr>
              <a:tr h="411480">
                <a:tc>
                  <a:txBody>
                    <a:bodyPr wrap="square"/>
                    <a:lstStyle/>
                    <a:p>
                      <a:pPr algn="ctr"/>
                      <a:r>
                        <a:rPr sz="1300" b="0" i="0">
                          <a:solidFill>
                            <a:srgbClr val="1F2A36"/>
                          </a:solidFill>
                          <a:latin typeface="Times New Roman"/>
                        </a:rPr>
                        <a:t>F4</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34-75-24</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pigeon peas (1st)</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20-60-20</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P high by 15</a:t>
                      </a:r>
                    </a:p>
                  </a:txBody>
                  <a:tcPr marL="54864" marR="54864" marT="27432" marB="27432" anchor="ctr">
                    <a:solidFill>
                      <a:srgbClr val="F1F5F8"/>
                    </a:solidFill>
                  </a:tcPr>
                </a:tc>
                <a:tc>
                  <a:txBody>
                    <a:bodyPr wrap="square"/>
                    <a:lstStyle/>
                    <a:p>
                      <a:pPr algn="l"/>
                      <a:r>
                        <a:rPr sz="1300" b="0" i="0">
                          <a:solidFill>
                            <a:srgbClr val="1F2A36"/>
                          </a:solidFill>
                          <a:latin typeface="Times New Roman"/>
                        </a:rPr>
                        <a:t>Skip phosphate this season</a:t>
                      </a:r>
                    </a:p>
                  </a:txBody>
                  <a:tcPr marL="54864" marR="54864" marT="27432" marB="27432" anchor="ctr">
                    <a:solidFill>
                      <a:srgbClr val="F1F5F8"/>
                    </a:solidFill>
                  </a:tcPr>
                </a:tc>
              </a:tr>
              <a:tr h="411480">
                <a:tc>
                  <a:txBody>
                    <a:bodyPr wrap="square"/>
                    <a:lstStyle/>
                    <a:p>
                      <a:pPr algn="ctr"/>
                      <a:r>
                        <a:rPr sz="1300" b="0" i="0">
                          <a:solidFill>
                            <a:srgbClr val="1F2A36"/>
                          </a:solidFill>
                          <a:latin typeface="Times New Roman"/>
                        </a:rPr>
                        <a:t>F6</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117-76-47</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banana (1st)</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100-75-50</a:t>
                      </a:r>
                    </a:p>
                  </a:txBody>
                  <a:tcPr marL="54864" marR="54864" marT="27432" marB="27432" anchor="ctr">
                    <a:solidFill>
                      <a:srgbClr val="FFFFFF"/>
                    </a:solidFill>
                  </a:tcPr>
                </a:tc>
                <a:tc>
                  <a:txBody>
                    <a:bodyPr wrap="square"/>
                    <a:lstStyle/>
                    <a:p>
                      <a:pPr algn="ctr"/>
                      <a:r>
                        <a:rPr sz="1300" b="0" i="0">
                          <a:solidFill>
                            <a:srgbClr val="1F2A36"/>
                          </a:solidFill>
                          <a:latin typeface="Times New Roman"/>
                        </a:rPr>
                        <a:t>N high by 17</a:t>
                      </a:r>
                    </a:p>
                  </a:txBody>
                  <a:tcPr marL="54864" marR="54864" marT="27432" marB="27432" anchor="ctr">
                    <a:solidFill>
                      <a:srgbClr val="FFFFFF"/>
                    </a:solidFill>
                  </a:tcPr>
                </a:tc>
                <a:tc>
                  <a:txBody>
                    <a:bodyPr wrap="square"/>
                    <a:lstStyle/>
                    <a:p>
                      <a:pPr algn="l"/>
                      <a:r>
                        <a:rPr sz="1300" b="0" i="0">
                          <a:solidFill>
                            <a:srgbClr val="1F2A36"/>
                          </a:solidFill>
                          <a:latin typeface="Times New Roman"/>
                        </a:rPr>
                        <a:t>Skip nitrogen this season</a:t>
                      </a:r>
                    </a:p>
                  </a:txBody>
                  <a:tcPr marL="54864" marR="54864" marT="27432" marB="27432" anchor="ctr">
                    <a:solidFill>
                      <a:srgbClr val="FFFFFF"/>
                    </a:solidFill>
                  </a:tcPr>
                </a:tc>
              </a:tr>
              <a:tr h="411480">
                <a:tc>
                  <a:txBody>
                    <a:bodyPr wrap="square"/>
                    <a:lstStyle/>
                    <a:p>
                      <a:pPr algn="ctr"/>
                      <a:r>
                        <a:rPr sz="1300" b="0" i="0">
                          <a:solidFill>
                            <a:srgbClr val="1F2A36"/>
                          </a:solidFill>
                          <a:latin typeface="Times New Roman"/>
                        </a:rPr>
                        <a:t>F6</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117-76-47</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cotton (2nd)</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120-40-20</a:t>
                      </a:r>
                    </a:p>
                  </a:txBody>
                  <a:tcPr marL="54864" marR="54864" marT="27432" marB="27432" anchor="ctr">
                    <a:solidFill>
                      <a:srgbClr val="F1F5F8"/>
                    </a:solidFill>
                  </a:tcPr>
                </a:tc>
                <a:tc>
                  <a:txBody>
                    <a:bodyPr wrap="square"/>
                    <a:lstStyle/>
                    <a:p>
                      <a:pPr algn="ctr"/>
                      <a:r>
                        <a:rPr sz="1300" b="0" i="0">
                          <a:solidFill>
                            <a:srgbClr val="1F2A36"/>
                          </a:solidFill>
                          <a:latin typeface="Times New Roman"/>
                        </a:rPr>
                        <a:t>P high by 36</a:t>
                      </a:r>
                    </a:p>
                  </a:txBody>
                  <a:tcPr marL="54864" marR="54864" marT="27432" marB="27432" anchor="ctr">
                    <a:solidFill>
                      <a:srgbClr val="F1F5F8"/>
                    </a:solidFill>
                  </a:tcPr>
                </a:tc>
                <a:tc>
                  <a:txBody>
                    <a:bodyPr wrap="square"/>
                    <a:lstStyle/>
                    <a:p>
                      <a:pPr algn="l"/>
                      <a:r>
                        <a:rPr sz="1300" b="0" i="0">
                          <a:solidFill>
                            <a:srgbClr val="1F2A36"/>
                          </a:solidFill>
                          <a:latin typeface="Times New Roman"/>
                        </a:rPr>
                        <a:t>Skip phosphate this season</a:t>
                      </a:r>
                    </a:p>
                  </a:txBody>
                  <a:tcPr marL="54864" marR="54864" marT="27432" marB="27432" anchor="ctr">
                    <a:solidFill>
                      <a:srgbClr val="F1F5F8"/>
                    </a:solidFill>
                  </a:tcPr>
                </a:tc>
              </a:tr>
            </a:tbl>
          </a:graphicData>
        </a:graphic>
      </p:graphicFrame>
      <p:sp>
        <p:nvSpPr>
          <p:cNvPr id="5" name="Rounded Rectangle 4"/>
          <p:cNvSpPr/>
          <p:nvPr/>
        </p:nvSpPr>
        <p:spPr>
          <a:xfrm>
            <a:off x="448056" y="5257800"/>
            <a:ext cx="8229600" cy="868680"/>
          </a:xfrm>
          <a:prstGeom prst="roundRect">
            <a:avLst>
              <a:gd name="adj" fmla="val 12000"/>
            </a:avLst>
          </a:prstGeom>
          <a:gradFill rotWithShape="1">
            <a:gsLst>
              <a:gs pos="0">
                <a:srgbClr val="E7F1E6"/>
              </a:gs>
              <a:gs pos="100000">
                <a:srgbClr val="CCE0CC"/>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500" b="0" i="0">
                <a:solidFill>
                  <a:srgbClr val="1F2A36"/>
                </a:solidFill>
                <a:latin typeface="Times New Roman"/>
              </a:rPr>
              <a:t>The recommended crop usually needs little correction (F1: P short by 3). A second-choice crop needs more (F6 → cotton: 36 extra P).</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Outcome: Paper, Patent, Copyright</a:t>
            </a:r>
          </a:p>
        </p:txBody>
      </p:sp>
      <p:pic>
        <p:nvPicPr>
          <p:cNvPr id="3" name="Picture 2" descr="paper_page-1.png"/>
          <p:cNvPicPr>
            <a:picLocks noChangeAspect="1"/>
          </p:cNvPicPr>
          <p:nvPr/>
        </p:nvPicPr>
        <p:blipFill>
          <a:blip r:embed="rId4"/>
          <a:stretch>
            <a:fillRect/>
          </a:stretch>
        </p:blipFill>
        <p:spPr>
          <a:xfrm>
            <a:off x="448056" y="1188720"/>
            <a:ext cx="3566159" cy="4615030"/>
          </a:xfrm>
          <a:prstGeom prst="rect">
            <a:avLst/>
          </a:prstGeom>
          <a:ln w="9525">
            <a:solidFill>
              <a:srgbClr val="B8C4CE"/>
            </a:solidFill>
          </a:ln>
        </p:spPr>
      </p:pic>
      <p:sp>
        <p:nvSpPr>
          <p:cNvPr id="4" name="Rounded Rectangle 3"/>
          <p:cNvSpPr/>
          <p:nvPr/>
        </p:nvSpPr>
        <p:spPr>
          <a:xfrm>
            <a:off x="4206240" y="1188720"/>
            <a:ext cx="4471416" cy="1508760"/>
          </a:xfrm>
          <a:prstGeom prst="roundRect">
            <a:avLst>
              <a:gd name="adj" fmla="val 12000"/>
            </a:avLst>
          </a:prstGeom>
          <a:gradFill rotWithShape="1">
            <a:gsLst>
              <a:gs pos="0">
                <a:srgbClr val="E7F1E6"/>
              </a:gs>
              <a:gs pos="100000">
                <a:srgbClr val="CCE0CC"/>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600" b="1" i="0">
                <a:solidFill>
                  <a:srgbClr val="1F2A36"/>
                </a:solidFill>
                <a:latin typeface="Bookman Old Style"/>
              </a:rPr>
              <a:t>Conference paper</a:t>
            </a:r>
          </a:p>
          <a:p>
            <a:pPr algn="l">
              <a:spcAft>
                <a:spcPts val="400"/>
              </a:spcAft>
            </a:pPr>
            <a:r>
              <a:rPr sz="1400" b="0" i="0">
                <a:solidFill>
                  <a:srgbClr val="1F2A36"/>
                </a:solidFill>
                <a:latin typeface="Times New Roman"/>
              </a:rPr>
              <a:t>8-page IEEE conference paper: “Crop Recommendation System Using Machine Learning, Explainable AI and Fertilizer Recommendation”. Status: [submitted to ___ / under review]</a:t>
            </a:r>
          </a:p>
        </p:txBody>
      </p:sp>
      <p:sp>
        <p:nvSpPr>
          <p:cNvPr id="5" name="Rounded Rectangle 4"/>
          <p:cNvSpPr/>
          <p:nvPr/>
        </p:nvSpPr>
        <p:spPr>
          <a:xfrm>
            <a:off x="4206240" y="2880360"/>
            <a:ext cx="4471416" cy="1508760"/>
          </a:xfrm>
          <a:prstGeom prst="roundRect">
            <a:avLst>
              <a:gd name="adj" fmla="val 12000"/>
            </a:avLst>
          </a:prstGeom>
          <a:gradFill rotWithShape="1">
            <a:gsLst>
              <a:gs pos="0">
                <a:srgbClr val="EDEBF6"/>
              </a:gs>
              <a:gs pos="100000">
                <a:srgbClr val="D1CCE3"/>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600" b="1" i="0">
                <a:solidFill>
                  <a:srgbClr val="1F2A36"/>
                </a:solidFill>
                <a:latin typeface="Bookman Old Style"/>
              </a:rPr>
              <a:t>Patent</a:t>
            </a:r>
          </a:p>
          <a:p>
            <a:pPr algn="l">
              <a:spcAft>
                <a:spcPts val="400"/>
              </a:spcAft>
            </a:pPr>
            <a:r>
              <a:rPr sz="1400" b="0" i="0">
                <a:solidFill>
                  <a:srgbClr val="1F2A36"/>
                </a:solidFill>
                <a:latin typeface="Times New Roman"/>
              </a:rPr>
              <a:t>Not filed: software and algorithms are excluded under Section 3(k) of the Patents Act, 1970 [16].</a:t>
            </a:r>
          </a:p>
        </p:txBody>
      </p:sp>
      <p:sp>
        <p:nvSpPr>
          <p:cNvPr id="6" name="Rounded Rectangle 5"/>
          <p:cNvSpPr/>
          <p:nvPr/>
        </p:nvSpPr>
        <p:spPr>
          <a:xfrm>
            <a:off x="4206240" y="4572000"/>
            <a:ext cx="4471416" cy="1508760"/>
          </a:xfrm>
          <a:prstGeom prst="roundRect">
            <a:avLst>
              <a:gd name="adj" fmla="val 12000"/>
            </a:avLst>
          </a:prstGeom>
          <a:gradFill rotWithShape="1">
            <a:gsLst>
              <a:gs pos="0">
                <a:srgbClr val="E8EEF4"/>
              </a:gs>
              <a:gs pos="100000">
                <a:srgbClr val="CDD9E6"/>
              </a:gs>
            </a:gsLst>
            <a:lin ang="5400000" scaled="0"/>
          </a:gradFill>
          <a:ln>
            <a:noFill/>
          </a:ln>
          <a:effectLst>
            <a:outerShdw blurRad="40000" dist="20000" dir="5400000" rotWithShape="0">
              <a:srgbClr val="000000">
                <a:alpha val="38000"/>
              </a:srgbClr>
            </a:outerShdw>
          </a:effectLst>
        </p:spPr>
        <p:txBody>
          <a:bodyPr rtlCol="0" anchor="ctr" wrap="square" lIns="109728" rIns="109728" tIns="54864" bIns="54864"/>
          <a:lstStyle/>
          <a:p>
            <a:pPr algn="l">
              <a:spcAft>
                <a:spcPts val="400"/>
              </a:spcAft>
            </a:pPr>
            <a:r>
              <a:rPr sz="1600" b="1" i="0">
                <a:solidFill>
                  <a:srgbClr val="1F2A36"/>
                </a:solidFill>
                <a:latin typeface="Bookman Old Style"/>
              </a:rPr>
              <a:t>Copyright</a:t>
            </a:r>
          </a:p>
          <a:p>
            <a:pPr algn="l">
              <a:spcAft>
                <a:spcPts val="400"/>
              </a:spcAft>
            </a:pPr>
            <a:r>
              <a:rPr sz="1400" b="0" i="0">
                <a:solidFill>
                  <a:srgbClr val="1F2A36"/>
                </a:solidFill>
                <a:latin typeface="Times New Roman"/>
              </a:rPr>
              <a:t>Code, paper and report are protected automatically under the Copyright Act, 1957. Data sources are credited.</a:t>
            </a:r>
          </a:p>
        </p:txBody>
      </p:sp>
      <p:sp>
        <p:nvSpPr>
          <p:cNvPr id="7"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Conclusion and Future Scope</a:t>
            </a:r>
          </a:p>
        </p:txBody>
      </p:sp>
      <p:sp>
        <p:nvSpPr>
          <p:cNvPr id="3" name="Rounded Rectangle 2"/>
          <p:cNvSpPr/>
          <p:nvPr/>
        </p:nvSpPr>
        <p:spPr>
          <a:xfrm>
            <a:off x="448056" y="1234440"/>
            <a:ext cx="3977639" cy="4892040"/>
          </a:xfrm>
          <a:prstGeom prst="roundRect">
            <a:avLst>
              <a:gd name="adj" fmla="val 12000"/>
            </a:avLst>
          </a:prstGeom>
          <a:gradFill rotWithShape="1">
            <a:gsLst>
              <a:gs pos="0">
                <a:srgbClr val="EDEBF6"/>
              </a:gs>
              <a:gs pos="100000">
                <a:srgbClr val="D1CCE3"/>
              </a:gs>
            </a:gsLst>
            <a:lin ang="5400000" scaled="0"/>
          </a:gradFill>
          <a:ln>
            <a:noFill/>
          </a:ln>
          <a:effectLst>
            <a:outerShdw blurRad="40000" dist="20000" dir="5400000" rotWithShape="0">
              <a:srgbClr val="000000">
                <a:alpha val="38000"/>
              </a:srgbClr>
            </a:outerShdw>
          </a:effectLst>
        </p:spPr>
        <p:txBody>
          <a:bodyPr rtlCol="0" anchor="t" wrap="square" lIns="201168" rIns="201168" tIns="164592" bIns="164592"/>
          <a:lstStyle/>
          <a:p>
            <a:pPr algn="l">
              <a:spcAft>
                <a:spcPts val="1600"/>
              </a:spcAft>
            </a:pPr>
            <a:r>
              <a:rPr sz="2000" b="1" i="0">
                <a:solidFill>
                  <a:srgbClr val="1F2A36"/>
                </a:solidFill>
                <a:latin typeface="Bookman Old Style"/>
              </a:rPr>
              <a:t>Conclusion</a:t>
            </a:r>
          </a:p>
          <a:p>
            <a:pPr algn="l" marL="201168" indent="-201168">
              <a:spcAft>
                <a:spcPts val="1600"/>
              </a:spcAft>
              <a:buFont typeface="Arial"/>
              <a:buChar char="•"/>
            </a:pPr>
            <a:r>
              <a:rPr sz="1800" b="0" i="0">
                <a:solidFill>
                  <a:srgbClr val="1F2A36"/>
                </a:solidFill>
                <a:latin typeface="Times New Roman"/>
              </a:rPr>
              <a:t>Random Forest: 99.55% on 440 unseen samples, with a top-3 crop list</a:t>
            </a:r>
          </a:p>
          <a:p>
            <a:pPr algn="l" marL="201168" indent="-201168">
              <a:spcAft>
                <a:spcPts val="1600"/>
              </a:spcAft>
              <a:buFont typeface="Arial"/>
              <a:buChar char="•"/>
            </a:pPr>
            <a:r>
              <a:rPr sz="1800" b="0" i="0">
                <a:solidFill>
                  <a:srgbClr val="1F2A36"/>
                </a:solidFill>
                <a:latin typeface="Times New Roman"/>
              </a:rPr>
              <a:t>No overfitting: training–test gap of 0.45 points</a:t>
            </a:r>
          </a:p>
          <a:p>
            <a:pPr algn="l" marL="201168" indent="-201168">
              <a:spcAft>
                <a:spcPts val="1600"/>
              </a:spcAft>
              <a:buFont typeface="Arial"/>
              <a:buChar char="•"/>
            </a:pPr>
            <a:r>
              <a:rPr sz="1800" b="0" i="0">
                <a:solidFill>
                  <a:srgbClr val="1F2A36"/>
                </a:solidFill>
                <a:latin typeface="Times New Roman"/>
              </a:rPr>
              <a:t>SHAP: humidity and rainfall matter most; the deciding input changes by crop</a:t>
            </a:r>
          </a:p>
          <a:p>
            <a:pPr algn="l" marL="201168" indent="-201168">
              <a:spcAft>
                <a:spcPts val="1600"/>
              </a:spcAft>
              <a:buFont typeface="Arial"/>
              <a:buChar char="•"/>
            </a:pPr>
            <a:r>
              <a:rPr sz="1800" b="0" i="0">
                <a:solidFill>
                  <a:srgbClr val="1F2A36"/>
                </a:solidFill>
                <a:latin typeface="Times New Roman"/>
              </a:rPr>
              <a:t>XGBoost: 97.69% fertilizer accuracy, plus nutrient-gap advice</a:t>
            </a:r>
          </a:p>
        </p:txBody>
      </p:sp>
      <p:sp>
        <p:nvSpPr>
          <p:cNvPr id="4" name="Rounded Rectangle 3"/>
          <p:cNvSpPr/>
          <p:nvPr/>
        </p:nvSpPr>
        <p:spPr>
          <a:xfrm>
            <a:off x="4700016" y="1234440"/>
            <a:ext cx="3977639" cy="4892040"/>
          </a:xfrm>
          <a:prstGeom prst="roundRect">
            <a:avLst>
              <a:gd name="adj" fmla="val 12000"/>
            </a:avLst>
          </a:prstGeom>
          <a:gradFill rotWithShape="1">
            <a:gsLst>
              <a:gs pos="0">
                <a:srgbClr val="E6F3EC"/>
              </a:gs>
              <a:gs pos="100000">
                <a:srgbClr val="CBE3D6"/>
              </a:gs>
            </a:gsLst>
            <a:lin ang="5400000" scaled="0"/>
          </a:gradFill>
          <a:ln>
            <a:noFill/>
          </a:ln>
          <a:effectLst>
            <a:outerShdw blurRad="40000" dist="20000" dir="5400000" rotWithShape="0">
              <a:srgbClr val="000000">
                <a:alpha val="38000"/>
              </a:srgbClr>
            </a:outerShdw>
          </a:effectLst>
        </p:spPr>
        <p:txBody>
          <a:bodyPr rtlCol="0" anchor="t" wrap="square" lIns="201168" rIns="201168" tIns="164592" bIns="164592"/>
          <a:lstStyle/>
          <a:p>
            <a:pPr algn="l">
              <a:spcAft>
                <a:spcPts val="1600"/>
              </a:spcAft>
            </a:pPr>
            <a:r>
              <a:rPr sz="2000" b="1" i="0">
                <a:solidFill>
                  <a:srgbClr val="1F2A36"/>
                </a:solidFill>
                <a:latin typeface="Bookman Old Style"/>
              </a:rPr>
              <a:t>Future scope</a:t>
            </a:r>
          </a:p>
          <a:p>
            <a:pPr algn="l" marL="201168" indent="-201168">
              <a:spcAft>
                <a:spcPts val="1600"/>
              </a:spcAft>
              <a:buFont typeface="Arial"/>
              <a:buChar char="•"/>
            </a:pPr>
            <a:r>
              <a:rPr sz="1800" b="0" i="0">
                <a:solidFill>
                  <a:srgbClr val="1F2A36"/>
                </a:solidFill>
                <a:latin typeface="Times New Roman"/>
              </a:rPr>
              <a:t>Test on real Soil Health Card reports with district rainfall data</a:t>
            </a:r>
          </a:p>
          <a:p>
            <a:pPr algn="l" marL="201168" indent="-201168">
              <a:spcAft>
                <a:spcPts val="1600"/>
              </a:spcAft>
              <a:buFont typeface="Arial"/>
              <a:buChar char="•"/>
            </a:pPr>
            <a:r>
              <a:rPr sz="1800" b="0" i="0">
                <a:solidFill>
                  <a:srgbClr val="1F2A36"/>
                </a:solidFill>
                <a:latin typeface="Times New Roman"/>
              </a:rPr>
              <a:t>Fertilizer amounts in kg/ha from soil-test dose rules</a:t>
            </a:r>
          </a:p>
          <a:p>
            <a:pPr algn="l" marL="201168" indent="-201168">
              <a:spcAft>
                <a:spcPts val="1600"/>
              </a:spcAft>
              <a:buFont typeface="Arial"/>
              <a:buChar char="•"/>
            </a:pPr>
            <a:r>
              <a:rPr sz="1800" b="0" i="0">
                <a:solidFill>
                  <a:srgbClr val="1F2A36"/>
                </a:solidFill>
                <a:latin typeface="Times New Roman"/>
              </a:rPr>
              <a:t>Tune the best models</a:t>
            </a:r>
          </a:p>
          <a:p>
            <a:pPr algn="l" marL="201168" indent="-201168">
              <a:spcAft>
                <a:spcPts val="1600"/>
              </a:spcAft>
              <a:buFont typeface="Arial"/>
              <a:buChar char="•"/>
            </a:pPr>
            <a:r>
              <a:rPr sz="1800" b="0" i="0">
                <a:solidFill>
                  <a:srgbClr val="1F2A36"/>
                </a:solidFill>
                <a:latin typeface="Times New Roman"/>
              </a:rPr>
              <a:t>Mobile app with explanations in the farmer's own language</a:t>
            </a:r>
          </a:p>
        </p:txBody>
      </p:sp>
      <p:sp>
        <p:nvSpPr>
          <p:cNvPr id="5"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References (1/2)</a:t>
            </a:r>
          </a:p>
        </p:txBody>
      </p:sp>
      <p:sp>
        <p:nvSpPr>
          <p:cNvPr id="3" name="Rounded Rectangle 2"/>
          <p:cNvSpPr/>
          <p:nvPr/>
        </p:nvSpPr>
        <p:spPr>
          <a:xfrm>
            <a:off x="448056" y="1188720"/>
            <a:ext cx="8229600" cy="5029200"/>
          </a:xfrm>
          <a:prstGeom prst="roundRect">
            <a:avLst>
              <a:gd name="adj" fmla="val 12000"/>
            </a:avLst>
          </a:prstGeom>
          <a:gradFill rotWithShape="1">
            <a:gsLst>
              <a:gs pos="0">
                <a:srgbClr val="FBFCFD"/>
              </a:gs>
              <a:gs pos="100000">
                <a:srgbClr val="EEF3F6"/>
              </a:gs>
            </a:gsLst>
            <a:lin ang="5400000" scaled="0"/>
          </a:gradFill>
          <a:ln>
            <a:noFill/>
          </a:ln>
          <a:effectLst>
            <a:outerShdw blurRad="40000" dist="20000" dir="5400000" rotWithShape="0">
              <a:srgbClr val="000000">
                <a:alpha val="38000"/>
              </a:srgbClr>
            </a:outerShdw>
          </a:effectLst>
        </p:spPr>
        <p:txBody>
          <a:bodyPr rtlCol="0" anchor="t" wrap="square" lIns="228600" rIns="228600" tIns="182880" bIns="182880"/>
          <a:lstStyle/>
          <a:p>
            <a:pPr algn="l">
              <a:spcAft>
                <a:spcPts val="900"/>
              </a:spcAft>
            </a:pPr>
            <a:r>
              <a:rPr sz="1400" b="0" i="0">
                <a:solidFill>
                  <a:srgbClr val="1F2A36"/>
                </a:solidFill>
                <a:latin typeface="Times New Roman"/>
              </a:rPr>
              <a:t>[1]  K. G. Liakos, P. Busato, D. Moshou, S. Pearson and D. Bochtis, “Machine learning in agriculture: A review,” Sensors, vol. 18, no. 8, p. 2674, 2018.</a:t>
            </a:r>
          </a:p>
          <a:p>
            <a:pPr algn="l">
              <a:spcAft>
                <a:spcPts val="900"/>
              </a:spcAft>
            </a:pPr>
            <a:r>
              <a:rPr sz="1400" b="0" i="0">
                <a:solidFill>
                  <a:srgbClr val="1F2A36"/>
                </a:solidFill>
                <a:latin typeface="Times New Roman"/>
              </a:rPr>
              <a:t>[2]  T. van Klompenburg, A. Kassahun and C. Catal, “Crop yield prediction using machine learning: A systematic literature review,” Computers and Electronics in Agriculture, vol. 177, p. 105709, 2020.</a:t>
            </a:r>
          </a:p>
          <a:p>
            <a:pPr algn="l">
              <a:spcAft>
                <a:spcPts val="900"/>
              </a:spcAft>
            </a:pPr>
            <a:r>
              <a:rPr sz="1400" b="0" i="0">
                <a:solidFill>
                  <a:srgbClr val="1F2A36"/>
                </a:solidFill>
                <a:latin typeface="Times New Roman"/>
              </a:rPr>
              <a:t>[3]  R. Kumar, M. P. Singh, P. Kumar and J. P. Singh, “Crop selection method to maximize crop yield rate using machine learning technique,” in Proc. ICSTM, 2015, pp. 138–145.</a:t>
            </a:r>
          </a:p>
          <a:p>
            <a:pPr algn="l">
              <a:spcAft>
                <a:spcPts val="900"/>
              </a:spcAft>
            </a:pPr>
            <a:r>
              <a:rPr sz="1400" b="0" i="0">
                <a:solidFill>
                  <a:srgbClr val="1F2A36"/>
                </a:solidFill>
                <a:latin typeface="Times New Roman"/>
              </a:rPr>
              <a:t>[4]  S. Pudumalar, E. Ramanujam, R. H. Rajashree, C. Kavya, T. Kiruthika and J. Nisha, “Crop recommendation system for precision agriculture,” in Proc. ICoAC, 2017, pp. 32–36.</a:t>
            </a:r>
          </a:p>
          <a:p>
            <a:pPr algn="l">
              <a:spcAft>
                <a:spcPts val="900"/>
              </a:spcAft>
            </a:pPr>
            <a:r>
              <a:rPr sz="1400" b="0" i="0">
                <a:solidFill>
                  <a:srgbClr val="1F2A36"/>
                </a:solidFill>
                <a:latin typeface="Times New Roman"/>
              </a:rPr>
              <a:t>[5]  Z. Doshi, S. Nadkarni, R. Agrawal and N. Shah, “AgroConsultant: Intelligent crop recommendation system using machine learning algorithms,” in Proc. ICCUBEA, 2018, pp. 1–6.</a:t>
            </a:r>
          </a:p>
          <a:p>
            <a:pPr algn="l">
              <a:spcAft>
                <a:spcPts val="900"/>
              </a:spcAft>
            </a:pPr>
            <a:r>
              <a:rPr sz="1400" b="0" i="0">
                <a:solidFill>
                  <a:srgbClr val="1F2A36"/>
                </a:solidFill>
                <a:latin typeface="Times New Roman"/>
              </a:rPr>
              <a:t>[6]  Gladiator07, “Harvestify,” GitHub repository, 2023. https://github.com/Gladiator07/Harvestify</a:t>
            </a:r>
          </a:p>
          <a:p>
            <a:pPr algn="l">
              <a:spcAft>
                <a:spcPts val="900"/>
              </a:spcAft>
            </a:pPr>
            <a:r>
              <a:rPr sz="1400" b="0" i="0">
                <a:solidFill>
                  <a:srgbClr val="1F2A36"/>
                </a:solidFill>
                <a:latin typeface="Times New Roman"/>
              </a:rPr>
              <a:t>[7]  S. M. Lundberg and S.-I. Lee, “A unified approach to interpreting model predictions,” in Advances in Neural Information Processing Systems, vol. 30, 2017, pp. 4765–4774.</a:t>
            </a:r>
          </a:p>
          <a:p>
            <a:pPr algn="l">
              <a:spcAft>
                <a:spcPts val="900"/>
              </a:spcAft>
            </a:pPr>
            <a:r>
              <a:rPr sz="1400" b="0" i="0">
                <a:solidFill>
                  <a:srgbClr val="1F2A36"/>
                </a:solidFill>
                <a:latin typeface="Times New Roman"/>
              </a:rPr>
              <a:t>[8]  M. T. Ribeiro, S. Singh and C. Guestrin, “‘Why should I trust you?’: Explaining the predictions of any classifier,” in Proc. ACM SIGKDD, 2016, pp. 1135–1144.</a:t>
            </a:r>
          </a:p>
        </p:txBody>
      </p:sp>
      <p:sp>
        <p:nvSpPr>
          <p:cNvPr id="4"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p:cNvSpPr/>
          <p:nvPr/>
        </p:nvSpPr>
        <p:spPr>
          <a:xfrm>
            <a:off x="446227" y="122529"/>
            <a:ext cx="8229600" cy="868680"/>
          </a:xfrm>
          <a:prstGeom prst="roundRect">
            <a:avLst>
              <a:gd name="adj" fmla="val 16000"/>
            </a:avLst>
          </a:prstGeom>
          <a:gradFill rotWithShape="1">
            <a:gsLst>
              <a:gs pos="0">
                <a:srgbClr val="E8F0F3"/>
              </a:gs>
              <a:gs pos="100000">
                <a:srgbClr val="CBDCE4"/>
              </a:gs>
            </a:gsLst>
            <a:lin ang="5400000" scaled="0"/>
          </a:gradFill>
          <a:ln w="25400">
            <a:solidFill>
              <a:srgbClr val="FFFFFF"/>
            </a:solidFill>
          </a:ln>
        </p:spPr>
        <p:txBody>
          <a:bodyPr rtlCol="0" anchor="ctr" wrap="square" lIns="109728" rIns="109728" tIns="54864" bIns="54864"/>
          <a:lstStyle/>
          <a:p>
            <a:pPr algn="ctr">
              <a:spcAft>
                <a:spcPts val="400"/>
              </a:spcAft>
            </a:pPr>
            <a:r>
              <a:rPr sz="2800" b="1" i="0">
                <a:solidFill>
                  <a:srgbClr val="000000"/>
                </a:solidFill>
                <a:latin typeface="Bookman Old Style"/>
              </a:rPr>
              <a:t>References (2/2)</a:t>
            </a:r>
          </a:p>
        </p:txBody>
      </p:sp>
      <p:sp>
        <p:nvSpPr>
          <p:cNvPr id="3" name="Rounded Rectangle 2"/>
          <p:cNvSpPr/>
          <p:nvPr/>
        </p:nvSpPr>
        <p:spPr>
          <a:xfrm>
            <a:off x="448056" y="1188720"/>
            <a:ext cx="8229600" cy="5029200"/>
          </a:xfrm>
          <a:prstGeom prst="roundRect">
            <a:avLst>
              <a:gd name="adj" fmla="val 12000"/>
            </a:avLst>
          </a:prstGeom>
          <a:gradFill rotWithShape="1">
            <a:gsLst>
              <a:gs pos="0">
                <a:srgbClr val="FBFCFD"/>
              </a:gs>
              <a:gs pos="100000">
                <a:srgbClr val="EEF3F6"/>
              </a:gs>
            </a:gsLst>
            <a:lin ang="5400000" scaled="0"/>
          </a:gradFill>
          <a:ln>
            <a:noFill/>
          </a:ln>
          <a:effectLst>
            <a:outerShdw blurRad="40000" dist="20000" dir="5400000" rotWithShape="0">
              <a:srgbClr val="000000">
                <a:alpha val="38000"/>
              </a:srgbClr>
            </a:outerShdw>
          </a:effectLst>
        </p:spPr>
        <p:txBody>
          <a:bodyPr rtlCol="0" anchor="t" wrap="square" lIns="228600" rIns="228600" tIns="182880" bIns="182880"/>
          <a:lstStyle/>
          <a:p>
            <a:pPr algn="l">
              <a:spcAft>
                <a:spcPts val="900"/>
              </a:spcAft>
            </a:pPr>
            <a:r>
              <a:rPr sz="1400" b="0" i="0">
                <a:solidFill>
                  <a:srgbClr val="1F2A36"/>
                </a:solidFill>
                <a:latin typeface="Times New Roman"/>
              </a:rPr>
              <a:t>[9]  M. Ryo, “Explainable artificial intelligence and interpretable machine learning for agricultural data analysis,” Artificial Intelligence in Agriculture, vol. 6, pp. 257–265, 2022.</a:t>
            </a:r>
          </a:p>
          <a:p>
            <a:pPr algn="l">
              <a:spcAft>
                <a:spcPts val="900"/>
              </a:spcAft>
            </a:pPr>
            <a:r>
              <a:rPr sz="1400" b="0" i="0">
                <a:solidFill>
                  <a:srgbClr val="1F2A36"/>
                </a:solidFill>
                <a:latin typeface="Times New Roman"/>
              </a:rPr>
              <a:t>[10]  A. Ingle, “Crop Recommendation Dataset,” Kaggle. https://www.kaggle.com/datasets/atharvaingle/crop-recommendation-dataset</a:t>
            </a:r>
          </a:p>
          <a:p>
            <a:pPr algn="l">
              <a:spcAft>
                <a:spcPts val="900"/>
              </a:spcAft>
            </a:pPr>
            <a:r>
              <a:rPr sz="1400" b="0" i="0">
                <a:solidFill>
                  <a:srgbClr val="1F2A36"/>
                </a:solidFill>
                <a:latin typeface="Times New Roman"/>
              </a:rPr>
              <a:t>[11]  “Fertilizer Prediction,” Kaggle. https://www.kaggle.com/datasets/gdabhishek/fertilizer-prediction</a:t>
            </a:r>
          </a:p>
          <a:p>
            <a:pPr algn="l">
              <a:spcAft>
                <a:spcPts val="900"/>
              </a:spcAft>
            </a:pPr>
            <a:r>
              <a:rPr sz="1400" b="0" i="0">
                <a:solidFill>
                  <a:srgbClr val="1F2A36"/>
                </a:solidFill>
                <a:latin typeface="Times New Roman"/>
              </a:rPr>
              <a:t>[12]  L. Breiman, “Random forests,” Machine Learning, vol. 45, no. 1, pp. 5–32, 2001.</a:t>
            </a:r>
          </a:p>
          <a:p>
            <a:pPr algn="l">
              <a:spcAft>
                <a:spcPts val="900"/>
              </a:spcAft>
            </a:pPr>
            <a:r>
              <a:rPr sz="1400" b="0" i="0">
                <a:solidFill>
                  <a:srgbClr val="1F2A36"/>
                </a:solidFill>
                <a:latin typeface="Times New Roman"/>
              </a:rPr>
              <a:t>[13]  T. Chen and C. Guestrin, “XGBoost: A scalable tree boosting system,” in Proc. ACM SIGKDD, 2016, pp. 785–794.</a:t>
            </a:r>
          </a:p>
          <a:p>
            <a:pPr algn="l">
              <a:spcAft>
                <a:spcPts val="900"/>
              </a:spcAft>
            </a:pPr>
            <a:r>
              <a:rPr sz="1400" b="0" i="0">
                <a:solidFill>
                  <a:srgbClr val="1F2A36"/>
                </a:solidFill>
                <a:latin typeface="Times New Roman"/>
              </a:rPr>
              <a:t>[14]  S. M. Lundberg et al., “From local explanations to global understanding with explainable AI for trees,” Nature Machine Intelligence, vol. 2, no. 1, pp. 56–67, 2020.</a:t>
            </a:r>
          </a:p>
          <a:p>
            <a:pPr algn="l">
              <a:spcAft>
                <a:spcPts val="900"/>
              </a:spcAft>
            </a:pPr>
            <a:r>
              <a:rPr sz="1400" b="0" i="0">
                <a:solidFill>
                  <a:srgbClr val="1F2A36"/>
                </a:solidFill>
                <a:latin typeface="Times New Roman"/>
              </a:rPr>
              <a:t>[15]  F. Pedregosa et al., “Scikit-learn: Machine learning in Python,” Journal of Machine Learning Research, vol. 12, pp. 2825–2830, 2011.</a:t>
            </a:r>
          </a:p>
          <a:p>
            <a:pPr algn="l">
              <a:spcAft>
                <a:spcPts val="900"/>
              </a:spcAft>
            </a:pPr>
            <a:r>
              <a:rPr sz="1400" b="0" i="0">
                <a:solidFill>
                  <a:srgbClr val="1F2A36"/>
                </a:solidFill>
                <a:latin typeface="Times New Roman"/>
              </a:rPr>
              <a:t>[16]  Government of India, The Patents Act, 1970 (Act No. 39 of 1970).</a:t>
            </a:r>
          </a:p>
        </p:txBody>
      </p:sp>
      <p:sp>
        <p:nvSpPr>
          <p:cNvPr id="4"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Rounded Rectangle 1"/>
          <p:cNvSpPr/>
          <p:nvPr/>
        </p:nvSpPr>
        <p:spPr>
          <a:xfrm>
            <a:off x="1371600" y="2194560"/>
            <a:ext cx="6400800" cy="1463040"/>
          </a:xfrm>
          <a:prstGeom prst="roundRect">
            <a:avLst>
              <a:gd name="adj" fmla="val 20000"/>
            </a:avLst>
          </a:prstGeom>
          <a:gradFill rotWithShape="1">
            <a:gsLst>
              <a:gs pos="0">
                <a:srgbClr val="E8F0F3"/>
              </a:gs>
              <a:gs pos="100000">
                <a:srgbClr val="CBDCE4"/>
              </a:gs>
            </a:gsLst>
            <a:lin ang="5400000" scaled="0"/>
          </a:gradFill>
          <a:ln w="25400">
            <a:solidFill>
              <a:srgbClr val="FFFFFF"/>
            </a:solidFill>
          </a:ln>
          <a:effectLst>
            <a:outerShdw blurRad="40000" dist="20000" dir="5400000" rotWithShape="0">
              <a:srgbClr val="000000">
                <a:alpha val="38000"/>
              </a:srgbClr>
            </a:outerShdw>
          </a:effectLst>
        </p:spPr>
        <p:txBody>
          <a:bodyPr rtlCol="0" anchor="ctr" wrap="square" lIns="109728" rIns="109728" tIns="54864" bIns="54864"/>
          <a:lstStyle/>
          <a:p>
            <a:pPr algn="ctr">
              <a:spcAft>
                <a:spcPts val="400"/>
              </a:spcAft>
            </a:pPr>
            <a:r>
              <a:rPr sz="4400" b="1" i="0">
                <a:solidFill>
                  <a:srgbClr val="000000"/>
                </a:solidFill>
                <a:latin typeface="Bookman Old Style"/>
              </a:rPr>
              <a:t>Thank You</a:t>
            </a:r>
          </a:p>
        </p:txBody>
      </p:sp>
      <p:sp>
        <p:nvSpPr>
          <p:cNvPr id="3" name="TextBox 2"/>
          <p:cNvSpPr txBox="1"/>
          <p:nvPr/>
        </p:nvSpPr>
        <p:spPr>
          <a:xfrm>
            <a:off x="1371600" y="3931920"/>
            <a:ext cx="6400800" cy="548640"/>
          </a:xfrm>
          <a:prstGeom prst="rect">
            <a:avLst/>
          </a:prstGeom>
          <a:noFill/>
        </p:spPr>
        <p:txBody>
          <a:bodyPr wrap="square" lIns="45720" rIns="45720" tIns="27432" bIns="27432" anchor="t">
            <a:spAutoFit/>
          </a:bodyPr>
          <a:lstStyle/>
          <a:p>
            <a:pPr algn="ctr">
              <a:spcAft>
                <a:spcPts val="400"/>
              </a:spcAft>
            </a:pPr>
            <a:r>
              <a:rPr sz="2400" b="1" i="0">
                <a:solidFill>
                  <a:srgbClr val="1F2A36"/>
                </a:solidFill>
                <a:latin typeface="Bookman Old Style"/>
              </a:rPr>
              <a:t>Questions?</a:t>
            </a:r>
          </a:p>
        </p:txBody>
      </p:sp>
      <p:sp>
        <p:nvSpPr>
          <p:cNvPr id="4" name="TextBox 3"/>
          <p:cNvSpPr txBox="1"/>
          <p:nvPr/>
        </p:nvSpPr>
        <p:spPr>
          <a:xfrm>
            <a:off x="1371600" y="4572000"/>
            <a:ext cx="6400800" cy="457200"/>
          </a:xfrm>
          <a:prstGeom prst="rect">
            <a:avLst/>
          </a:prstGeom>
          <a:noFill/>
        </p:spPr>
        <p:txBody>
          <a:bodyPr wrap="square" lIns="45720" rIns="45720" tIns="27432" bIns="27432" anchor="t">
            <a:spAutoFit/>
          </a:bodyPr>
          <a:lstStyle/>
          <a:p>
            <a:pPr algn="ctr">
              <a:spcAft>
                <a:spcPts val="400"/>
              </a:spcAft>
            </a:pPr>
            <a:r>
              <a:rPr sz="1600" b="0" i="0">
                <a:solidFill>
                  <a:srgbClr val="3A4652"/>
                </a:solidFill>
                <a:latin typeface="Times New Roman"/>
              </a:rPr>
              <a:t>Crop Recommendation System · DSE3170 Project Based Learning-3</a:t>
            </a:r>
          </a:p>
        </p:txBody>
      </p:sp>
      <p:sp>
        <p:nvSpPr>
          <p:cNvPr id="5"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theme/theme1.xml><?xml version="1.0" encoding="utf-8"?>
<a:theme xmlns:a="http://schemas.openxmlformats.org/drawingml/2006/main" name="Office Theme">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2004</TotalTime>
  <Words>65</Words>
  <Application>Microsoft Office PowerPoint</Application>
  <PresentationFormat>On-screen Show (4:3)</PresentationFormat>
  <Paragraphs>21</Paragraphs>
  <Slides>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Bookman Old Style</vt:lpstr>
      <vt:lpstr>Calibri</vt:lpstr>
      <vt:lpstr>Gill Sans MT</vt:lpstr>
      <vt:lpstr>Times New Roman</vt:lpstr>
      <vt:lpstr>Wingdings</vt:lpstr>
      <vt:lpstr>Office Theme</vt:lpstr>
      <vt:lpstr>Manipal University Jaipur School of Computer Science and Engineering Department of Computer Science and Engineering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himanshu</dc:creator>
  <cp:lastModifiedBy>Dr. Abhishek Dwivedi [MU - Jaipur]</cp:lastModifiedBy>
  <cp:revision>221</cp:revision>
  <dcterms:created xsi:type="dcterms:W3CDTF">2015-11-17T05:40:42Z</dcterms:created>
  <dcterms:modified xsi:type="dcterms:W3CDTF">2026-10-01T04:55:11Z</dcterms:modified>
</cp:coreProperties>
</file>